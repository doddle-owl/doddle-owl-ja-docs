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94" r:id="rId2"/>
    <p:sldId id="352" r:id="rId3"/>
    <p:sldId id="292" r:id="rId4"/>
    <p:sldId id="353" r:id="rId5"/>
    <p:sldId id="293" r:id="rId6"/>
    <p:sldId id="295" r:id="rId7"/>
    <p:sldId id="354" r:id="rId8"/>
    <p:sldId id="296" r:id="rId9"/>
    <p:sldId id="355" r:id="rId10"/>
    <p:sldId id="297" r:id="rId11"/>
    <p:sldId id="299" r:id="rId12"/>
    <p:sldId id="339" r:id="rId13"/>
    <p:sldId id="300" r:id="rId14"/>
    <p:sldId id="301" r:id="rId15"/>
    <p:sldId id="344" r:id="rId16"/>
    <p:sldId id="305" r:id="rId17"/>
    <p:sldId id="307" r:id="rId18"/>
    <p:sldId id="308" r:id="rId19"/>
    <p:sldId id="345" r:id="rId20"/>
    <p:sldId id="346" r:id="rId21"/>
    <p:sldId id="347" r:id="rId22"/>
    <p:sldId id="348" r:id="rId23"/>
    <p:sldId id="349" r:id="rId24"/>
    <p:sldId id="316" r:id="rId25"/>
    <p:sldId id="350" r:id="rId26"/>
    <p:sldId id="338" r:id="rId27"/>
    <p:sldId id="319" r:id="rId28"/>
    <p:sldId id="321" r:id="rId29"/>
    <p:sldId id="322" r:id="rId30"/>
    <p:sldId id="323" r:id="rId31"/>
    <p:sldId id="324" r:id="rId32"/>
    <p:sldId id="325" r:id="rId33"/>
    <p:sldId id="326" r:id="rId34"/>
    <p:sldId id="351" r:id="rId35"/>
  </p:sldIdLst>
  <p:sldSz cx="12192000" cy="6858000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9900"/>
    <a:srgbClr val="FFCC00"/>
    <a:srgbClr val="FFCCFF"/>
    <a:srgbClr val="FF9933"/>
    <a:srgbClr val="CCFFCC"/>
    <a:srgbClr val="0033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76"/>
    <p:restoredTop sz="89492" autoAdjust="0"/>
  </p:normalViewPr>
  <p:slideViewPr>
    <p:cSldViewPr>
      <p:cViewPr>
        <p:scale>
          <a:sx n="90" d="100"/>
          <a:sy n="90" d="100"/>
        </p:scale>
        <p:origin x="3016" y="6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45055-3E6C-B74E-A4EC-3E2BB82C8463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8704F-489F-3747-A5AF-16421D0A22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90494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49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8670992-8C38-6E4F-BF4E-1F57378C99C3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8D840AB-1631-BC41-B464-DFF7E127AFF0}" type="slidenum">
              <a:rPr lang="en-US" altLang="ja-JP"/>
              <a:pPr eaLnBrk="1" hangingPunct="1"/>
              <a:t>1</a:t>
            </a:fld>
            <a:endParaRPr lang="en-US" altLang="ja-JP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2099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32100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EE7CCDA-1F1C-3C40-9F62-7AD3EDB41E95}" type="slidenum">
              <a:rPr lang="ja-JP" altLang="en-US"/>
              <a:pPr eaLnBrk="1" hangingPunct="1"/>
              <a:t>3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121D0B7D-7D95-6B48-B51A-9934F8294F47}" type="slidenum">
              <a:rPr lang="en-US" altLang="ja-JP"/>
              <a:pPr eaLnBrk="1" hangingPunct="1"/>
              <a:t>5</a:t>
            </a:fld>
            <a:endParaRPr lang="en-US" altLang="ja-JP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BB2351C-2441-464D-AB08-FF8F053C416E}" type="slidenum">
              <a:rPr lang="en-US" altLang="ja-JP"/>
              <a:pPr eaLnBrk="1" hangingPunct="1"/>
              <a:t>6</a:t>
            </a:fld>
            <a:endParaRPr lang="en-US" altLang="ja-JP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997CA96-5C7D-624C-AA0D-176A208A2B9E}" type="slidenum">
              <a:rPr lang="en-US" altLang="ja-JP"/>
              <a:pPr eaLnBrk="1" hangingPunct="1"/>
              <a:t>8</a:t>
            </a:fld>
            <a:endParaRPr lang="en-US" altLang="ja-JP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01B66-30E7-4769-C647-56C4ABB85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2564D844-565C-7CC5-E965-BFDC71CEE5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997CA96-5C7D-624C-AA0D-176A208A2B9E}" type="slidenum">
              <a:rPr lang="en-US" altLang="ja-JP"/>
              <a:pPr eaLnBrk="1" hangingPunct="1"/>
              <a:t>9</a:t>
            </a:fld>
            <a:endParaRPr lang="en-US" altLang="ja-JP"/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5F3C432F-B60B-03F2-82AB-78659CE0D0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F1DDB0C5-46AA-19B7-B940-E1E9C3856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2190909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619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3619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CE6AEF5-4C2F-AC4C-8FC7-60424E408BFA}" type="slidenum">
              <a:rPr lang="en-US" altLang="ja-JP"/>
              <a:pPr eaLnBrk="1" hangingPunct="1"/>
              <a:t>10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4BF4E29-B2F4-814E-996A-05F730D890FE}" type="slidenum">
              <a:rPr lang="en-US" altLang="ja-JP"/>
              <a:pPr eaLnBrk="1" hangingPunct="1"/>
              <a:t>11</a:t>
            </a:fld>
            <a:endParaRPr lang="en-US" altLang="ja-JP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91238" cy="3427413"/>
          </a:xfrm>
          <a:solidFill>
            <a:srgbClr val="FFFFFF"/>
          </a:solidFill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68" tIns="46584" rIns="93168" bIns="46584"/>
          <a:lstStyle/>
          <a:p>
            <a:pPr eaLnBrk="1" hangingPunct="1"/>
            <a:endParaRPr lang="ja-JP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8243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38244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3C6608-5785-8046-A7CD-F251BF6C9B13}" type="slidenum">
              <a:rPr lang="en-US" altLang="ja-JP"/>
              <a:pPr eaLnBrk="1" hangingPunct="1"/>
              <a:t>12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BD5711B5-DFB6-1D47-89D5-A28D1F0F44E4}" type="slidenum">
              <a:rPr lang="en-US" altLang="ja-JP"/>
              <a:pPr eaLnBrk="1" hangingPunct="1"/>
              <a:t>13</a:t>
            </a:fld>
            <a:endParaRPr lang="en-US" altLang="ja-JP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8E8DDEDC-7AD1-104B-B91B-1F53850DDC6E}" type="slidenum">
              <a:rPr lang="en-US" altLang="ja-JP"/>
              <a:pPr eaLnBrk="1" hangingPunct="1"/>
              <a:t>14</a:t>
            </a:fld>
            <a:endParaRPr lang="en-US" altLang="ja-JP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131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4131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65B8BA47-3928-7641-816B-7908E931B2FD}" type="slidenum">
              <a:rPr lang="ja-JP" altLang="en-US"/>
              <a:pPr eaLnBrk="1" hangingPunct="1"/>
              <a:t>15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BF547C1-40D5-A34B-BA66-09AEFBFA75C5}" type="slidenum">
              <a:rPr lang="en-US" altLang="ja-JP"/>
              <a:pPr eaLnBrk="1" hangingPunct="1"/>
              <a:t>16</a:t>
            </a:fld>
            <a:endParaRPr lang="en-US" altLang="ja-JP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4A16D0B-BC25-B64D-81F0-CCF4E5D6A5F2}" type="slidenum">
              <a:rPr lang="en-US" altLang="ja-JP"/>
              <a:pPr eaLnBrk="1" hangingPunct="1"/>
              <a:t>17</a:t>
            </a:fld>
            <a:endParaRPr lang="en-US" altLang="ja-JP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05B6F4C-B7BE-754E-B749-F3E779CD330E}" type="slidenum">
              <a:rPr lang="en-US" altLang="ja-JP"/>
              <a:pPr eaLnBrk="1" hangingPunct="1"/>
              <a:t>18</a:t>
            </a:fld>
            <a:endParaRPr lang="en-US" altLang="ja-JP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155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155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6192E0FB-6DB6-E54C-81D1-EA6BC1242C3A}" type="slidenum">
              <a:rPr lang="en-US" altLang="ja-JP"/>
              <a:pPr eaLnBrk="1" hangingPunct="1"/>
              <a:t>24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03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ja-JP" altLang="en-US" dirty="0"/>
          </a:p>
        </p:txBody>
      </p:sp>
      <p:sp>
        <p:nvSpPr>
          <p:cNvPr id="153604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AC32F4E-0644-AB49-99B1-280009F9B595}" type="slidenum">
              <a:rPr lang="en-US" altLang="ja-JP"/>
              <a:pPr eaLnBrk="1" hangingPunct="1"/>
              <a:t>26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4627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4628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F3FA580E-A1B1-7349-BBA1-E33B0C9B9048}" type="slidenum">
              <a:rPr lang="en-US" altLang="ja-JP"/>
              <a:pPr eaLnBrk="1" hangingPunct="1"/>
              <a:t>27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667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667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C1C3EB4A-D490-EA40-8AB9-FF8767C3459A}" type="slidenum">
              <a:rPr lang="en-US" altLang="ja-JP"/>
              <a:pPr eaLnBrk="1" hangingPunct="1"/>
              <a:t>28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699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7700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A268F7E-0B81-014D-9C25-036793A38700}" type="slidenum">
              <a:rPr lang="en-US" altLang="ja-JP"/>
              <a:pPr eaLnBrk="1" hangingPunct="1"/>
              <a:t>29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8723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8724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0E29108-BA14-974B-8671-D31C4C5272EB}" type="slidenum">
              <a:rPr lang="en-US" altLang="ja-JP"/>
              <a:pPr eaLnBrk="1" hangingPunct="1"/>
              <a:t>30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9747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9748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3190C7E-D2C1-7E4E-BB70-7B448458C2E5}" type="slidenum">
              <a:rPr lang="en-US" altLang="ja-JP"/>
              <a:pPr eaLnBrk="1" hangingPunct="1"/>
              <a:t>31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0771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 dirty="0"/>
          </a:p>
        </p:txBody>
      </p:sp>
      <p:sp>
        <p:nvSpPr>
          <p:cNvPr id="160772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FD76B58E-7D59-6342-A8EE-67B99433D8D6}" type="slidenum">
              <a:rPr lang="en-US" altLang="ja-JP"/>
              <a:pPr eaLnBrk="1" hangingPunct="1"/>
              <a:t>32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179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6179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87928D9A-1BC0-2D4F-A4EC-2FEB84B3DEC6}" type="slidenum">
              <a:rPr lang="en-US" altLang="ja-JP"/>
              <a:pPr eaLnBrk="1" hangingPunct="1"/>
              <a:t>33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70992-8C38-6E4F-BF4E-1F57378C99C3}" type="slidenum">
              <a:rPr lang="en-US" altLang="ja-JP" smtClean="0"/>
              <a:pPr/>
              <a:t>34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10351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4FAC62-D067-AE49-BEF7-34DDD3D5C0C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936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5589B9-164E-E143-8E6A-BA5225C39D8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81891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A57F66-4686-DA49-8169-FD9095B0C3D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94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2BD005-E012-D343-9622-9D2A27A5E0E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4007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91FA75-8EF1-7C4E-BE3A-DFAE4D19092D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3783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33DDED-99EA-2642-B318-D91884C028F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9424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60EDAF-AF3A-6942-BA52-E2747D204BC2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537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8C6F56-A9AE-164E-92F7-4CD1EE71551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440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8CCFF8-35F0-7E4F-9A99-A35917B2EF82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1051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2F033-192F-624F-A9D4-1D248D13618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7400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1189A0-AE46-B448-923E-ADFFB4E9986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8385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DDC3D6EE-D7C3-544B-8FCC-C83A0759592A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tiff"/><Relationship Id="rId3" Type="http://schemas.openxmlformats.org/officeDocument/2006/relationships/image" Target="../media/image19.png"/><Relationship Id="rId7" Type="http://schemas.openxmlformats.org/officeDocument/2006/relationships/image" Target="../media/image23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tiff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tif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角丸四角形 328"/>
          <p:cNvSpPr/>
          <p:nvPr/>
        </p:nvSpPr>
        <p:spPr>
          <a:xfrm>
            <a:off x="4637506" y="1815274"/>
            <a:ext cx="4078288" cy="14478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330" name="角丸四角形 329"/>
          <p:cNvSpPr/>
          <p:nvPr/>
        </p:nvSpPr>
        <p:spPr>
          <a:xfrm>
            <a:off x="4713706" y="3415474"/>
            <a:ext cx="4038600" cy="12192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32" name="Text Box 2"/>
          <p:cNvSpPr txBox="1">
            <a:spLocks noChangeArrowheads="1"/>
          </p:cNvSpPr>
          <p:nvPr/>
        </p:nvSpPr>
        <p:spPr bwMode="auto">
          <a:xfrm>
            <a:off x="4857064" y="3010646"/>
            <a:ext cx="8899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100" b="1">
                <a:latin typeface="Meiryo" charset="-128"/>
                <a:ea typeface="Meiryo" charset="-128"/>
                <a:cs typeface="Meiryo" charset="-128"/>
              </a:rPr>
              <a:t>初期モデル</a:t>
            </a:r>
          </a:p>
        </p:txBody>
      </p:sp>
      <p:grpSp>
        <p:nvGrpSpPr>
          <p:cNvPr id="48134" name="Group 4"/>
          <p:cNvGrpSpPr>
            <a:grpSpLocks/>
          </p:cNvGrpSpPr>
          <p:nvPr/>
        </p:nvGrpSpPr>
        <p:grpSpPr bwMode="auto">
          <a:xfrm>
            <a:off x="8977731" y="2270888"/>
            <a:ext cx="788988" cy="731837"/>
            <a:chOff x="249" y="2118"/>
            <a:chExt cx="788" cy="855"/>
          </a:xfrm>
        </p:grpSpPr>
        <p:grpSp>
          <p:nvGrpSpPr>
            <p:cNvPr id="48411" name="Group 5"/>
            <p:cNvGrpSpPr>
              <a:grpSpLocks/>
            </p:cNvGrpSpPr>
            <p:nvPr/>
          </p:nvGrpSpPr>
          <p:grpSpPr bwMode="auto">
            <a:xfrm>
              <a:off x="249" y="2118"/>
              <a:ext cx="652" cy="722"/>
              <a:chOff x="4785" y="2563"/>
              <a:chExt cx="912" cy="912"/>
            </a:xfrm>
          </p:grpSpPr>
          <p:sp>
            <p:nvSpPr>
              <p:cNvPr id="48442" name="Rectangle 6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43" name="Rectangle 7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44" name="Line 8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45" name="Line 9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46" name="Line 10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47" name="Line 11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48" name="Line 12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49" name="Line 13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50" name="Line 14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  <p:grpSp>
          <p:nvGrpSpPr>
            <p:cNvPr id="48412" name="Group 15"/>
            <p:cNvGrpSpPr>
              <a:grpSpLocks/>
            </p:cNvGrpSpPr>
            <p:nvPr/>
          </p:nvGrpSpPr>
          <p:grpSpPr bwMode="auto">
            <a:xfrm>
              <a:off x="294" y="2164"/>
              <a:ext cx="652" cy="722"/>
              <a:chOff x="4785" y="2563"/>
              <a:chExt cx="912" cy="912"/>
            </a:xfrm>
          </p:grpSpPr>
          <p:sp>
            <p:nvSpPr>
              <p:cNvPr id="48433" name="Rectangle 16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34" name="Rectangle 17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35" name="Line 18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36" name="Line 19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37" name="Line 20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38" name="Line 21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39" name="Line 22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40" name="Line 23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41" name="Line 24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  <p:grpSp>
          <p:nvGrpSpPr>
            <p:cNvPr id="48413" name="Group 25"/>
            <p:cNvGrpSpPr>
              <a:grpSpLocks/>
            </p:cNvGrpSpPr>
            <p:nvPr/>
          </p:nvGrpSpPr>
          <p:grpSpPr bwMode="auto">
            <a:xfrm>
              <a:off x="340" y="2205"/>
              <a:ext cx="652" cy="722"/>
              <a:chOff x="4785" y="2563"/>
              <a:chExt cx="912" cy="912"/>
            </a:xfrm>
          </p:grpSpPr>
          <p:sp>
            <p:nvSpPr>
              <p:cNvPr id="48424" name="Rectangle 26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25" name="Rectangle 27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26" name="Line 28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27" name="Line 29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28" name="Line 30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29" name="Line 31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30" name="Line 32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31" name="Line 33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32" name="Line 34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  <p:grpSp>
          <p:nvGrpSpPr>
            <p:cNvPr id="48414" name="Group 35"/>
            <p:cNvGrpSpPr>
              <a:grpSpLocks/>
            </p:cNvGrpSpPr>
            <p:nvPr/>
          </p:nvGrpSpPr>
          <p:grpSpPr bwMode="auto">
            <a:xfrm>
              <a:off x="385" y="2251"/>
              <a:ext cx="652" cy="722"/>
              <a:chOff x="4785" y="2563"/>
              <a:chExt cx="912" cy="912"/>
            </a:xfrm>
          </p:grpSpPr>
          <p:sp>
            <p:nvSpPr>
              <p:cNvPr id="48415" name="Rectangle 36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16" name="Rectangle 37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17" name="Line 38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18" name="Line 39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19" name="Line 40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20" name="Line 41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21" name="Line 42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22" name="Line 43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423" name="Line 44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</p:grpSp>
      <p:sp>
        <p:nvSpPr>
          <p:cNvPr id="48135" name="Line 45"/>
          <p:cNvSpPr>
            <a:spLocks noChangeShapeType="1"/>
          </p:cNvSpPr>
          <p:nvPr/>
        </p:nvSpPr>
        <p:spPr bwMode="auto">
          <a:xfrm flipH="1" flipV="1">
            <a:off x="8357019" y="2207388"/>
            <a:ext cx="620712" cy="465137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36" name="Text Box 46"/>
          <p:cNvSpPr txBox="1">
            <a:spLocks noChangeArrowheads="1"/>
          </p:cNvSpPr>
          <p:nvPr/>
        </p:nvSpPr>
        <p:spPr bwMode="auto">
          <a:xfrm>
            <a:off x="5173792" y="4250499"/>
            <a:ext cx="18473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90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37" name="Text Box 47"/>
          <p:cNvSpPr txBox="1">
            <a:spLocks noChangeArrowheads="1"/>
          </p:cNvSpPr>
          <p:nvPr/>
        </p:nvSpPr>
        <p:spPr bwMode="auto">
          <a:xfrm>
            <a:off x="7722431" y="5148493"/>
            <a:ext cx="103105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100" b="1">
                <a:latin typeface="Meiryo" charset="-128"/>
                <a:ea typeface="Meiryo" charset="-128"/>
                <a:cs typeface="Meiryo" charset="-128"/>
              </a:rPr>
              <a:t>概念仕様</a:t>
            </a:r>
          </a:p>
          <a:p>
            <a:pPr algn="ctr" eaLnBrk="1" hangingPunct="1"/>
            <a:r>
              <a:rPr lang="ja-JP" altLang="en-US" sz="1100" b="1" dirty="0">
                <a:latin typeface="Meiryo" charset="-128"/>
                <a:ea typeface="Meiryo" charset="-128"/>
                <a:cs typeface="Meiryo" charset="-128"/>
              </a:rPr>
              <a:t>テンプレート</a:t>
            </a:r>
          </a:p>
        </p:txBody>
      </p:sp>
      <p:sp>
        <p:nvSpPr>
          <p:cNvPr id="48138" name="Line 48"/>
          <p:cNvSpPr>
            <a:spLocks noChangeShapeType="1"/>
          </p:cNvSpPr>
          <p:nvPr/>
        </p:nvSpPr>
        <p:spPr bwMode="auto">
          <a:xfrm rot="1185231" flipH="1">
            <a:off x="8345906" y="2548700"/>
            <a:ext cx="420688" cy="1311275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39947" name="AutoShape 53"/>
          <p:cNvSpPr>
            <a:spLocks noChangeArrowheads="1"/>
          </p:cNvSpPr>
          <p:nvPr/>
        </p:nvSpPr>
        <p:spPr bwMode="auto">
          <a:xfrm>
            <a:off x="5867820" y="2126425"/>
            <a:ext cx="331787" cy="239713"/>
          </a:xfrm>
          <a:prstGeom prst="leftArrow">
            <a:avLst>
              <a:gd name="adj1" fmla="val 38796"/>
              <a:gd name="adj2" fmla="val 72966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grpSp>
        <p:nvGrpSpPr>
          <p:cNvPr id="48142" name="Group 54"/>
          <p:cNvGrpSpPr>
            <a:grpSpLocks/>
          </p:cNvGrpSpPr>
          <p:nvPr/>
        </p:nvGrpSpPr>
        <p:grpSpPr bwMode="auto">
          <a:xfrm>
            <a:off x="6096420" y="5303013"/>
            <a:ext cx="1387475" cy="638175"/>
            <a:chOff x="2381" y="3488"/>
            <a:chExt cx="1451" cy="832"/>
          </a:xfrm>
        </p:grpSpPr>
        <p:grpSp>
          <p:nvGrpSpPr>
            <p:cNvPr id="48351" name="Group 55"/>
            <p:cNvGrpSpPr>
              <a:grpSpLocks/>
            </p:cNvGrpSpPr>
            <p:nvPr/>
          </p:nvGrpSpPr>
          <p:grpSpPr bwMode="auto">
            <a:xfrm>
              <a:off x="2381" y="3488"/>
              <a:ext cx="1451" cy="832"/>
              <a:chOff x="2200" y="3488"/>
              <a:chExt cx="1451" cy="832"/>
            </a:xfrm>
          </p:grpSpPr>
          <p:sp>
            <p:nvSpPr>
              <p:cNvPr id="48384" name="Oval 56"/>
              <p:cNvSpPr>
                <a:spLocks noChangeArrowheads="1"/>
              </p:cNvSpPr>
              <p:nvPr/>
            </p:nvSpPr>
            <p:spPr bwMode="auto">
              <a:xfrm>
                <a:off x="2200" y="3493"/>
                <a:ext cx="1451" cy="82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grpSp>
            <p:nvGrpSpPr>
              <p:cNvPr id="48385" name="Group 57"/>
              <p:cNvGrpSpPr>
                <a:grpSpLocks/>
              </p:cNvGrpSpPr>
              <p:nvPr/>
            </p:nvGrpSpPr>
            <p:grpSpPr bwMode="auto">
              <a:xfrm>
                <a:off x="2396" y="3488"/>
                <a:ext cx="1028" cy="759"/>
                <a:chOff x="4377" y="3102"/>
                <a:chExt cx="968" cy="668"/>
              </a:xfrm>
            </p:grpSpPr>
            <p:sp>
              <p:nvSpPr>
                <p:cNvPr id="48386" name="Oval 58"/>
                <p:cNvSpPr>
                  <a:spLocks noChangeArrowheads="1"/>
                </p:cNvSpPr>
                <p:nvPr/>
              </p:nvSpPr>
              <p:spPr bwMode="auto">
                <a:xfrm>
                  <a:off x="4787" y="3102"/>
                  <a:ext cx="97" cy="56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387" name="Oval 59"/>
                <p:cNvSpPr>
                  <a:spLocks noChangeArrowheads="1"/>
                </p:cNvSpPr>
                <p:nvPr/>
              </p:nvSpPr>
              <p:spPr bwMode="auto">
                <a:xfrm>
                  <a:off x="4940" y="3253"/>
                  <a:ext cx="97" cy="56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388" name="Oval 60"/>
                <p:cNvSpPr>
                  <a:spLocks noChangeArrowheads="1"/>
                </p:cNvSpPr>
                <p:nvPr/>
              </p:nvSpPr>
              <p:spPr bwMode="auto">
                <a:xfrm>
                  <a:off x="5103" y="3402"/>
                  <a:ext cx="97" cy="55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389" name="Oval 61"/>
                <p:cNvSpPr>
                  <a:spLocks noChangeArrowheads="1"/>
                </p:cNvSpPr>
                <p:nvPr/>
              </p:nvSpPr>
              <p:spPr bwMode="auto">
                <a:xfrm>
                  <a:off x="5248" y="3542"/>
                  <a:ext cx="97" cy="56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cxnSp>
              <p:nvCxnSpPr>
                <p:cNvPr id="48390" name="AutoShape 62"/>
                <p:cNvCxnSpPr>
                  <a:cxnSpLocks noChangeShapeType="1"/>
                  <a:stCxn id="48387" idx="0"/>
                  <a:endCxn id="48386" idx="4"/>
                </p:cNvCxnSpPr>
                <p:nvPr/>
              </p:nvCxnSpPr>
              <p:spPr bwMode="auto">
                <a:xfrm flipH="1" flipV="1">
                  <a:off x="4836" y="3158"/>
                  <a:ext cx="153" cy="95"/>
                </a:xfrm>
                <a:prstGeom prst="straightConnector1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8391" name="AutoShape 63"/>
                <p:cNvCxnSpPr>
                  <a:cxnSpLocks noChangeShapeType="1"/>
                  <a:stCxn id="48388" idx="0"/>
                  <a:endCxn id="48387" idx="4"/>
                </p:cNvCxnSpPr>
                <p:nvPr/>
              </p:nvCxnSpPr>
              <p:spPr bwMode="auto">
                <a:xfrm flipH="1" flipV="1">
                  <a:off x="4989" y="3309"/>
                  <a:ext cx="163" cy="93"/>
                </a:xfrm>
                <a:prstGeom prst="straightConnector1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8392" name="AutoShape 64"/>
                <p:cNvCxnSpPr>
                  <a:cxnSpLocks noChangeShapeType="1"/>
                  <a:stCxn id="48389" idx="0"/>
                  <a:endCxn id="48388" idx="4"/>
                </p:cNvCxnSpPr>
                <p:nvPr/>
              </p:nvCxnSpPr>
              <p:spPr bwMode="auto">
                <a:xfrm flipH="1" flipV="1">
                  <a:off x="5152" y="3457"/>
                  <a:ext cx="145" cy="85"/>
                </a:xfrm>
                <a:prstGeom prst="straightConnector1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393" name="Oval 65"/>
                <p:cNvSpPr>
                  <a:spLocks noChangeArrowheads="1"/>
                </p:cNvSpPr>
                <p:nvPr/>
              </p:nvSpPr>
              <p:spPr bwMode="auto">
                <a:xfrm>
                  <a:off x="4649" y="3246"/>
                  <a:ext cx="97" cy="56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394" name="Oval 66"/>
                <p:cNvSpPr>
                  <a:spLocks noChangeArrowheads="1"/>
                </p:cNvSpPr>
                <p:nvPr/>
              </p:nvSpPr>
              <p:spPr bwMode="auto">
                <a:xfrm>
                  <a:off x="4787" y="3381"/>
                  <a:ext cx="97" cy="55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cxnSp>
              <p:nvCxnSpPr>
                <p:cNvPr id="48395" name="AutoShape 67"/>
                <p:cNvCxnSpPr>
                  <a:cxnSpLocks noChangeShapeType="1"/>
                  <a:stCxn id="48393" idx="0"/>
                  <a:endCxn id="48386" idx="4"/>
                </p:cNvCxnSpPr>
                <p:nvPr/>
              </p:nvCxnSpPr>
              <p:spPr bwMode="auto">
                <a:xfrm flipV="1">
                  <a:off x="4698" y="3158"/>
                  <a:ext cx="138" cy="88"/>
                </a:xfrm>
                <a:prstGeom prst="straightConnector1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8396" name="AutoShape 68"/>
                <p:cNvCxnSpPr>
                  <a:cxnSpLocks noChangeShapeType="1"/>
                  <a:stCxn id="48394" idx="0"/>
                  <a:endCxn id="48393" idx="4"/>
                </p:cNvCxnSpPr>
                <p:nvPr/>
              </p:nvCxnSpPr>
              <p:spPr bwMode="auto">
                <a:xfrm flipH="1" flipV="1">
                  <a:off x="4698" y="3302"/>
                  <a:ext cx="138" cy="79"/>
                </a:xfrm>
                <a:prstGeom prst="straightConnector1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397" name="Oval 69"/>
                <p:cNvSpPr>
                  <a:spLocks noChangeArrowheads="1"/>
                </p:cNvSpPr>
                <p:nvPr/>
              </p:nvSpPr>
              <p:spPr bwMode="auto">
                <a:xfrm>
                  <a:off x="4513" y="3386"/>
                  <a:ext cx="97" cy="55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cxnSp>
              <p:nvCxnSpPr>
                <p:cNvPr id="48398" name="AutoShape 70"/>
                <p:cNvCxnSpPr>
                  <a:cxnSpLocks noChangeShapeType="1"/>
                  <a:stCxn id="48397" idx="0"/>
                  <a:endCxn id="48393" idx="4"/>
                </p:cNvCxnSpPr>
                <p:nvPr/>
              </p:nvCxnSpPr>
              <p:spPr bwMode="auto">
                <a:xfrm flipV="1">
                  <a:off x="4562" y="3302"/>
                  <a:ext cx="136" cy="84"/>
                </a:xfrm>
                <a:prstGeom prst="straightConnector1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399" name="Oval 71"/>
                <p:cNvSpPr>
                  <a:spLocks noChangeArrowheads="1"/>
                </p:cNvSpPr>
                <p:nvPr/>
              </p:nvSpPr>
              <p:spPr bwMode="auto">
                <a:xfrm>
                  <a:off x="4975" y="3550"/>
                  <a:ext cx="97" cy="56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cxnSp>
              <p:nvCxnSpPr>
                <p:cNvPr id="48400" name="AutoShape 72"/>
                <p:cNvCxnSpPr>
                  <a:cxnSpLocks noChangeShapeType="1"/>
                  <a:stCxn id="48399" idx="0"/>
                  <a:endCxn id="48388" idx="4"/>
                </p:cNvCxnSpPr>
                <p:nvPr/>
              </p:nvCxnSpPr>
              <p:spPr bwMode="auto">
                <a:xfrm flipV="1">
                  <a:off x="5024" y="3457"/>
                  <a:ext cx="128" cy="93"/>
                </a:xfrm>
                <a:prstGeom prst="straightConnector1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401" name="Oval 73"/>
                <p:cNvSpPr>
                  <a:spLocks noChangeArrowheads="1"/>
                </p:cNvSpPr>
                <p:nvPr/>
              </p:nvSpPr>
              <p:spPr bwMode="auto">
                <a:xfrm>
                  <a:off x="4865" y="3702"/>
                  <a:ext cx="97" cy="56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cxnSp>
              <p:nvCxnSpPr>
                <p:cNvPr id="48402" name="AutoShape 74"/>
                <p:cNvCxnSpPr>
                  <a:cxnSpLocks noChangeShapeType="1"/>
                  <a:stCxn id="48401" idx="0"/>
                  <a:endCxn id="48399" idx="4"/>
                </p:cNvCxnSpPr>
                <p:nvPr/>
              </p:nvCxnSpPr>
              <p:spPr bwMode="auto">
                <a:xfrm flipV="1">
                  <a:off x="4914" y="3606"/>
                  <a:ext cx="110" cy="96"/>
                </a:xfrm>
                <a:prstGeom prst="straightConnector1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403" name="Oval 75"/>
                <p:cNvSpPr>
                  <a:spLocks noChangeArrowheads="1"/>
                </p:cNvSpPr>
                <p:nvPr/>
              </p:nvSpPr>
              <p:spPr bwMode="auto">
                <a:xfrm>
                  <a:off x="5103" y="3714"/>
                  <a:ext cx="97" cy="56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cxnSp>
              <p:nvCxnSpPr>
                <p:cNvPr id="48404" name="AutoShape 76"/>
                <p:cNvCxnSpPr>
                  <a:cxnSpLocks noChangeShapeType="1"/>
                  <a:stCxn id="48403" idx="0"/>
                  <a:endCxn id="48399" idx="4"/>
                </p:cNvCxnSpPr>
                <p:nvPr/>
              </p:nvCxnSpPr>
              <p:spPr bwMode="auto">
                <a:xfrm flipH="1" flipV="1">
                  <a:off x="5024" y="3606"/>
                  <a:ext cx="128" cy="108"/>
                </a:xfrm>
                <a:prstGeom prst="straightConnector1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405" name="Oval 77"/>
                <p:cNvSpPr>
                  <a:spLocks noChangeArrowheads="1"/>
                </p:cNvSpPr>
                <p:nvPr/>
              </p:nvSpPr>
              <p:spPr bwMode="auto">
                <a:xfrm>
                  <a:off x="4377" y="3521"/>
                  <a:ext cx="97" cy="56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cxnSp>
              <p:nvCxnSpPr>
                <p:cNvPr id="48406" name="AutoShape 78"/>
                <p:cNvCxnSpPr>
                  <a:cxnSpLocks noChangeShapeType="1"/>
                  <a:stCxn id="48405" idx="0"/>
                  <a:endCxn id="48397" idx="4"/>
                </p:cNvCxnSpPr>
                <p:nvPr/>
              </p:nvCxnSpPr>
              <p:spPr bwMode="auto">
                <a:xfrm flipV="1">
                  <a:off x="4426" y="3441"/>
                  <a:ext cx="136" cy="80"/>
                </a:xfrm>
                <a:prstGeom prst="straightConnector1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407" name="Oval 79"/>
                <p:cNvSpPr>
                  <a:spLocks noChangeArrowheads="1"/>
                </p:cNvSpPr>
                <p:nvPr/>
              </p:nvSpPr>
              <p:spPr bwMode="auto">
                <a:xfrm>
                  <a:off x="4649" y="3521"/>
                  <a:ext cx="97" cy="56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cxnSp>
              <p:nvCxnSpPr>
                <p:cNvPr id="48408" name="AutoShape 80"/>
                <p:cNvCxnSpPr>
                  <a:cxnSpLocks noChangeShapeType="1"/>
                  <a:stCxn id="48407" idx="0"/>
                  <a:endCxn id="48397" idx="4"/>
                </p:cNvCxnSpPr>
                <p:nvPr/>
              </p:nvCxnSpPr>
              <p:spPr bwMode="auto">
                <a:xfrm flipH="1" flipV="1">
                  <a:off x="4562" y="3441"/>
                  <a:ext cx="136" cy="80"/>
                </a:xfrm>
                <a:prstGeom prst="straightConnector1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48352" name="Group 81"/>
            <p:cNvGrpSpPr>
              <a:grpSpLocks/>
            </p:cNvGrpSpPr>
            <p:nvPr/>
          </p:nvGrpSpPr>
          <p:grpSpPr bwMode="auto">
            <a:xfrm>
              <a:off x="2472" y="3974"/>
              <a:ext cx="182" cy="181"/>
              <a:chOff x="4232" y="3505"/>
              <a:chExt cx="221" cy="299"/>
            </a:xfrm>
          </p:grpSpPr>
          <p:sp>
            <p:nvSpPr>
              <p:cNvPr id="48374" name="Line 82"/>
              <p:cNvSpPr>
                <a:spLocks noChangeShapeType="1"/>
              </p:cNvSpPr>
              <p:nvPr/>
            </p:nvSpPr>
            <p:spPr bwMode="auto">
              <a:xfrm>
                <a:off x="4232" y="3533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75" name="Oval 83"/>
              <p:cNvSpPr>
                <a:spLocks noChangeArrowheads="1"/>
              </p:cNvSpPr>
              <p:nvPr/>
            </p:nvSpPr>
            <p:spPr bwMode="auto">
              <a:xfrm>
                <a:off x="4377" y="3505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76" name="Line 84"/>
              <p:cNvSpPr>
                <a:spLocks noChangeShapeType="1"/>
              </p:cNvSpPr>
              <p:nvPr/>
            </p:nvSpPr>
            <p:spPr bwMode="auto">
              <a:xfrm>
                <a:off x="4232" y="3588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77" name="Oval 85"/>
              <p:cNvSpPr>
                <a:spLocks noChangeArrowheads="1"/>
              </p:cNvSpPr>
              <p:nvPr/>
            </p:nvSpPr>
            <p:spPr bwMode="auto">
              <a:xfrm>
                <a:off x="4377" y="3561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78" name="Line 86"/>
              <p:cNvSpPr>
                <a:spLocks noChangeShapeType="1"/>
              </p:cNvSpPr>
              <p:nvPr/>
            </p:nvSpPr>
            <p:spPr bwMode="auto">
              <a:xfrm>
                <a:off x="4232" y="3651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79" name="Oval 87"/>
              <p:cNvSpPr>
                <a:spLocks noChangeArrowheads="1"/>
              </p:cNvSpPr>
              <p:nvPr/>
            </p:nvSpPr>
            <p:spPr bwMode="auto">
              <a:xfrm>
                <a:off x="4377" y="3623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80" name="Line 88"/>
              <p:cNvSpPr>
                <a:spLocks noChangeShapeType="1"/>
              </p:cNvSpPr>
              <p:nvPr/>
            </p:nvSpPr>
            <p:spPr bwMode="auto">
              <a:xfrm>
                <a:off x="4232" y="3713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81" name="Oval 89"/>
              <p:cNvSpPr>
                <a:spLocks noChangeArrowheads="1"/>
              </p:cNvSpPr>
              <p:nvPr/>
            </p:nvSpPr>
            <p:spPr bwMode="auto">
              <a:xfrm>
                <a:off x="4377" y="3686"/>
                <a:ext cx="76" cy="55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82" name="Line 90"/>
              <p:cNvSpPr>
                <a:spLocks noChangeShapeType="1"/>
              </p:cNvSpPr>
              <p:nvPr/>
            </p:nvSpPr>
            <p:spPr bwMode="auto">
              <a:xfrm>
                <a:off x="4232" y="3775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83" name="Oval 91"/>
              <p:cNvSpPr>
                <a:spLocks noChangeArrowheads="1"/>
              </p:cNvSpPr>
              <p:nvPr/>
            </p:nvSpPr>
            <p:spPr bwMode="auto">
              <a:xfrm>
                <a:off x="4377" y="3748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  <p:grpSp>
          <p:nvGrpSpPr>
            <p:cNvPr id="48353" name="Group 92"/>
            <p:cNvGrpSpPr>
              <a:grpSpLocks/>
            </p:cNvGrpSpPr>
            <p:nvPr/>
          </p:nvGrpSpPr>
          <p:grpSpPr bwMode="auto">
            <a:xfrm>
              <a:off x="3334" y="3974"/>
              <a:ext cx="182" cy="105"/>
              <a:chOff x="3352" y="3485"/>
              <a:chExt cx="221" cy="174"/>
            </a:xfrm>
          </p:grpSpPr>
          <p:sp>
            <p:nvSpPr>
              <p:cNvPr id="48368" name="Line 93"/>
              <p:cNvSpPr>
                <a:spLocks noChangeShapeType="1"/>
              </p:cNvSpPr>
              <p:nvPr/>
            </p:nvSpPr>
            <p:spPr bwMode="auto">
              <a:xfrm>
                <a:off x="3352" y="3513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69" name="Oval 94"/>
              <p:cNvSpPr>
                <a:spLocks noChangeArrowheads="1"/>
              </p:cNvSpPr>
              <p:nvPr/>
            </p:nvSpPr>
            <p:spPr bwMode="auto">
              <a:xfrm>
                <a:off x="3497" y="3485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70" name="Line 95"/>
              <p:cNvSpPr>
                <a:spLocks noChangeShapeType="1"/>
              </p:cNvSpPr>
              <p:nvPr/>
            </p:nvSpPr>
            <p:spPr bwMode="auto">
              <a:xfrm>
                <a:off x="3352" y="3568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71" name="Oval 96"/>
              <p:cNvSpPr>
                <a:spLocks noChangeArrowheads="1"/>
              </p:cNvSpPr>
              <p:nvPr/>
            </p:nvSpPr>
            <p:spPr bwMode="auto">
              <a:xfrm>
                <a:off x="3497" y="3541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72" name="Line 97"/>
              <p:cNvSpPr>
                <a:spLocks noChangeShapeType="1"/>
              </p:cNvSpPr>
              <p:nvPr/>
            </p:nvSpPr>
            <p:spPr bwMode="auto">
              <a:xfrm>
                <a:off x="3352" y="3631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73" name="Oval 98"/>
              <p:cNvSpPr>
                <a:spLocks noChangeArrowheads="1"/>
              </p:cNvSpPr>
              <p:nvPr/>
            </p:nvSpPr>
            <p:spPr bwMode="auto">
              <a:xfrm>
                <a:off x="3497" y="3603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  <p:grpSp>
          <p:nvGrpSpPr>
            <p:cNvPr id="48354" name="Group 99"/>
            <p:cNvGrpSpPr>
              <a:grpSpLocks/>
            </p:cNvGrpSpPr>
            <p:nvPr/>
          </p:nvGrpSpPr>
          <p:grpSpPr bwMode="auto">
            <a:xfrm>
              <a:off x="2880" y="3793"/>
              <a:ext cx="182" cy="105"/>
              <a:chOff x="3352" y="3485"/>
              <a:chExt cx="221" cy="174"/>
            </a:xfrm>
          </p:grpSpPr>
          <p:sp>
            <p:nvSpPr>
              <p:cNvPr id="48362" name="Line 100"/>
              <p:cNvSpPr>
                <a:spLocks noChangeShapeType="1"/>
              </p:cNvSpPr>
              <p:nvPr/>
            </p:nvSpPr>
            <p:spPr bwMode="auto">
              <a:xfrm>
                <a:off x="3352" y="3513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63" name="Oval 101"/>
              <p:cNvSpPr>
                <a:spLocks noChangeArrowheads="1"/>
              </p:cNvSpPr>
              <p:nvPr/>
            </p:nvSpPr>
            <p:spPr bwMode="auto">
              <a:xfrm>
                <a:off x="3497" y="3485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64" name="Line 102"/>
              <p:cNvSpPr>
                <a:spLocks noChangeShapeType="1"/>
              </p:cNvSpPr>
              <p:nvPr/>
            </p:nvSpPr>
            <p:spPr bwMode="auto">
              <a:xfrm>
                <a:off x="3352" y="3568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65" name="Oval 103"/>
              <p:cNvSpPr>
                <a:spLocks noChangeArrowheads="1"/>
              </p:cNvSpPr>
              <p:nvPr/>
            </p:nvSpPr>
            <p:spPr bwMode="auto">
              <a:xfrm>
                <a:off x="3497" y="3541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66" name="Line 104"/>
              <p:cNvSpPr>
                <a:spLocks noChangeShapeType="1"/>
              </p:cNvSpPr>
              <p:nvPr/>
            </p:nvSpPr>
            <p:spPr bwMode="auto">
              <a:xfrm>
                <a:off x="3352" y="3631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67" name="Oval 105"/>
              <p:cNvSpPr>
                <a:spLocks noChangeArrowheads="1"/>
              </p:cNvSpPr>
              <p:nvPr/>
            </p:nvSpPr>
            <p:spPr bwMode="auto">
              <a:xfrm>
                <a:off x="3497" y="3603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  <p:grpSp>
          <p:nvGrpSpPr>
            <p:cNvPr id="48355" name="Group 106"/>
            <p:cNvGrpSpPr>
              <a:grpSpLocks/>
            </p:cNvGrpSpPr>
            <p:nvPr/>
          </p:nvGrpSpPr>
          <p:grpSpPr bwMode="auto">
            <a:xfrm>
              <a:off x="3198" y="4156"/>
              <a:ext cx="182" cy="105"/>
              <a:chOff x="3352" y="3485"/>
              <a:chExt cx="221" cy="174"/>
            </a:xfrm>
          </p:grpSpPr>
          <p:sp>
            <p:nvSpPr>
              <p:cNvPr id="48356" name="Line 107"/>
              <p:cNvSpPr>
                <a:spLocks noChangeShapeType="1"/>
              </p:cNvSpPr>
              <p:nvPr/>
            </p:nvSpPr>
            <p:spPr bwMode="auto">
              <a:xfrm>
                <a:off x="3352" y="3513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57" name="Oval 108"/>
              <p:cNvSpPr>
                <a:spLocks noChangeArrowheads="1"/>
              </p:cNvSpPr>
              <p:nvPr/>
            </p:nvSpPr>
            <p:spPr bwMode="auto">
              <a:xfrm>
                <a:off x="3497" y="3485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58" name="Line 109"/>
              <p:cNvSpPr>
                <a:spLocks noChangeShapeType="1"/>
              </p:cNvSpPr>
              <p:nvPr/>
            </p:nvSpPr>
            <p:spPr bwMode="auto">
              <a:xfrm>
                <a:off x="3352" y="3568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59" name="Oval 110"/>
              <p:cNvSpPr>
                <a:spLocks noChangeArrowheads="1"/>
              </p:cNvSpPr>
              <p:nvPr/>
            </p:nvSpPr>
            <p:spPr bwMode="auto">
              <a:xfrm>
                <a:off x="3497" y="3541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60" name="Line 111"/>
              <p:cNvSpPr>
                <a:spLocks noChangeShapeType="1"/>
              </p:cNvSpPr>
              <p:nvPr/>
            </p:nvSpPr>
            <p:spPr bwMode="auto">
              <a:xfrm>
                <a:off x="3352" y="3631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61" name="Oval 112"/>
              <p:cNvSpPr>
                <a:spLocks noChangeArrowheads="1"/>
              </p:cNvSpPr>
              <p:nvPr/>
            </p:nvSpPr>
            <p:spPr bwMode="auto">
              <a:xfrm>
                <a:off x="3497" y="3603"/>
                <a:ext cx="76" cy="5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</p:grpSp>
      <p:sp>
        <p:nvSpPr>
          <p:cNvPr id="48143" name="Text Box 113"/>
          <p:cNvSpPr txBox="1">
            <a:spLocks noChangeArrowheads="1"/>
          </p:cNvSpPr>
          <p:nvPr/>
        </p:nvSpPr>
        <p:spPr bwMode="auto">
          <a:xfrm>
            <a:off x="5753792" y="5975240"/>
            <a:ext cx="22621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ja-JP" altLang="en-US" sz="1100" b="1">
                <a:latin typeface="Meiryo" charset="-128"/>
                <a:ea typeface="Meiryo" charset="-128"/>
                <a:cs typeface="Meiryo" charset="-128"/>
              </a:rPr>
              <a:t>領域オントロジー</a:t>
            </a:r>
            <a:r>
              <a:rPr lang="en-US" altLang="ja-JP" sz="1100" b="1">
                <a:latin typeface="Meiryo" charset="-128"/>
                <a:ea typeface="Meiryo" charset="-128"/>
                <a:cs typeface="Meiryo" charset="-128"/>
              </a:rPr>
              <a:t>(OWL</a:t>
            </a:r>
            <a:r>
              <a:rPr lang="ja-JP" altLang="en-US" sz="1100" b="1">
                <a:latin typeface="Meiryo" charset="-128"/>
                <a:ea typeface="Meiryo" charset="-128"/>
                <a:cs typeface="Meiryo" charset="-128"/>
              </a:rPr>
              <a:t>形式</a:t>
            </a:r>
            <a:r>
              <a:rPr lang="en-US" altLang="ja-JP" sz="1100" b="1">
                <a:latin typeface="Meiryo" charset="-128"/>
                <a:ea typeface="Meiryo" charset="-128"/>
                <a:cs typeface="Meiryo" charset="-128"/>
              </a:rPr>
              <a:t>)</a:t>
            </a:r>
          </a:p>
        </p:txBody>
      </p:sp>
      <p:sp>
        <p:nvSpPr>
          <p:cNvPr id="48144" name="Text Box 114"/>
          <p:cNvSpPr txBox="1">
            <a:spLocks noChangeArrowheads="1"/>
          </p:cNvSpPr>
          <p:nvPr/>
        </p:nvSpPr>
        <p:spPr bwMode="auto">
          <a:xfrm>
            <a:off x="5788445" y="5004563"/>
            <a:ext cx="20018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 b="1">
                <a:latin typeface="Meiryo" charset="-128"/>
                <a:ea typeface="Meiryo" charset="-128"/>
                <a:cs typeface="Meiryo" charset="-128"/>
              </a:rPr>
              <a:t>変換モジュール</a:t>
            </a:r>
          </a:p>
        </p:txBody>
      </p:sp>
      <p:sp>
        <p:nvSpPr>
          <p:cNvPr id="48145" name="Text Box 115"/>
          <p:cNvSpPr txBox="1">
            <a:spLocks noChangeArrowheads="1"/>
          </p:cNvSpPr>
          <p:nvPr/>
        </p:nvSpPr>
        <p:spPr bwMode="auto">
          <a:xfrm>
            <a:off x="5125327" y="5136096"/>
            <a:ext cx="74892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100" b="1">
                <a:latin typeface="Meiryo" charset="-128"/>
                <a:ea typeface="Meiryo" charset="-128"/>
                <a:cs typeface="Meiryo" charset="-128"/>
              </a:rPr>
              <a:t>概念階層</a:t>
            </a:r>
          </a:p>
        </p:txBody>
      </p:sp>
      <p:sp>
        <p:nvSpPr>
          <p:cNvPr id="48146" name="AutoShape 116"/>
          <p:cNvSpPr>
            <a:spLocks noChangeArrowheads="1"/>
          </p:cNvSpPr>
          <p:nvPr/>
        </p:nvSpPr>
        <p:spPr bwMode="auto">
          <a:xfrm>
            <a:off x="3652365" y="1796812"/>
            <a:ext cx="671513" cy="314325"/>
          </a:xfrm>
          <a:prstGeom prst="can">
            <a:avLst>
              <a:gd name="adj" fmla="val 25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800">
                <a:latin typeface="Meiryo" charset="-128"/>
                <a:ea typeface="Meiryo" charset="-128"/>
                <a:cs typeface="Meiryo" charset="-128"/>
              </a:rPr>
              <a:t>EDR</a:t>
            </a:r>
            <a:endParaRPr lang="en-US" altLang="ja-JP" sz="8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47" name="AutoShape 117"/>
          <p:cNvSpPr>
            <a:spLocks noChangeArrowheads="1"/>
          </p:cNvSpPr>
          <p:nvPr/>
        </p:nvSpPr>
        <p:spPr bwMode="auto">
          <a:xfrm>
            <a:off x="3659989" y="1427423"/>
            <a:ext cx="671513" cy="320635"/>
          </a:xfrm>
          <a:prstGeom prst="can">
            <a:avLst>
              <a:gd name="adj" fmla="val 25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800" dirty="0">
                <a:latin typeface="Meiryo" charset="-128"/>
                <a:ea typeface="Meiryo" charset="-128"/>
                <a:cs typeface="Meiryo" charset="-128"/>
              </a:rPr>
              <a:t>WordNet</a:t>
            </a:r>
          </a:p>
        </p:txBody>
      </p:sp>
      <p:sp>
        <p:nvSpPr>
          <p:cNvPr id="48148" name="AutoShape 120"/>
          <p:cNvSpPr>
            <a:spLocks noChangeArrowheads="1"/>
          </p:cNvSpPr>
          <p:nvPr/>
        </p:nvSpPr>
        <p:spPr bwMode="auto">
          <a:xfrm>
            <a:off x="7283869" y="2128012"/>
            <a:ext cx="1077912" cy="279400"/>
          </a:xfrm>
          <a:prstGeom prst="roundRect">
            <a:avLst>
              <a:gd name="adj" fmla="val 16667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200" b="1" dirty="0">
                <a:latin typeface="Meiryo" charset="-128"/>
                <a:ea typeface="Meiryo" charset="-128"/>
                <a:cs typeface="Meiryo" charset="-128"/>
              </a:rPr>
              <a:t>関係構築</a:t>
            </a:r>
          </a:p>
        </p:txBody>
      </p:sp>
      <p:sp>
        <p:nvSpPr>
          <p:cNvPr id="48149" name="Text Box 121"/>
          <p:cNvSpPr txBox="1">
            <a:spLocks noChangeArrowheads="1"/>
          </p:cNvSpPr>
          <p:nvPr/>
        </p:nvSpPr>
        <p:spPr bwMode="auto">
          <a:xfrm>
            <a:off x="5376173" y="1835583"/>
            <a:ext cx="2515730" cy="30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 b="1">
                <a:latin typeface="Meiryo" charset="-128"/>
                <a:ea typeface="Meiryo" charset="-128"/>
                <a:cs typeface="Meiryo" charset="-128"/>
              </a:rPr>
              <a:t>オントロジー構築モジュール</a:t>
            </a:r>
          </a:p>
        </p:txBody>
      </p:sp>
      <p:sp>
        <p:nvSpPr>
          <p:cNvPr id="48150" name="Text Box 122"/>
          <p:cNvSpPr txBox="1">
            <a:spLocks noChangeArrowheads="1"/>
          </p:cNvSpPr>
          <p:nvPr/>
        </p:nvSpPr>
        <p:spPr bwMode="auto">
          <a:xfrm>
            <a:off x="7443713" y="2759837"/>
            <a:ext cx="8899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100" b="1">
                <a:latin typeface="Meiryo" charset="-128"/>
                <a:ea typeface="Meiryo" charset="-128"/>
                <a:cs typeface="Meiryo" charset="-128"/>
              </a:rPr>
              <a:t>概念対集合</a:t>
            </a:r>
          </a:p>
        </p:txBody>
      </p:sp>
      <p:grpSp>
        <p:nvGrpSpPr>
          <p:cNvPr id="48151" name="Group 123"/>
          <p:cNvGrpSpPr>
            <a:grpSpLocks/>
          </p:cNvGrpSpPr>
          <p:nvPr/>
        </p:nvGrpSpPr>
        <p:grpSpPr bwMode="auto">
          <a:xfrm>
            <a:off x="6228182" y="2067688"/>
            <a:ext cx="688975" cy="357187"/>
            <a:chOff x="2517" y="799"/>
            <a:chExt cx="749" cy="363"/>
          </a:xfrm>
        </p:grpSpPr>
        <p:sp>
          <p:nvSpPr>
            <p:cNvPr id="48341" name="Oval 124"/>
            <p:cNvSpPr>
              <a:spLocks noChangeArrowheads="1"/>
            </p:cNvSpPr>
            <p:nvPr/>
          </p:nvSpPr>
          <p:spPr bwMode="auto">
            <a:xfrm>
              <a:off x="2517" y="799"/>
              <a:ext cx="749" cy="36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grpSp>
          <p:nvGrpSpPr>
            <p:cNvPr id="48342" name="Group 125"/>
            <p:cNvGrpSpPr>
              <a:grpSpLocks/>
            </p:cNvGrpSpPr>
            <p:nvPr/>
          </p:nvGrpSpPr>
          <p:grpSpPr bwMode="auto">
            <a:xfrm>
              <a:off x="2608" y="855"/>
              <a:ext cx="546" cy="262"/>
              <a:chOff x="2562" y="845"/>
              <a:chExt cx="596" cy="306"/>
            </a:xfrm>
          </p:grpSpPr>
          <p:sp>
            <p:nvSpPr>
              <p:cNvPr id="48343" name="Oval 126"/>
              <p:cNvSpPr>
                <a:spLocks noChangeArrowheads="1"/>
              </p:cNvSpPr>
              <p:nvPr/>
            </p:nvSpPr>
            <p:spPr bwMode="auto">
              <a:xfrm>
                <a:off x="2783" y="890"/>
                <a:ext cx="97" cy="56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44" name="Oval 127"/>
              <p:cNvSpPr>
                <a:spLocks noChangeArrowheads="1"/>
              </p:cNvSpPr>
              <p:nvPr/>
            </p:nvSpPr>
            <p:spPr bwMode="auto">
              <a:xfrm>
                <a:off x="2880" y="981"/>
                <a:ext cx="97" cy="56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45" name="Oval 128"/>
              <p:cNvSpPr>
                <a:spLocks noChangeArrowheads="1"/>
              </p:cNvSpPr>
              <p:nvPr/>
            </p:nvSpPr>
            <p:spPr bwMode="auto">
              <a:xfrm>
                <a:off x="2919" y="845"/>
                <a:ext cx="97" cy="56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46" name="Oval 129"/>
              <p:cNvSpPr>
                <a:spLocks noChangeArrowheads="1"/>
              </p:cNvSpPr>
              <p:nvPr/>
            </p:nvSpPr>
            <p:spPr bwMode="auto">
              <a:xfrm>
                <a:off x="3055" y="925"/>
                <a:ext cx="97" cy="56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47" name="Oval 130"/>
              <p:cNvSpPr>
                <a:spLocks noChangeArrowheads="1"/>
              </p:cNvSpPr>
              <p:nvPr/>
            </p:nvSpPr>
            <p:spPr bwMode="auto">
              <a:xfrm>
                <a:off x="3061" y="1015"/>
                <a:ext cx="97" cy="56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48" name="Oval 131"/>
              <p:cNvSpPr>
                <a:spLocks noChangeArrowheads="1"/>
              </p:cNvSpPr>
              <p:nvPr/>
            </p:nvSpPr>
            <p:spPr bwMode="auto">
              <a:xfrm>
                <a:off x="2562" y="845"/>
                <a:ext cx="97" cy="56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49" name="Oval 132"/>
              <p:cNvSpPr>
                <a:spLocks noChangeArrowheads="1"/>
              </p:cNvSpPr>
              <p:nvPr/>
            </p:nvSpPr>
            <p:spPr bwMode="auto">
              <a:xfrm>
                <a:off x="2653" y="970"/>
                <a:ext cx="97" cy="56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50" name="Oval 133"/>
              <p:cNvSpPr>
                <a:spLocks noChangeArrowheads="1"/>
              </p:cNvSpPr>
              <p:nvPr/>
            </p:nvSpPr>
            <p:spPr bwMode="auto">
              <a:xfrm>
                <a:off x="2744" y="1095"/>
                <a:ext cx="97" cy="56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</p:grpSp>
      <p:sp>
        <p:nvSpPr>
          <p:cNvPr id="48152" name="AutoShape 134"/>
          <p:cNvSpPr>
            <a:spLocks noChangeArrowheads="1"/>
          </p:cNvSpPr>
          <p:nvPr/>
        </p:nvSpPr>
        <p:spPr bwMode="auto">
          <a:xfrm>
            <a:off x="4794670" y="2128012"/>
            <a:ext cx="1069975" cy="279400"/>
          </a:xfrm>
          <a:prstGeom prst="roundRect">
            <a:avLst>
              <a:gd name="adj" fmla="val 16667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200" b="1">
                <a:latin typeface="Meiryo" charset="-128"/>
                <a:ea typeface="Meiryo" charset="-128"/>
                <a:cs typeface="Meiryo" charset="-128"/>
              </a:rPr>
              <a:t>階層構築</a:t>
            </a:r>
          </a:p>
        </p:txBody>
      </p:sp>
      <p:sp>
        <p:nvSpPr>
          <p:cNvPr id="48153" name="AutoShape 135"/>
          <p:cNvSpPr>
            <a:spLocks noChangeArrowheads="1"/>
          </p:cNvSpPr>
          <p:nvPr/>
        </p:nvSpPr>
        <p:spPr bwMode="auto">
          <a:xfrm>
            <a:off x="6917157" y="2440749"/>
            <a:ext cx="900113" cy="228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900">
                <a:latin typeface="Meiryo" charset="-128"/>
                <a:ea typeface="Meiryo" charset="-128"/>
                <a:cs typeface="Meiryo" charset="-128"/>
              </a:rPr>
              <a:t>相関ルール</a:t>
            </a:r>
          </a:p>
        </p:txBody>
      </p:sp>
      <p:sp>
        <p:nvSpPr>
          <p:cNvPr id="48154" name="AutoShape 136"/>
          <p:cNvSpPr>
            <a:spLocks noChangeArrowheads="1"/>
          </p:cNvSpPr>
          <p:nvPr/>
        </p:nvSpPr>
        <p:spPr bwMode="auto">
          <a:xfrm>
            <a:off x="7810920" y="2440750"/>
            <a:ext cx="904875" cy="22542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900">
                <a:latin typeface="Meiryo" charset="-128"/>
                <a:ea typeface="Meiryo" charset="-128"/>
                <a:cs typeface="Meiryo" charset="-128"/>
              </a:rPr>
              <a:t>WordSpace</a:t>
            </a:r>
          </a:p>
        </p:txBody>
      </p:sp>
      <p:sp>
        <p:nvSpPr>
          <p:cNvPr id="39962" name="AutoShape 137"/>
          <p:cNvSpPr>
            <a:spLocks noChangeArrowheads="1"/>
          </p:cNvSpPr>
          <p:nvPr/>
        </p:nvSpPr>
        <p:spPr bwMode="auto">
          <a:xfrm>
            <a:off x="6948907" y="2104200"/>
            <a:ext cx="334963" cy="231775"/>
          </a:xfrm>
          <a:prstGeom prst="rightArrow">
            <a:avLst>
              <a:gd name="adj1" fmla="val 49731"/>
              <a:gd name="adj2" fmla="val 65837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56" name="AutoShape 139"/>
          <p:cNvSpPr>
            <a:spLocks noChangeArrowheads="1"/>
          </p:cNvSpPr>
          <p:nvPr/>
        </p:nvSpPr>
        <p:spPr bwMode="auto">
          <a:xfrm>
            <a:off x="2199106" y="1510474"/>
            <a:ext cx="838200" cy="685800"/>
          </a:xfrm>
          <a:prstGeom prst="can">
            <a:avLst>
              <a:gd name="adj" fmla="val 25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800" dirty="0">
                <a:latin typeface="Meiryo" charset="-128"/>
                <a:ea typeface="Meiryo" charset="-128"/>
                <a:cs typeface="Meiryo" charset="-128"/>
              </a:rPr>
              <a:t>既存</a:t>
            </a:r>
            <a:r>
              <a:rPr lang="en-US" altLang="ja-JP" sz="800" dirty="0">
                <a:latin typeface="Meiryo" charset="-128"/>
                <a:ea typeface="Meiryo" charset="-128"/>
                <a:cs typeface="Meiryo" charset="-128"/>
              </a:rPr>
              <a:t>OWL</a:t>
            </a:r>
          </a:p>
          <a:p>
            <a:pPr algn="ctr" eaLnBrk="1" hangingPunct="1"/>
            <a:r>
              <a:rPr lang="ja-JP" altLang="en-US" sz="800" dirty="0">
                <a:latin typeface="Meiryo" charset="-128"/>
                <a:ea typeface="Meiryo" charset="-128"/>
                <a:cs typeface="Meiryo" charset="-128"/>
              </a:rPr>
              <a:t>オントロジー</a:t>
            </a:r>
          </a:p>
        </p:txBody>
      </p:sp>
      <p:sp>
        <p:nvSpPr>
          <p:cNvPr id="48157" name="Text Box 141"/>
          <p:cNvSpPr txBox="1">
            <a:spLocks noChangeArrowheads="1"/>
          </p:cNvSpPr>
          <p:nvPr/>
        </p:nvSpPr>
        <p:spPr bwMode="auto">
          <a:xfrm>
            <a:off x="5008983" y="3453027"/>
            <a:ext cx="3433763" cy="30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 b="1">
                <a:latin typeface="Meiryo" charset="-128"/>
                <a:ea typeface="Meiryo" charset="-128"/>
                <a:cs typeface="Meiryo" charset="-128"/>
              </a:rPr>
              <a:t>オントロジー洗練モジュール</a:t>
            </a:r>
          </a:p>
        </p:txBody>
      </p:sp>
      <p:grpSp>
        <p:nvGrpSpPr>
          <p:cNvPr id="48158" name="Group 142"/>
          <p:cNvGrpSpPr>
            <a:grpSpLocks/>
          </p:cNvGrpSpPr>
          <p:nvPr/>
        </p:nvGrpSpPr>
        <p:grpSpPr bwMode="auto">
          <a:xfrm>
            <a:off x="5293145" y="3694875"/>
            <a:ext cx="801687" cy="544513"/>
            <a:chOff x="1610" y="2307"/>
            <a:chExt cx="646" cy="439"/>
          </a:xfrm>
        </p:grpSpPr>
        <p:sp>
          <p:nvSpPr>
            <p:cNvPr id="48316" name="Oval 143"/>
            <p:cNvSpPr>
              <a:spLocks noChangeArrowheads="1"/>
            </p:cNvSpPr>
            <p:nvPr/>
          </p:nvSpPr>
          <p:spPr bwMode="auto">
            <a:xfrm>
              <a:off x="1610" y="2307"/>
              <a:ext cx="646" cy="42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grpSp>
          <p:nvGrpSpPr>
            <p:cNvPr id="48317" name="Group 144"/>
            <p:cNvGrpSpPr>
              <a:grpSpLocks/>
            </p:cNvGrpSpPr>
            <p:nvPr/>
          </p:nvGrpSpPr>
          <p:grpSpPr bwMode="auto">
            <a:xfrm>
              <a:off x="1650" y="2352"/>
              <a:ext cx="562" cy="394"/>
              <a:chOff x="4377" y="3102"/>
              <a:chExt cx="968" cy="668"/>
            </a:xfrm>
          </p:grpSpPr>
          <p:sp>
            <p:nvSpPr>
              <p:cNvPr id="48318" name="Oval 145"/>
              <p:cNvSpPr>
                <a:spLocks noChangeArrowheads="1"/>
              </p:cNvSpPr>
              <p:nvPr/>
            </p:nvSpPr>
            <p:spPr bwMode="auto">
              <a:xfrm>
                <a:off x="4787" y="3102"/>
                <a:ext cx="97" cy="56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19" name="Oval 146"/>
              <p:cNvSpPr>
                <a:spLocks noChangeArrowheads="1"/>
              </p:cNvSpPr>
              <p:nvPr/>
            </p:nvSpPr>
            <p:spPr bwMode="auto">
              <a:xfrm>
                <a:off x="4940" y="3253"/>
                <a:ext cx="97" cy="56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20" name="Oval 147"/>
              <p:cNvSpPr>
                <a:spLocks noChangeArrowheads="1"/>
              </p:cNvSpPr>
              <p:nvPr/>
            </p:nvSpPr>
            <p:spPr bwMode="auto">
              <a:xfrm>
                <a:off x="5103" y="3402"/>
                <a:ext cx="97" cy="55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21" name="Oval 148"/>
              <p:cNvSpPr>
                <a:spLocks noChangeArrowheads="1"/>
              </p:cNvSpPr>
              <p:nvPr/>
            </p:nvSpPr>
            <p:spPr bwMode="auto">
              <a:xfrm>
                <a:off x="5248" y="3542"/>
                <a:ext cx="97" cy="56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cxnSp>
            <p:nvCxnSpPr>
              <p:cNvPr id="48322" name="AutoShape 149"/>
              <p:cNvCxnSpPr>
                <a:cxnSpLocks noChangeShapeType="1"/>
                <a:stCxn id="48319" idx="0"/>
                <a:endCxn id="48318" idx="4"/>
              </p:cNvCxnSpPr>
              <p:nvPr/>
            </p:nvCxnSpPr>
            <p:spPr bwMode="auto">
              <a:xfrm flipH="1" flipV="1">
                <a:off x="4836" y="3158"/>
                <a:ext cx="153" cy="95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323" name="AutoShape 150"/>
              <p:cNvCxnSpPr>
                <a:cxnSpLocks noChangeShapeType="1"/>
                <a:stCxn id="48320" idx="0"/>
                <a:endCxn id="48319" idx="4"/>
              </p:cNvCxnSpPr>
              <p:nvPr/>
            </p:nvCxnSpPr>
            <p:spPr bwMode="auto">
              <a:xfrm flipH="1" flipV="1">
                <a:off x="4989" y="3309"/>
                <a:ext cx="163" cy="93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324" name="AutoShape 151"/>
              <p:cNvCxnSpPr>
                <a:cxnSpLocks noChangeShapeType="1"/>
                <a:stCxn id="48321" idx="0"/>
                <a:endCxn id="48320" idx="4"/>
              </p:cNvCxnSpPr>
              <p:nvPr/>
            </p:nvCxnSpPr>
            <p:spPr bwMode="auto">
              <a:xfrm flipH="1" flipV="1">
                <a:off x="5152" y="3457"/>
                <a:ext cx="145" cy="85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8325" name="Oval 152"/>
              <p:cNvSpPr>
                <a:spLocks noChangeArrowheads="1"/>
              </p:cNvSpPr>
              <p:nvPr/>
            </p:nvSpPr>
            <p:spPr bwMode="auto">
              <a:xfrm>
                <a:off x="4649" y="3246"/>
                <a:ext cx="97" cy="56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326" name="Oval 153"/>
              <p:cNvSpPr>
                <a:spLocks noChangeArrowheads="1"/>
              </p:cNvSpPr>
              <p:nvPr/>
            </p:nvSpPr>
            <p:spPr bwMode="auto">
              <a:xfrm>
                <a:off x="4787" y="3381"/>
                <a:ext cx="97" cy="55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cxnSp>
            <p:nvCxnSpPr>
              <p:cNvPr id="48327" name="AutoShape 154"/>
              <p:cNvCxnSpPr>
                <a:cxnSpLocks noChangeShapeType="1"/>
                <a:stCxn id="48325" idx="0"/>
                <a:endCxn id="48318" idx="4"/>
              </p:cNvCxnSpPr>
              <p:nvPr/>
            </p:nvCxnSpPr>
            <p:spPr bwMode="auto">
              <a:xfrm flipV="1">
                <a:off x="4698" y="3158"/>
                <a:ext cx="138" cy="88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328" name="AutoShape 155"/>
              <p:cNvCxnSpPr>
                <a:cxnSpLocks noChangeShapeType="1"/>
                <a:stCxn id="48326" idx="0"/>
                <a:endCxn id="48325" idx="4"/>
              </p:cNvCxnSpPr>
              <p:nvPr/>
            </p:nvCxnSpPr>
            <p:spPr bwMode="auto">
              <a:xfrm flipH="1" flipV="1">
                <a:off x="4698" y="3302"/>
                <a:ext cx="138" cy="79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8329" name="Oval 156"/>
              <p:cNvSpPr>
                <a:spLocks noChangeArrowheads="1"/>
              </p:cNvSpPr>
              <p:nvPr/>
            </p:nvSpPr>
            <p:spPr bwMode="auto">
              <a:xfrm>
                <a:off x="4513" y="3386"/>
                <a:ext cx="97" cy="55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cxnSp>
            <p:nvCxnSpPr>
              <p:cNvPr id="48330" name="AutoShape 157"/>
              <p:cNvCxnSpPr>
                <a:cxnSpLocks noChangeShapeType="1"/>
                <a:stCxn id="48329" idx="0"/>
                <a:endCxn id="48325" idx="4"/>
              </p:cNvCxnSpPr>
              <p:nvPr/>
            </p:nvCxnSpPr>
            <p:spPr bwMode="auto">
              <a:xfrm flipV="1">
                <a:off x="4562" y="3302"/>
                <a:ext cx="136" cy="84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8331" name="Oval 158"/>
              <p:cNvSpPr>
                <a:spLocks noChangeArrowheads="1"/>
              </p:cNvSpPr>
              <p:nvPr/>
            </p:nvSpPr>
            <p:spPr bwMode="auto">
              <a:xfrm>
                <a:off x="4975" y="3550"/>
                <a:ext cx="97" cy="56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cxnSp>
            <p:nvCxnSpPr>
              <p:cNvPr id="48332" name="AutoShape 159"/>
              <p:cNvCxnSpPr>
                <a:cxnSpLocks noChangeShapeType="1"/>
                <a:stCxn id="48331" idx="0"/>
                <a:endCxn id="48320" idx="4"/>
              </p:cNvCxnSpPr>
              <p:nvPr/>
            </p:nvCxnSpPr>
            <p:spPr bwMode="auto">
              <a:xfrm flipV="1">
                <a:off x="5024" y="3457"/>
                <a:ext cx="128" cy="93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8333" name="Oval 160"/>
              <p:cNvSpPr>
                <a:spLocks noChangeArrowheads="1"/>
              </p:cNvSpPr>
              <p:nvPr/>
            </p:nvSpPr>
            <p:spPr bwMode="auto">
              <a:xfrm>
                <a:off x="4865" y="3702"/>
                <a:ext cx="97" cy="56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cxnSp>
            <p:nvCxnSpPr>
              <p:cNvPr id="48334" name="AutoShape 161"/>
              <p:cNvCxnSpPr>
                <a:cxnSpLocks noChangeShapeType="1"/>
                <a:stCxn id="48333" idx="0"/>
                <a:endCxn id="48331" idx="4"/>
              </p:cNvCxnSpPr>
              <p:nvPr/>
            </p:nvCxnSpPr>
            <p:spPr bwMode="auto">
              <a:xfrm flipV="1">
                <a:off x="4914" y="3606"/>
                <a:ext cx="110" cy="96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8335" name="Oval 162"/>
              <p:cNvSpPr>
                <a:spLocks noChangeArrowheads="1"/>
              </p:cNvSpPr>
              <p:nvPr/>
            </p:nvSpPr>
            <p:spPr bwMode="auto">
              <a:xfrm>
                <a:off x="5103" y="3714"/>
                <a:ext cx="97" cy="56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cxnSp>
            <p:nvCxnSpPr>
              <p:cNvPr id="48336" name="AutoShape 163"/>
              <p:cNvCxnSpPr>
                <a:cxnSpLocks noChangeShapeType="1"/>
                <a:stCxn id="48335" idx="0"/>
                <a:endCxn id="48331" idx="4"/>
              </p:cNvCxnSpPr>
              <p:nvPr/>
            </p:nvCxnSpPr>
            <p:spPr bwMode="auto">
              <a:xfrm flipH="1" flipV="1">
                <a:off x="5024" y="3606"/>
                <a:ext cx="128" cy="108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8337" name="Oval 164"/>
              <p:cNvSpPr>
                <a:spLocks noChangeArrowheads="1"/>
              </p:cNvSpPr>
              <p:nvPr/>
            </p:nvSpPr>
            <p:spPr bwMode="auto">
              <a:xfrm>
                <a:off x="4377" y="3521"/>
                <a:ext cx="97" cy="56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cxnSp>
            <p:nvCxnSpPr>
              <p:cNvPr id="48338" name="AutoShape 165"/>
              <p:cNvCxnSpPr>
                <a:cxnSpLocks noChangeShapeType="1"/>
                <a:stCxn id="48337" idx="0"/>
                <a:endCxn id="48329" idx="4"/>
              </p:cNvCxnSpPr>
              <p:nvPr/>
            </p:nvCxnSpPr>
            <p:spPr bwMode="auto">
              <a:xfrm flipV="1">
                <a:off x="4426" y="3441"/>
                <a:ext cx="136" cy="8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8339" name="Oval 166"/>
              <p:cNvSpPr>
                <a:spLocks noChangeArrowheads="1"/>
              </p:cNvSpPr>
              <p:nvPr/>
            </p:nvSpPr>
            <p:spPr bwMode="auto">
              <a:xfrm>
                <a:off x="4649" y="3521"/>
                <a:ext cx="97" cy="56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cxnSp>
            <p:nvCxnSpPr>
              <p:cNvPr id="48340" name="AutoShape 167"/>
              <p:cNvCxnSpPr>
                <a:cxnSpLocks noChangeShapeType="1"/>
                <a:stCxn id="48339" idx="0"/>
                <a:endCxn id="48329" idx="4"/>
              </p:cNvCxnSpPr>
              <p:nvPr/>
            </p:nvCxnSpPr>
            <p:spPr bwMode="auto">
              <a:xfrm flipH="1" flipV="1">
                <a:off x="4562" y="3441"/>
                <a:ext cx="136" cy="8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48159" name="Group 168"/>
          <p:cNvGrpSpPr>
            <a:grpSpLocks/>
          </p:cNvGrpSpPr>
          <p:nvPr/>
        </p:nvGrpSpPr>
        <p:grpSpPr bwMode="auto">
          <a:xfrm>
            <a:off x="5082006" y="4350512"/>
            <a:ext cx="1087438" cy="773112"/>
            <a:chOff x="4377" y="3102"/>
            <a:chExt cx="968" cy="668"/>
          </a:xfrm>
        </p:grpSpPr>
        <p:sp>
          <p:nvSpPr>
            <p:cNvPr id="48293" name="Oval 169"/>
            <p:cNvSpPr>
              <a:spLocks noChangeArrowheads="1"/>
            </p:cNvSpPr>
            <p:nvPr/>
          </p:nvSpPr>
          <p:spPr bwMode="auto">
            <a:xfrm>
              <a:off x="4787" y="3102"/>
              <a:ext cx="97" cy="56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94" name="Oval 170"/>
            <p:cNvSpPr>
              <a:spLocks noChangeArrowheads="1"/>
            </p:cNvSpPr>
            <p:nvPr/>
          </p:nvSpPr>
          <p:spPr bwMode="auto">
            <a:xfrm>
              <a:off x="4940" y="3253"/>
              <a:ext cx="97" cy="56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95" name="Oval 171"/>
            <p:cNvSpPr>
              <a:spLocks noChangeArrowheads="1"/>
            </p:cNvSpPr>
            <p:nvPr/>
          </p:nvSpPr>
          <p:spPr bwMode="auto">
            <a:xfrm>
              <a:off x="5103" y="3402"/>
              <a:ext cx="97" cy="55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96" name="Oval 172"/>
            <p:cNvSpPr>
              <a:spLocks noChangeArrowheads="1"/>
            </p:cNvSpPr>
            <p:nvPr/>
          </p:nvSpPr>
          <p:spPr bwMode="auto">
            <a:xfrm>
              <a:off x="5248" y="3542"/>
              <a:ext cx="97" cy="56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97" name="AutoShape 173"/>
            <p:cNvCxnSpPr>
              <a:cxnSpLocks noChangeShapeType="1"/>
              <a:stCxn id="48294" idx="0"/>
              <a:endCxn id="48293" idx="4"/>
            </p:cNvCxnSpPr>
            <p:nvPr/>
          </p:nvCxnSpPr>
          <p:spPr bwMode="auto">
            <a:xfrm flipH="1" flipV="1">
              <a:off x="4836" y="3158"/>
              <a:ext cx="153" cy="95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298" name="AutoShape 174"/>
            <p:cNvCxnSpPr>
              <a:cxnSpLocks noChangeShapeType="1"/>
              <a:stCxn id="48295" idx="0"/>
              <a:endCxn id="48294" idx="4"/>
            </p:cNvCxnSpPr>
            <p:nvPr/>
          </p:nvCxnSpPr>
          <p:spPr bwMode="auto">
            <a:xfrm flipH="1" flipV="1">
              <a:off x="4989" y="3309"/>
              <a:ext cx="163" cy="93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299" name="AutoShape 175"/>
            <p:cNvCxnSpPr>
              <a:cxnSpLocks noChangeShapeType="1"/>
              <a:stCxn id="48296" idx="0"/>
              <a:endCxn id="48295" idx="4"/>
            </p:cNvCxnSpPr>
            <p:nvPr/>
          </p:nvCxnSpPr>
          <p:spPr bwMode="auto">
            <a:xfrm flipH="1" flipV="1">
              <a:off x="5152" y="3457"/>
              <a:ext cx="145" cy="85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300" name="Oval 176"/>
            <p:cNvSpPr>
              <a:spLocks noChangeArrowheads="1"/>
            </p:cNvSpPr>
            <p:nvPr/>
          </p:nvSpPr>
          <p:spPr bwMode="auto">
            <a:xfrm>
              <a:off x="4649" y="3246"/>
              <a:ext cx="97" cy="56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301" name="Oval 177"/>
            <p:cNvSpPr>
              <a:spLocks noChangeArrowheads="1"/>
            </p:cNvSpPr>
            <p:nvPr/>
          </p:nvSpPr>
          <p:spPr bwMode="auto">
            <a:xfrm>
              <a:off x="4787" y="3381"/>
              <a:ext cx="97" cy="55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302" name="AutoShape 178"/>
            <p:cNvCxnSpPr>
              <a:cxnSpLocks noChangeShapeType="1"/>
              <a:stCxn id="48300" idx="0"/>
              <a:endCxn id="48293" idx="4"/>
            </p:cNvCxnSpPr>
            <p:nvPr/>
          </p:nvCxnSpPr>
          <p:spPr bwMode="auto">
            <a:xfrm flipV="1">
              <a:off x="4698" y="3158"/>
              <a:ext cx="138" cy="88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303" name="AutoShape 179"/>
            <p:cNvCxnSpPr>
              <a:cxnSpLocks noChangeShapeType="1"/>
              <a:stCxn id="48301" idx="0"/>
              <a:endCxn id="48300" idx="4"/>
            </p:cNvCxnSpPr>
            <p:nvPr/>
          </p:nvCxnSpPr>
          <p:spPr bwMode="auto">
            <a:xfrm flipH="1" flipV="1">
              <a:off x="4698" y="3302"/>
              <a:ext cx="138" cy="79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304" name="Oval 180"/>
            <p:cNvSpPr>
              <a:spLocks noChangeArrowheads="1"/>
            </p:cNvSpPr>
            <p:nvPr/>
          </p:nvSpPr>
          <p:spPr bwMode="auto">
            <a:xfrm>
              <a:off x="4513" y="3386"/>
              <a:ext cx="97" cy="55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305" name="AutoShape 181"/>
            <p:cNvCxnSpPr>
              <a:cxnSpLocks noChangeShapeType="1"/>
              <a:stCxn id="48304" idx="0"/>
              <a:endCxn id="48300" idx="4"/>
            </p:cNvCxnSpPr>
            <p:nvPr/>
          </p:nvCxnSpPr>
          <p:spPr bwMode="auto">
            <a:xfrm flipV="1">
              <a:off x="4562" y="3302"/>
              <a:ext cx="136" cy="84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306" name="Oval 182"/>
            <p:cNvSpPr>
              <a:spLocks noChangeArrowheads="1"/>
            </p:cNvSpPr>
            <p:nvPr/>
          </p:nvSpPr>
          <p:spPr bwMode="auto">
            <a:xfrm>
              <a:off x="4975" y="3550"/>
              <a:ext cx="97" cy="56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307" name="AutoShape 183"/>
            <p:cNvCxnSpPr>
              <a:cxnSpLocks noChangeShapeType="1"/>
              <a:stCxn id="48306" idx="0"/>
              <a:endCxn id="48295" idx="4"/>
            </p:cNvCxnSpPr>
            <p:nvPr/>
          </p:nvCxnSpPr>
          <p:spPr bwMode="auto">
            <a:xfrm flipV="1">
              <a:off x="5024" y="3457"/>
              <a:ext cx="128" cy="93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308" name="Oval 184"/>
            <p:cNvSpPr>
              <a:spLocks noChangeArrowheads="1"/>
            </p:cNvSpPr>
            <p:nvPr/>
          </p:nvSpPr>
          <p:spPr bwMode="auto">
            <a:xfrm>
              <a:off x="4865" y="3702"/>
              <a:ext cx="97" cy="56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309" name="AutoShape 185"/>
            <p:cNvCxnSpPr>
              <a:cxnSpLocks noChangeShapeType="1"/>
              <a:stCxn id="48308" idx="0"/>
              <a:endCxn id="48306" idx="4"/>
            </p:cNvCxnSpPr>
            <p:nvPr/>
          </p:nvCxnSpPr>
          <p:spPr bwMode="auto">
            <a:xfrm flipV="1">
              <a:off x="4914" y="3606"/>
              <a:ext cx="110" cy="96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310" name="Oval 186"/>
            <p:cNvSpPr>
              <a:spLocks noChangeArrowheads="1"/>
            </p:cNvSpPr>
            <p:nvPr/>
          </p:nvSpPr>
          <p:spPr bwMode="auto">
            <a:xfrm>
              <a:off x="5103" y="3714"/>
              <a:ext cx="97" cy="56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311" name="AutoShape 187"/>
            <p:cNvCxnSpPr>
              <a:cxnSpLocks noChangeShapeType="1"/>
              <a:stCxn id="48310" idx="0"/>
              <a:endCxn id="48306" idx="4"/>
            </p:cNvCxnSpPr>
            <p:nvPr/>
          </p:nvCxnSpPr>
          <p:spPr bwMode="auto">
            <a:xfrm flipH="1" flipV="1">
              <a:off x="5024" y="3606"/>
              <a:ext cx="128" cy="108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312" name="Oval 188"/>
            <p:cNvSpPr>
              <a:spLocks noChangeArrowheads="1"/>
            </p:cNvSpPr>
            <p:nvPr/>
          </p:nvSpPr>
          <p:spPr bwMode="auto">
            <a:xfrm>
              <a:off x="4377" y="3521"/>
              <a:ext cx="97" cy="56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313" name="AutoShape 189"/>
            <p:cNvCxnSpPr>
              <a:cxnSpLocks noChangeShapeType="1"/>
              <a:stCxn id="48312" idx="0"/>
              <a:endCxn id="48304" idx="4"/>
            </p:cNvCxnSpPr>
            <p:nvPr/>
          </p:nvCxnSpPr>
          <p:spPr bwMode="auto">
            <a:xfrm flipV="1">
              <a:off x="4426" y="3441"/>
              <a:ext cx="136" cy="80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314" name="Oval 190"/>
            <p:cNvSpPr>
              <a:spLocks noChangeArrowheads="1"/>
            </p:cNvSpPr>
            <p:nvPr/>
          </p:nvSpPr>
          <p:spPr bwMode="auto">
            <a:xfrm>
              <a:off x="4649" y="3521"/>
              <a:ext cx="97" cy="56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315" name="AutoShape 191"/>
            <p:cNvCxnSpPr>
              <a:cxnSpLocks noChangeShapeType="1"/>
              <a:stCxn id="48314" idx="0"/>
              <a:endCxn id="48304" idx="4"/>
            </p:cNvCxnSpPr>
            <p:nvPr/>
          </p:nvCxnSpPr>
          <p:spPr bwMode="auto">
            <a:xfrm flipH="1" flipV="1">
              <a:off x="4562" y="3441"/>
              <a:ext cx="136" cy="80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8160" name="AutoShape 192"/>
          <p:cNvSpPr>
            <a:spLocks noChangeArrowheads="1"/>
          </p:cNvSpPr>
          <p:nvPr/>
        </p:nvSpPr>
        <p:spPr bwMode="auto">
          <a:xfrm>
            <a:off x="4961357" y="3933000"/>
            <a:ext cx="358775" cy="663575"/>
          </a:xfrm>
          <a:prstGeom prst="curvedRightArrow">
            <a:avLst>
              <a:gd name="adj1" fmla="val 36811"/>
              <a:gd name="adj2" fmla="val 68374"/>
              <a:gd name="adj3" fmla="val 33333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  <p:grpSp>
        <p:nvGrpSpPr>
          <p:cNvPr id="48161" name="Group 193"/>
          <p:cNvGrpSpPr>
            <a:grpSpLocks/>
          </p:cNvGrpSpPr>
          <p:nvPr/>
        </p:nvGrpSpPr>
        <p:grpSpPr bwMode="auto">
          <a:xfrm>
            <a:off x="7404519" y="3694875"/>
            <a:ext cx="804862" cy="473075"/>
            <a:chOff x="3336" y="2069"/>
            <a:chExt cx="814" cy="544"/>
          </a:xfrm>
        </p:grpSpPr>
        <p:sp>
          <p:nvSpPr>
            <p:cNvPr id="48265" name="Oval 194"/>
            <p:cNvSpPr>
              <a:spLocks noChangeArrowheads="1"/>
            </p:cNvSpPr>
            <p:nvPr/>
          </p:nvSpPr>
          <p:spPr bwMode="auto">
            <a:xfrm>
              <a:off x="3336" y="2069"/>
              <a:ext cx="814" cy="5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66" name="Oval 195"/>
            <p:cNvSpPr>
              <a:spLocks noChangeArrowheads="1"/>
            </p:cNvSpPr>
            <p:nvPr/>
          </p:nvSpPr>
          <p:spPr bwMode="auto">
            <a:xfrm>
              <a:off x="3475" y="2222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67" name="Oval 196"/>
            <p:cNvSpPr>
              <a:spLocks noChangeArrowheads="1"/>
            </p:cNvSpPr>
            <p:nvPr/>
          </p:nvSpPr>
          <p:spPr bwMode="auto">
            <a:xfrm>
              <a:off x="3630" y="2224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68" name="AutoShape 197"/>
            <p:cNvCxnSpPr>
              <a:cxnSpLocks noChangeShapeType="1"/>
              <a:stCxn id="48266" idx="6"/>
              <a:endCxn id="48267" idx="2"/>
            </p:cNvCxnSpPr>
            <p:nvPr/>
          </p:nvCxnSpPr>
          <p:spPr bwMode="auto">
            <a:xfrm>
              <a:off x="3525" y="2245"/>
              <a:ext cx="99" cy="2"/>
            </a:xfrm>
            <a:prstGeom prst="straightConnector1">
              <a:avLst/>
            </a:prstGeom>
            <a:noFill/>
            <a:ln w="9525">
              <a:solidFill>
                <a:srgbClr val="66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269" name="Oval 198"/>
            <p:cNvSpPr>
              <a:spLocks noChangeArrowheads="1"/>
            </p:cNvSpPr>
            <p:nvPr/>
          </p:nvSpPr>
          <p:spPr bwMode="auto">
            <a:xfrm>
              <a:off x="3506" y="2345"/>
              <a:ext cx="44" cy="45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70" name="Oval 199"/>
            <p:cNvSpPr>
              <a:spLocks noChangeArrowheads="1"/>
            </p:cNvSpPr>
            <p:nvPr/>
          </p:nvSpPr>
          <p:spPr bwMode="auto">
            <a:xfrm>
              <a:off x="3661" y="2346"/>
              <a:ext cx="43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71" name="AutoShape 200"/>
            <p:cNvCxnSpPr>
              <a:cxnSpLocks noChangeShapeType="1"/>
              <a:stCxn id="48269" idx="6"/>
              <a:endCxn id="48270" idx="2"/>
            </p:cNvCxnSpPr>
            <p:nvPr/>
          </p:nvCxnSpPr>
          <p:spPr bwMode="auto">
            <a:xfrm>
              <a:off x="3555" y="2368"/>
              <a:ext cx="101" cy="2"/>
            </a:xfrm>
            <a:prstGeom prst="straightConnector1">
              <a:avLst/>
            </a:prstGeom>
            <a:noFill/>
            <a:ln w="9525">
              <a:solidFill>
                <a:srgbClr val="66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272" name="Oval 201"/>
            <p:cNvSpPr>
              <a:spLocks noChangeArrowheads="1"/>
            </p:cNvSpPr>
            <p:nvPr/>
          </p:nvSpPr>
          <p:spPr bwMode="auto">
            <a:xfrm>
              <a:off x="3475" y="2467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73" name="Oval 202"/>
            <p:cNvSpPr>
              <a:spLocks noChangeArrowheads="1"/>
            </p:cNvSpPr>
            <p:nvPr/>
          </p:nvSpPr>
          <p:spPr bwMode="auto">
            <a:xfrm>
              <a:off x="3630" y="2469"/>
              <a:ext cx="44" cy="45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74" name="AutoShape 203"/>
            <p:cNvCxnSpPr>
              <a:cxnSpLocks noChangeShapeType="1"/>
              <a:stCxn id="48272" idx="6"/>
              <a:endCxn id="48273" idx="2"/>
            </p:cNvCxnSpPr>
            <p:nvPr/>
          </p:nvCxnSpPr>
          <p:spPr bwMode="auto">
            <a:xfrm>
              <a:off x="3525" y="2490"/>
              <a:ext cx="99" cy="2"/>
            </a:xfrm>
            <a:prstGeom prst="straightConnector1">
              <a:avLst/>
            </a:prstGeom>
            <a:noFill/>
            <a:ln w="9525">
              <a:solidFill>
                <a:srgbClr val="66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275" name="Oval 204"/>
            <p:cNvSpPr>
              <a:spLocks noChangeArrowheads="1"/>
            </p:cNvSpPr>
            <p:nvPr/>
          </p:nvSpPr>
          <p:spPr bwMode="auto">
            <a:xfrm>
              <a:off x="3740" y="2215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76" name="Oval 205"/>
            <p:cNvSpPr>
              <a:spLocks noChangeArrowheads="1"/>
            </p:cNvSpPr>
            <p:nvPr/>
          </p:nvSpPr>
          <p:spPr bwMode="auto">
            <a:xfrm>
              <a:off x="3895" y="2217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77" name="AutoShape 206"/>
            <p:cNvCxnSpPr>
              <a:cxnSpLocks noChangeShapeType="1"/>
              <a:stCxn id="48275" idx="6"/>
              <a:endCxn id="48276" idx="2"/>
            </p:cNvCxnSpPr>
            <p:nvPr/>
          </p:nvCxnSpPr>
          <p:spPr bwMode="auto">
            <a:xfrm>
              <a:off x="3789" y="2238"/>
              <a:ext cx="101" cy="2"/>
            </a:xfrm>
            <a:prstGeom prst="straightConnector1">
              <a:avLst/>
            </a:prstGeom>
            <a:noFill/>
            <a:ln w="9525">
              <a:solidFill>
                <a:srgbClr val="66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278" name="Oval 207"/>
            <p:cNvSpPr>
              <a:spLocks noChangeArrowheads="1"/>
            </p:cNvSpPr>
            <p:nvPr/>
          </p:nvSpPr>
          <p:spPr bwMode="auto">
            <a:xfrm>
              <a:off x="3828" y="2304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79" name="Oval 208"/>
            <p:cNvSpPr>
              <a:spLocks noChangeArrowheads="1"/>
            </p:cNvSpPr>
            <p:nvPr/>
          </p:nvSpPr>
          <p:spPr bwMode="auto">
            <a:xfrm>
              <a:off x="3983" y="2306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80" name="AutoShape 209"/>
            <p:cNvCxnSpPr>
              <a:cxnSpLocks noChangeShapeType="1"/>
              <a:stCxn id="48278" idx="6"/>
              <a:endCxn id="48279" idx="2"/>
            </p:cNvCxnSpPr>
            <p:nvPr/>
          </p:nvCxnSpPr>
          <p:spPr bwMode="auto">
            <a:xfrm>
              <a:off x="3877" y="2327"/>
              <a:ext cx="101" cy="2"/>
            </a:xfrm>
            <a:prstGeom prst="straightConnector1">
              <a:avLst/>
            </a:prstGeom>
            <a:noFill/>
            <a:ln w="9525">
              <a:solidFill>
                <a:srgbClr val="66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281" name="Oval 210"/>
            <p:cNvSpPr>
              <a:spLocks noChangeArrowheads="1"/>
            </p:cNvSpPr>
            <p:nvPr/>
          </p:nvSpPr>
          <p:spPr bwMode="auto">
            <a:xfrm>
              <a:off x="3740" y="2385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82" name="Oval 211"/>
            <p:cNvSpPr>
              <a:spLocks noChangeArrowheads="1"/>
            </p:cNvSpPr>
            <p:nvPr/>
          </p:nvSpPr>
          <p:spPr bwMode="auto">
            <a:xfrm>
              <a:off x="3895" y="2387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83" name="AutoShape 212"/>
            <p:cNvCxnSpPr>
              <a:cxnSpLocks noChangeShapeType="1"/>
              <a:stCxn id="48281" idx="6"/>
              <a:endCxn id="48282" idx="2"/>
            </p:cNvCxnSpPr>
            <p:nvPr/>
          </p:nvCxnSpPr>
          <p:spPr bwMode="auto">
            <a:xfrm>
              <a:off x="3789" y="2408"/>
              <a:ext cx="101" cy="2"/>
            </a:xfrm>
            <a:prstGeom prst="straightConnector1">
              <a:avLst/>
            </a:prstGeom>
            <a:noFill/>
            <a:ln w="9525">
              <a:solidFill>
                <a:srgbClr val="66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284" name="Oval 213"/>
            <p:cNvSpPr>
              <a:spLocks noChangeArrowheads="1"/>
            </p:cNvSpPr>
            <p:nvPr/>
          </p:nvSpPr>
          <p:spPr bwMode="auto">
            <a:xfrm>
              <a:off x="3718" y="2541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85" name="Oval 214"/>
            <p:cNvSpPr>
              <a:spLocks noChangeArrowheads="1"/>
            </p:cNvSpPr>
            <p:nvPr/>
          </p:nvSpPr>
          <p:spPr bwMode="auto">
            <a:xfrm>
              <a:off x="3873" y="2543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86" name="AutoShape 215"/>
            <p:cNvCxnSpPr>
              <a:cxnSpLocks noChangeShapeType="1"/>
            </p:cNvCxnSpPr>
            <p:nvPr/>
          </p:nvCxnSpPr>
          <p:spPr bwMode="auto">
            <a:xfrm>
              <a:off x="3766" y="2568"/>
              <a:ext cx="102" cy="2"/>
            </a:xfrm>
            <a:prstGeom prst="straightConnector1">
              <a:avLst/>
            </a:prstGeom>
            <a:noFill/>
            <a:ln w="9525">
              <a:solidFill>
                <a:srgbClr val="66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287" name="Oval 216"/>
            <p:cNvSpPr>
              <a:spLocks noChangeArrowheads="1"/>
            </p:cNvSpPr>
            <p:nvPr/>
          </p:nvSpPr>
          <p:spPr bwMode="auto">
            <a:xfrm>
              <a:off x="3784" y="2467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88" name="Oval 217"/>
            <p:cNvSpPr>
              <a:spLocks noChangeArrowheads="1"/>
            </p:cNvSpPr>
            <p:nvPr/>
          </p:nvSpPr>
          <p:spPr bwMode="auto">
            <a:xfrm>
              <a:off x="3939" y="2469"/>
              <a:ext cx="43" cy="45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89" name="AutoShape 218"/>
            <p:cNvCxnSpPr>
              <a:cxnSpLocks noChangeShapeType="1"/>
              <a:stCxn id="48287" idx="6"/>
              <a:endCxn id="48288" idx="2"/>
            </p:cNvCxnSpPr>
            <p:nvPr/>
          </p:nvCxnSpPr>
          <p:spPr bwMode="auto">
            <a:xfrm>
              <a:off x="3833" y="2490"/>
              <a:ext cx="101" cy="2"/>
            </a:xfrm>
            <a:prstGeom prst="straightConnector1">
              <a:avLst/>
            </a:prstGeom>
            <a:noFill/>
            <a:ln w="9525">
              <a:solidFill>
                <a:srgbClr val="66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290" name="Oval 219"/>
            <p:cNvSpPr>
              <a:spLocks noChangeArrowheads="1"/>
            </p:cNvSpPr>
            <p:nvPr/>
          </p:nvSpPr>
          <p:spPr bwMode="auto">
            <a:xfrm>
              <a:off x="3674" y="2100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91" name="Oval 220"/>
            <p:cNvSpPr>
              <a:spLocks noChangeArrowheads="1"/>
            </p:cNvSpPr>
            <p:nvPr/>
          </p:nvSpPr>
          <p:spPr bwMode="auto">
            <a:xfrm>
              <a:off x="3829" y="2102"/>
              <a:ext cx="44" cy="4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92" name="AutoShape 221"/>
            <p:cNvCxnSpPr>
              <a:cxnSpLocks noChangeShapeType="1"/>
              <a:stCxn id="48290" idx="6"/>
              <a:endCxn id="48291" idx="2"/>
            </p:cNvCxnSpPr>
            <p:nvPr/>
          </p:nvCxnSpPr>
          <p:spPr bwMode="auto">
            <a:xfrm>
              <a:off x="3722" y="2123"/>
              <a:ext cx="102" cy="2"/>
            </a:xfrm>
            <a:prstGeom prst="straightConnector1">
              <a:avLst/>
            </a:prstGeom>
            <a:noFill/>
            <a:ln w="9525">
              <a:solidFill>
                <a:srgbClr val="66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162" name="Group 222"/>
          <p:cNvGrpSpPr>
            <a:grpSpLocks/>
          </p:cNvGrpSpPr>
          <p:nvPr/>
        </p:nvGrpSpPr>
        <p:grpSpPr bwMode="auto">
          <a:xfrm>
            <a:off x="7817269" y="4407663"/>
            <a:ext cx="779462" cy="693737"/>
            <a:chOff x="3478" y="3051"/>
            <a:chExt cx="627" cy="560"/>
          </a:xfrm>
        </p:grpSpPr>
        <p:grpSp>
          <p:nvGrpSpPr>
            <p:cNvPr id="48216" name="Group 223"/>
            <p:cNvGrpSpPr>
              <a:grpSpLocks/>
            </p:cNvGrpSpPr>
            <p:nvPr/>
          </p:nvGrpSpPr>
          <p:grpSpPr bwMode="auto">
            <a:xfrm>
              <a:off x="3574" y="3175"/>
              <a:ext cx="531" cy="436"/>
              <a:chOff x="4656" y="2496"/>
              <a:chExt cx="528" cy="336"/>
            </a:xfrm>
          </p:grpSpPr>
          <p:sp>
            <p:nvSpPr>
              <p:cNvPr id="48248" name="Rectangle 224"/>
              <p:cNvSpPr>
                <a:spLocks noChangeArrowheads="1"/>
              </p:cNvSpPr>
              <p:nvPr/>
            </p:nvSpPr>
            <p:spPr bwMode="auto">
              <a:xfrm>
                <a:off x="4656" y="2496"/>
                <a:ext cx="528" cy="336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49" name="Oval 225"/>
              <p:cNvSpPr>
                <a:spLocks noChangeArrowheads="1"/>
              </p:cNvSpPr>
              <p:nvPr/>
            </p:nvSpPr>
            <p:spPr bwMode="auto">
              <a:xfrm>
                <a:off x="4752" y="2544"/>
                <a:ext cx="76" cy="43"/>
              </a:xfrm>
              <a:prstGeom prst="ellipse">
                <a:avLst/>
              </a:prstGeom>
              <a:solidFill>
                <a:srgbClr val="B2B2B2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grpSp>
            <p:nvGrpSpPr>
              <p:cNvPr id="48250" name="Group 226"/>
              <p:cNvGrpSpPr>
                <a:grpSpLocks/>
              </p:cNvGrpSpPr>
              <p:nvPr/>
            </p:nvGrpSpPr>
            <p:grpSpPr bwMode="auto">
              <a:xfrm>
                <a:off x="4868" y="2554"/>
                <a:ext cx="220" cy="43"/>
                <a:chOff x="768" y="3267"/>
                <a:chExt cx="220" cy="43"/>
              </a:xfrm>
            </p:grpSpPr>
            <p:sp>
              <p:nvSpPr>
                <p:cNvPr id="48263" name="Line 227"/>
                <p:cNvSpPr>
                  <a:spLocks noChangeShapeType="1"/>
                </p:cNvSpPr>
                <p:nvPr/>
              </p:nvSpPr>
              <p:spPr bwMode="auto">
                <a:xfrm>
                  <a:off x="768" y="3288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264" name="Oval 228"/>
                <p:cNvSpPr>
                  <a:spLocks noChangeArrowheads="1"/>
                </p:cNvSpPr>
                <p:nvPr/>
              </p:nvSpPr>
              <p:spPr bwMode="auto">
                <a:xfrm>
                  <a:off x="912" y="3267"/>
                  <a:ext cx="76" cy="43"/>
                </a:xfrm>
                <a:prstGeom prst="ellipse">
                  <a:avLst/>
                </a:prstGeom>
                <a:solidFill>
                  <a:srgbClr val="B2B2B2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</p:grpSp>
          <p:grpSp>
            <p:nvGrpSpPr>
              <p:cNvPr id="48251" name="Group 229"/>
              <p:cNvGrpSpPr>
                <a:grpSpLocks/>
              </p:cNvGrpSpPr>
              <p:nvPr/>
            </p:nvGrpSpPr>
            <p:grpSpPr bwMode="auto">
              <a:xfrm>
                <a:off x="4868" y="2597"/>
                <a:ext cx="220" cy="43"/>
                <a:chOff x="768" y="3360"/>
                <a:chExt cx="220" cy="43"/>
              </a:xfrm>
            </p:grpSpPr>
            <p:sp>
              <p:nvSpPr>
                <p:cNvPr id="48261" name="Line 230"/>
                <p:cNvSpPr>
                  <a:spLocks noChangeShapeType="1"/>
                </p:cNvSpPr>
                <p:nvPr/>
              </p:nvSpPr>
              <p:spPr bwMode="auto">
                <a:xfrm>
                  <a:off x="768" y="3381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262" name="Oval 231"/>
                <p:cNvSpPr>
                  <a:spLocks noChangeArrowheads="1"/>
                </p:cNvSpPr>
                <p:nvPr/>
              </p:nvSpPr>
              <p:spPr bwMode="auto">
                <a:xfrm>
                  <a:off x="912" y="3360"/>
                  <a:ext cx="76" cy="43"/>
                </a:xfrm>
                <a:prstGeom prst="ellipse">
                  <a:avLst/>
                </a:prstGeom>
                <a:solidFill>
                  <a:srgbClr val="B2B2B2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</p:grpSp>
          <p:grpSp>
            <p:nvGrpSpPr>
              <p:cNvPr id="48252" name="Group 232"/>
              <p:cNvGrpSpPr>
                <a:grpSpLocks/>
              </p:cNvGrpSpPr>
              <p:nvPr/>
            </p:nvGrpSpPr>
            <p:grpSpPr bwMode="auto">
              <a:xfrm>
                <a:off x="4868" y="2645"/>
                <a:ext cx="220" cy="43"/>
                <a:chOff x="768" y="3360"/>
                <a:chExt cx="220" cy="43"/>
              </a:xfrm>
            </p:grpSpPr>
            <p:sp>
              <p:nvSpPr>
                <p:cNvPr id="48259" name="Line 233"/>
                <p:cNvSpPr>
                  <a:spLocks noChangeShapeType="1"/>
                </p:cNvSpPr>
                <p:nvPr/>
              </p:nvSpPr>
              <p:spPr bwMode="auto">
                <a:xfrm>
                  <a:off x="768" y="3381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260" name="Oval 234"/>
                <p:cNvSpPr>
                  <a:spLocks noChangeArrowheads="1"/>
                </p:cNvSpPr>
                <p:nvPr/>
              </p:nvSpPr>
              <p:spPr bwMode="auto">
                <a:xfrm>
                  <a:off x="912" y="3360"/>
                  <a:ext cx="76" cy="43"/>
                </a:xfrm>
                <a:prstGeom prst="ellipse">
                  <a:avLst/>
                </a:prstGeom>
                <a:solidFill>
                  <a:srgbClr val="B2B2B2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</p:grpSp>
          <p:grpSp>
            <p:nvGrpSpPr>
              <p:cNvPr id="48253" name="Group 235"/>
              <p:cNvGrpSpPr>
                <a:grpSpLocks/>
              </p:cNvGrpSpPr>
              <p:nvPr/>
            </p:nvGrpSpPr>
            <p:grpSpPr bwMode="auto">
              <a:xfrm>
                <a:off x="4868" y="2693"/>
                <a:ext cx="220" cy="43"/>
                <a:chOff x="768" y="3360"/>
                <a:chExt cx="220" cy="43"/>
              </a:xfrm>
            </p:grpSpPr>
            <p:sp>
              <p:nvSpPr>
                <p:cNvPr id="48257" name="Line 236"/>
                <p:cNvSpPr>
                  <a:spLocks noChangeShapeType="1"/>
                </p:cNvSpPr>
                <p:nvPr/>
              </p:nvSpPr>
              <p:spPr bwMode="auto">
                <a:xfrm>
                  <a:off x="768" y="3381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258" name="Oval 237"/>
                <p:cNvSpPr>
                  <a:spLocks noChangeArrowheads="1"/>
                </p:cNvSpPr>
                <p:nvPr/>
              </p:nvSpPr>
              <p:spPr bwMode="auto">
                <a:xfrm>
                  <a:off x="912" y="3360"/>
                  <a:ext cx="76" cy="43"/>
                </a:xfrm>
                <a:prstGeom prst="ellipse">
                  <a:avLst/>
                </a:prstGeom>
                <a:solidFill>
                  <a:srgbClr val="B2B2B2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</p:grpSp>
          <p:grpSp>
            <p:nvGrpSpPr>
              <p:cNvPr id="48254" name="Group 238"/>
              <p:cNvGrpSpPr>
                <a:grpSpLocks/>
              </p:cNvGrpSpPr>
              <p:nvPr/>
            </p:nvGrpSpPr>
            <p:grpSpPr bwMode="auto">
              <a:xfrm>
                <a:off x="4868" y="2741"/>
                <a:ext cx="220" cy="43"/>
                <a:chOff x="768" y="3360"/>
                <a:chExt cx="220" cy="43"/>
              </a:xfrm>
            </p:grpSpPr>
            <p:sp>
              <p:nvSpPr>
                <p:cNvPr id="48255" name="Line 239"/>
                <p:cNvSpPr>
                  <a:spLocks noChangeShapeType="1"/>
                </p:cNvSpPr>
                <p:nvPr/>
              </p:nvSpPr>
              <p:spPr bwMode="auto">
                <a:xfrm>
                  <a:off x="768" y="3381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256" name="Oval 240"/>
                <p:cNvSpPr>
                  <a:spLocks noChangeArrowheads="1"/>
                </p:cNvSpPr>
                <p:nvPr/>
              </p:nvSpPr>
              <p:spPr bwMode="auto">
                <a:xfrm>
                  <a:off x="912" y="3360"/>
                  <a:ext cx="76" cy="43"/>
                </a:xfrm>
                <a:prstGeom prst="ellipse">
                  <a:avLst/>
                </a:prstGeom>
                <a:solidFill>
                  <a:srgbClr val="B2B2B2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</p:grpSp>
        </p:grpSp>
        <p:grpSp>
          <p:nvGrpSpPr>
            <p:cNvPr id="48217" name="Group 241"/>
            <p:cNvGrpSpPr>
              <a:grpSpLocks/>
            </p:cNvGrpSpPr>
            <p:nvPr/>
          </p:nvGrpSpPr>
          <p:grpSpPr bwMode="auto">
            <a:xfrm>
              <a:off x="3515" y="3112"/>
              <a:ext cx="531" cy="436"/>
              <a:chOff x="4656" y="2496"/>
              <a:chExt cx="528" cy="336"/>
            </a:xfrm>
          </p:grpSpPr>
          <p:sp>
            <p:nvSpPr>
              <p:cNvPr id="48231" name="Rectangle 242"/>
              <p:cNvSpPr>
                <a:spLocks noChangeArrowheads="1"/>
              </p:cNvSpPr>
              <p:nvPr/>
            </p:nvSpPr>
            <p:spPr bwMode="auto">
              <a:xfrm>
                <a:off x="4656" y="2496"/>
                <a:ext cx="528" cy="336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32" name="Oval 243"/>
              <p:cNvSpPr>
                <a:spLocks noChangeArrowheads="1"/>
              </p:cNvSpPr>
              <p:nvPr/>
            </p:nvSpPr>
            <p:spPr bwMode="auto">
              <a:xfrm>
                <a:off x="4752" y="2544"/>
                <a:ext cx="76" cy="43"/>
              </a:xfrm>
              <a:prstGeom prst="ellipse">
                <a:avLst/>
              </a:prstGeom>
              <a:solidFill>
                <a:srgbClr val="B2B2B2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grpSp>
            <p:nvGrpSpPr>
              <p:cNvPr id="48233" name="Group 244"/>
              <p:cNvGrpSpPr>
                <a:grpSpLocks/>
              </p:cNvGrpSpPr>
              <p:nvPr/>
            </p:nvGrpSpPr>
            <p:grpSpPr bwMode="auto">
              <a:xfrm>
                <a:off x="4868" y="2554"/>
                <a:ext cx="220" cy="43"/>
                <a:chOff x="768" y="3267"/>
                <a:chExt cx="220" cy="43"/>
              </a:xfrm>
            </p:grpSpPr>
            <p:sp>
              <p:nvSpPr>
                <p:cNvPr id="48246" name="Line 245"/>
                <p:cNvSpPr>
                  <a:spLocks noChangeShapeType="1"/>
                </p:cNvSpPr>
                <p:nvPr/>
              </p:nvSpPr>
              <p:spPr bwMode="auto">
                <a:xfrm>
                  <a:off x="768" y="3288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247" name="Oval 246"/>
                <p:cNvSpPr>
                  <a:spLocks noChangeArrowheads="1"/>
                </p:cNvSpPr>
                <p:nvPr/>
              </p:nvSpPr>
              <p:spPr bwMode="auto">
                <a:xfrm>
                  <a:off x="912" y="3267"/>
                  <a:ext cx="76" cy="43"/>
                </a:xfrm>
                <a:prstGeom prst="ellipse">
                  <a:avLst/>
                </a:prstGeom>
                <a:solidFill>
                  <a:srgbClr val="B2B2B2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</p:grpSp>
          <p:grpSp>
            <p:nvGrpSpPr>
              <p:cNvPr id="48234" name="Group 247"/>
              <p:cNvGrpSpPr>
                <a:grpSpLocks/>
              </p:cNvGrpSpPr>
              <p:nvPr/>
            </p:nvGrpSpPr>
            <p:grpSpPr bwMode="auto">
              <a:xfrm>
                <a:off x="4868" y="2597"/>
                <a:ext cx="220" cy="43"/>
                <a:chOff x="768" y="3360"/>
                <a:chExt cx="220" cy="43"/>
              </a:xfrm>
            </p:grpSpPr>
            <p:sp>
              <p:nvSpPr>
                <p:cNvPr id="48244" name="Line 248"/>
                <p:cNvSpPr>
                  <a:spLocks noChangeShapeType="1"/>
                </p:cNvSpPr>
                <p:nvPr/>
              </p:nvSpPr>
              <p:spPr bwMode="auto">
                <a:xfrm>
                  <a:off x="768" y="3381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245" name="Oval 249"/>
                <p:cNvSpPr>
                  <a:spLocks noChangeArrowheads="1"/>
                </p:cNvSpPr>
                <p:nvPr/>
              </p:nvSpPr>
              <p:spPr bwMode="auto">
                <a:xfrm>
                  <a:off x="912" y="3360"/>
                  <a:ext cx="76" cy="43"/>
                </a:xfrm>
                <a:prstGeom prst="ellipse">
                  <a:avLst/>
                </a:prstGeom>
                <a:solidFill>
                  <a:srgbClr val="B2B2B2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</p:grpSp>
          <p:grpSp>
            <p:nvGrpSpPr>
              <p:cNvPr id="48235" name="Group 250"/>
              <p:cNvGrpSpPr>
                <a:grpSpLocks/>
              </p:cNvGrpSpPr>
              <p:nvPr/>
            </p:nvGrpSpPr>
            <p:grpSpPr bwMode="auto">
              <a:xfrm>
                <a:off x="4868" y="2645"/>
                <a:ext cx="220" cy="43"/>
                <a:chOff x="768" y="3360"/>
                <a:chExt cx="220" cy="43"/>
              </a:xfrm>
            </p:grpSpPr>
            <p:sp>
              <p:nvSpPr>
                <p:cNvPr id="48242" name="Line 251"/>
                <p:cNvSpPr>
                  <a:spLocks noChangeShapeType="1"/>
                </p:cNvSpPr>
                <p:nvPr/>
              </p:nvSpPr>
              <p:spPr bwMode="auto">
                <a:xfrm>
                  <a:off x="768" y="3381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243" name="Oval 252"/>
                <p:cNvSpPr>
                  <a:spLocks noChangeArrowheads="1"/>
                </p:cNvSpPr>
                <p:nvPr/>
              </p:nvSpPr>
              <p:spPr bwMode="auto">
                <a:xfrm>
                  <a:off x="912" y="3360"/>
                  <a:ext cx="76" cy="43"/>
                </a:xfrm>
                <a:prstGeom prst="ellipse">
                  <a:avLst/>
                </a:prstGeom>
                <a:solidFill>
                  <a:srgbClr val="B2B2B2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</p:grpSp>
          <p:grpSp>
            <p:nvGrpSpPr>
              <p:cNvPr id="48236" name="Group 253"/>
              <p:cNvGrpSpPr>
                <a:grpSpLocks/>
              </p:cNvGrpSpPr>
              <p:nvPr/>
            </p:nvGrpSpPr>
            <p:grpSpPr bwMode="auto">
              <a:xfrm>
                <a:off x="4868" y="2693"/>
                <a:ext cx="220" cy="43"/>
                <a:chOff x="768" y="3360"/>
                <a:chExt cx="220" cy="43"/>
              </a:xfrm>
            </p:grpSpPr>
            <p:sp>
              <p:nvSpPr>
                <p:cNvPr id="48240" name="Line 254"/>
                <p:cNvSpPr>
                  <a:spLocks noChangeShapeType="1"/>
                </p:cNvSpPr>
                <p:nvPr/>
              </p:nvSpPr>
              <p:spPr bwMode="auto">
                <a:xfrm>
                  <a:off x="768" y="3381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241" name="Oval 255"/>
                <p:cNvSpPr>
                  <a:spLocks noChangeArrowheads="1"/>
                </p:cNvSpPr>
                <p:nvPr/>
              </p:nvSpPr>
              <p:spPr bwMode="auto">
                <a:xfrm>
                  <a:off x="912" y="3360"/>
                  <a:ext cx="76" cy="43"/>
                </a:xfrm>
                <a:prstGeom prst="ellipse">
                  <a:avLst/>
                </a:prstGeom>
                <a:solidFill>
                  <a:srgbClr val="B2B2B2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</p:grpSp>
          <p:grpSp>
            <p:nvGrpSpPr>
              <p:cNvPr id="48237" name="Group 256"/>
              <p:cNvGrpSpPr>
                <a:grpSpLocks/>
              </p:cNvGrpSpPr>
              <p:nvPr/>
            </p:nvGrpSpPr>
            <p:grpSpPr bwMode="auto">
              <a:xfrm>
                <a:off x="4868" y="2741"/>
                <a:ext cx="220" cy="43"/>
                <a:chOff x="768" y="3360"/>
                <a:chExt cx="220" cy="43"/>
              </a:xfrm>
            </p:grpSpPr>
            <p:sp>
              <p:nvSpPr>
                <p:cNvPr id="48238" name="Line 257"/>
                <p:cNvSpPr>
                  <a:spLocks noChangeShapeType="1"/>
                </p:cNvSpPr>
                <p:nvPr/>
              </p:nvSpPr>
              <p:spPr bwMode="auto">
                <a:xfrm>
                  <a:off x="768" y="3381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  <p:sp>
              <p:nvSpPr>
                <p:cNvPr id="48239" name="Oval 258"/>
                <p:cNvSpPr>
                  <a:spLocks noChangeArrowheads="1"/>
                </p:cNvSpPr>
                <p:nvPr/>
              </p:nvSpPr>
              <p:spPr bwMode="auto">
                <a:xfrm>
                  <a:off x="912" y="3360"/>
                  <a:ext cx="76" cy="43"/>
                </a:xfrm>
                <a:prstGeom prst="ellipse">
                  <a:avLst/>
                </a:prstGeom>
                <a:solidFill>
                  <a:srgbClr val="B2B2B2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 sz="1600">
                    <a:latin typeface="Meiryo" charset="-128"/>
                    <a:ea typeface="Meiryo" charset="-128"/>
                    <a:cs typeface="Meiryo" charset="-128"/>
                  </a:endParaRPr>
                </a:p>
              </p:txBody>
            </p:sp>
          </p:grpSp>
        </p:grpSp>
        <p:sp>
          <p:nvSpPr>
            <p:cNvPr id="48218" name="Rectangle 259"/>
            <p:cNvSpPr>
              <a:spLocks noChangeArrowheads="1"/>
            </p:cNvSpPr>
            <p:nvPr/>
          </p:nvSpPr>
          <p:spPr bwMode="auto">
            <a:xfrm>
              <a:off x="3478" y="3051"/>
              <a:ext cx="531" cy="436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grpSp>
          <p:nvGrpSpPr>
            <p:cNvPr id="48219" name="Group 260"/>
            <p:cNvGrpSpPr>
              <a:grpSpLocks/>
            </p:cNvGrpSpPr>
            <p:nvPr/>
          </p:nvGrpSpPr>
          <p:grpSpPr bwMode="auto">
            <a:xfrm>
              <a:off x="3575" y="3126"/>
              <a:ext cx="337" cy="299"/>
              <a:chOff x="3494" y="3687"/>
              <a:chExt cx="337" cy="299"/>
            </a:xfrm>
          </p:grpSpPr>
          <p:sp>
            <p:nvSpPr>
              <p:cNvPr id="48220" name="Oval 261"/>
              <p:cNvSpPr>
                <a:spLocks noChangeArrowheads="1"/>
              </p:cNvSpPr>
              <p:nvPr/>
            </p:nvSpPr>
            <p:spPr bwMode="auto">
              <a:xfrm>
                <a:off x="3494" y="3688"/>
                <a:ext cx="76" cy="56"/>
              </a:xfrm>
              <a:prstGeom prst="ellipse">
                <a:avLst/>
              </a:prstGeom>
              <a:solidFill>
                <a:srgbClr val="6699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21" name="Line 262"/>
              <p:cNvSpPr>
                <a:spLocks noChangeShapeType="1"/>
              </p:cNvSpPr>
              <p:nvPr/>
            </p:nvSpPr>
            <p:spPr bwMode="auto">
              <a:xfrm>
                <a:off x="3610" y="3715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22" name="Oval 263"/>
              <p:cNvSpPr>
                <a:spLocks noChangeArrowheads="1"/>
              </p:cNvSpPr>
              <p:nvPr/>
            </p:nvSpPr>
            <p:spPr bwMode="auto">
              <a:xfrm>
                <a:off x="3755" y="3687"/>
                <a:ext cx="76" cy="56"/>
              </a:xfrm>
              <a:prstGeom prst="ellipse">
                <a:avLst/>
              </a:prstGeom>
              <a:solidFill>
                <a:srgbClr val="6699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23" name="Line 264"/>
              <p:cNvSpPr>
                <a:spLocks noChangeShapeType="1"/>
              </p:cNvSpPr>
              <p:nvPr/>
            </p:nvSpPr>
            <p:spPr bwMode="auto">
              <a:xfrm>
                <a:off x="3610" y="3770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24" name="Oval 265"/>
              <p:cNvSpPr>
                <a:spLocks noChangeArrowheads="1"/>
              </p:cNvSpPr>
              <p:nvPr/>
            </p:nvSpPr>
            <p:spPr bwMode="auto">
              <a:xfrm>
                <a:off x="3755" y="3743"/>
                <a:ext cx="76" cy="56"/>
              </a:xfrm>
              <a:prstGeom prst="ellipse">
                <a:avLst/>
              </a:prstGeom>
              <a:solidFill>
                <a:srgbClr val="6699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25" name="Line 266"/>
              <p:cNvSpPr>
                <a:spLocks noChangeShapeType="1"/>
              </p:cNvSpPr>
              <p:nvPr/>
            </p:nvSpPr>
            <p:spPr bwMode="auto">
              <a:xfrm>
                <a:off x="3610" y="3833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26" name="Oval 267"/>
              <p:cNvSpPr>
                <a:spLocks noChangeArrowheads="1"/>
              </p:cNvSpPr>
              <p:nvPr/>
            </p:nvSpPr>
            <p:spPr bwMode="auto">
              <a:xfrm>
                <a:off x="3755" y="3805"/>
                <a:ext cx="76" cy="56"/>
              </a:xfrm>
              <a:prstGeom prst="ellipse">
                <a:avLst/>
              </a:prstGeom>
              <a:solidFill>
                <a:srgbClr val="6699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27" name="Line 268"/>
              <p:cNvSpPr>
                <a:spLocks noChangeShapeType="1"/>
              </p:cNvSpPr>
              <p:nvPr/>
            </p:nvSpPr>
            <p:spPr bwMode="auto">
              <a:xfrm>
                <a:off x="3610" y="3895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28" name="Oval 269"/>
              <p:cNvSpPr>
                <a:spLocks noChangeArrowheads="1"/>
              </p:cNvSpPr>
              <p:nvPr/>
            </p:nvSpPr>
            <p:spPr bwMode="auto">
              <a:xfrm>
                <a:off x="3755" y="3868"/>
                <a:ext cx="76" cy="55"/>
              </a:xfrm>
              <a:prstGeom prst="ellipse">
                <a:avLst/>
              </a:prstGeom>
              <a:solidFill>
                <a:srgbClr val="6699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29" name="Line 270"/>
              <p:cNvSpPr>
                <a:spLocks noChangeShapeType="1"/>
              </p:cNvSpPr>
              <p:nvPr/>
            </p:nvSpPr>
            <p:spPr bwMode="auto">
              <a:xfrm>
                <a:off x="3610" y="3957"/>
                <a:ext cx="145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230" name="Oval 271"/>
              <p:cNvSpPr>
                <a:spLocks noChangeArrowheads="1"/>
              </p:cNvSpPr>
              <p:nvPr/>
            </p:nvSpPr>
            <p:spPr bwMode="auto">
              <a:xfrm>
                <a:off x="3755" y="3930"/>
                <a:ext cx="76" cy="56"/>
              </a:xfrm>
              <a:prstGeom prst="ellipse">
                <a:avLst/>
              </a:prstGeom>
              <a:solidFill>
                <a:srgbClr val="6699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</p:grpSp>
      <p:sp>
        <p:nvSpPr>
          <p:cNvPr id="48163" name="AutoShape 272"/>
          <p:cNvSpPr>
            <a:spLocks noChangeArrowheads="1"/>
          </p:cNvSpPr>
          <p:nvPr/>
        </p:nvSpPr>
        <p:spPr bwMode="auto">
          <a:xfrm flipH="1">
            <a:off x="8237957" y="3847275"/>
            <a:ext cx="358775" cy="608013"/>
          </a:xfrm>
          <a:prstGeom prst="curvedRightArrow">
            <a:avLst>
              <a:gd name="adj1" fmla="val 33894"/>
              <a:gd name="adj2" fmla="val 67788"/>
              <a:gd name="adj3" fmla="val 33333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64" name="AutoShape 273"/>
          <p:cNvSpPr>
            <a:spLocks noChangeArrowheads="1"/>
          </p:cNvSpPr>
          <p:nvPr/>
        </p:nvSpPr>
        <p:spPr bwMode="auto">
          <a:xfrm>
            <a:off x="6518695" y="3694874"/>
            <a:ext cx="460375" cy="4191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39974" name="AutoShape 274"/>
          <p:cNvSpPr>
            <a:spLocks noChangeArrowheads="1"/>
          </p:cNvSpPr>
          <p:nvPr/>
        </p:nvSpPr>
        <p:spPr bwMode="auto">
          <a:xfrm>
            <a:off x="6129756" y="3861563"/>
            <a:ext cx="338138" cy="225425"/>
          </a:xfrm>
          <a:prstGeom prst="leftRightArrow">
            <a:avLst>
              <a:gd name="adj1" fmla="val 60435"/>
              <a:gd name="adj2" fmla="val 52979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39975" name="AutoShape 275"/>
          <p:cNvSpPr>
            <a:spLocks noChangeArrowheads="1"/>
          </p:cNvSpPr>
          <p:nvPr/>
        </p:nvSpPr>
        <p:spPr bwMode="auto">
          <a:xfrm>
            <a:off x="7031456" y="3839337"/>
            <a:ext cx="280988" cy="247650"/>
          </a:xfrm>
          <a:prstGeom prst="leftRightArrow">
            <a:avLst>
              <a:gd name="adj1" fmla="val 50000"/>
              <a:gd name="adj2" fmla="val 29174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67" name="AutoShape 276"/>
          <p:cNvSpPr>
            <a:spLocks noChangeArrowheads="1"/>
          </p:cNvSpPr>
          <p:nvPr/>
        </p:nvSpPr>
        <p:spPr bwMode="auto">
          <a:xfrm>
            <a:off x="8642770" y="3398013"/>
            <a:ext cx="960437" cy="2858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200" b="1">
                <a:latin typeface="Meiryo" charset="-128"/>
                <a:ea typeface="Meiryo" charset="-128"/>
                <a:cs typeface="Meiryo" charset="-128"/>
              </a:rPr>
              <a:t>関係洗練</a:t>
            </a:r>
          </a:p>
        </p:txBody>
      </p:sp>
      <p:sp>
        <p:nvSpPr>
          <p:cNvPr id="48168" name="AutoShape 277"/>
          <p:cNvSpPr>
            <a:spLocks noChangeArrowheads="1"/>
          </p:cNvSpPr>
          <p:nvPr/>
        </p:nvSpPr>
        <p:spPr bwMode="auto">
          <a:xfrm>
            <a:off x="8534401" y="3733801"/>
            <a:ext cx="1190625" cy="2444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900">
                <a:latin typeface="Meiryo" charset="-128"/>
                <a:ea typeface="Meiryo" charset="-128"/>
                <a:cs typeface="Meiryo" charset="-128"/>
              </a:rPr>
              <a:t>評価値算出</a:t>
            </a:r>
          </a:p>
        </p:txBody>
      </p:sp>
      <p:sp>
        <p:nvSpPr>
          <p:cNvPr id="48169" name="AutoShape 278"/>
          <p:cNvSpPr>
            <a:spLocks noChangeArrowheads="1"/>
          </p:cNvSpPr>
          <p:nvPr/>
        </p:nvSpPr>
        <p:spPr bwMode="auto">
          <a:xfrm>
            <a:off x="3698655" y="3799806"/>
            <a:ext cx="1189038" cy="2555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900" dirty="0">
                <a:latin typeface="Meiryo" charset="-128"/>
                <a:ea typeface="Meiryo" charset="-128"/>
                <a:cs typeface="Meiryo" charset="-128"/>
              </a:rPr>
              <a:t>照合結果分析</a:t>
            </a:r>
          </a:p>
        </p:txBody>
      </p:sp>
      <p:sp>
        <p:nvSpPr>
          <p:cNvPr id="48170" name="AutoShape 279"/>
          <p:cNvSpPr>
            <a:spLocks noChangeArrowheads="1"/>
          </p:cNvSpPr>
          <p:nvPr/>
        </p:nvSpPr>
        <p:spPr bwMode="auto">
          <a:xfrm>
            <a:off x="3818357" y="3439288"/>
            <a:ext cx="1012825" cy="3114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200" b="1">
                <a:latin typeface="Meiryo" charset="-128"/>
                <a:ea typeface="Meiryo" charset="-128"/>
                <a:cs typeface="Meiryo" charset="-128"/>
              </a:rPr>
              <a:t>階層洗練</a:t>
            </a:r>
          </a:p>
        </p:txBody>
      </p:sp>
      <p:sp>
        <p:nvSpPr>
          <p:cNvPr id="48171" name="AutoShape 280"/>
          <p:cNvSpPr>
            <a:spLocks noChangeArrowheads="1"/>
          </p:cNvSpPr>
          <p:nvPr/>
        </p:nvSpPr>
        <p:spPr bwMode="auto">
          <a:xfrm>
            <a:off x="3698655" y="4086969"/>
            <a:ext cx="1189038" cy="2555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900">
                <a:latin typeface="Meiryo" charset="-128"/>
                <a:ea typeface="Meiryo" charset="-128"/>
                <a:cs typeface="Meiryo" charset="-128"/>
              </a:rPr>
              <a:t>剪定結果分析</a:t>
            </a:r>
          </a:p>
        </p:txBody>
      </p:sp>
      <p:sp>
        <p:nvSpPr>
          <p:cNvPr id="48172" name="Text Box 281"/>
          <p:cNvSpPr txBox="1">
            <a:spLocks noChangeArrowheads="1"/>
          </p:cNvSpPr>
          <p:nvPr/>
        </p:nvSpPr>
        <p:spPr bwMode="auto">
          <a:xfrm>
            <a:off x="6425717" y="4153663"/>
            <a:ext cx="646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200" b="1">
                <a:latin typeface="Meiryo" charset="-128"/>
                <a:ea typeface="Meiryo" charset="-128"/>
                <a:cs typeface="Meiryo" charset="-128"/>
              </a:rPr>
              <a:t>ユーザ</a:t>
            </a:r>
          </a:p>
        </p:txBody>
      </p:sp>
      <p:sp>
        <p:nvSpPr>
          <p:cNvPr id="48173" name="AutoShape 282"/>
          <p:cNvSpPr>
            <a:spLocks noChangeArrowheads="1"/>
          </p:cNvSpPr>
          <p:nvPr/>
        </p:nvSpPr>
        <p:spPr bwMode="auto">
          <a:xfrm>
            <a:off x="3697805" y="4378331"/>
            <a:ext cx="1193800" cy="2555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900">
                <a:latin typeface="Meiryo" charset="-128"/>
                <a:ea typeface="Meiryo" charset="-128"/>
                <a:cs typeface="Meiryo" charset="-128"/>
              </a:rPr>
              <a:t>多重継承の除去</a:t>
            </a:r>
          </a:p>
        </p:txBody>
      </p:sp>
      <p:sp>
        <p:nvSpPr>
          <p:cNvPr id="48174" name="Text Box 283"/>
          <p:cNvSpPr txBox="1">
            <a:spLocks noChangeArrowheads="1"/>
          </p:cNvSpPr>
          <p:nvPr/>
        </p:nvSpPr>
        <p:spPr bwMode="auto">
          <a:xfrm>
            <a:off x="1970506" y="900875"/>
            <a:ext cx="2590800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ja-JP" altLang="en-US" sz="1400" b="1" dirty="0">
                <a:latin typeface="Meiryo" charset="-128"/>
                <a:ea typeface="Meiryo" charset="-128"/>
                <a:cs typeface="Meiryo" charset="-128"/>
              </a:rPr>
              <a:t>オントロジー選択モジュール</a:t>
            </a:r>
          </a:p>
        </p:txBody>
      </p:sp>
      <p:sp>
        <p:nvSpPr>
          <p:cNvPr id="48175" name="AutoShape 284"/>
          <p:cNvSpPr>
            <a:spLocks noChangeArrowheads="1"/>
          </p:cNvSpPr>
          <p:nvPr/>
        </p:nvSpPr>
        <p:spPr bwMode="auto">
          <a:xfrm>
            <a:off x="6034506" y="1385063"/>
            <a:ext cx="1250950" cy="22542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200" b="1">
                <a:latin typeface="Meiryo" charset="-128"/>
                <a:ea typeface="Meiryo" charset="-128"/>
                <a:cs typeface="Meiryo" charset="-128"/>
              </a:rPr>
              <a:t>入力概念選択</a:t>
            </a:r>
          </a:p>
        </p:txBody>
      </p:sp>
      <p:sp>
        <p:nvSpPr>
          <p:cNvPr id="48176" name="Text Box 285"/>
          <p:cNvSpPr txBox="1">
            <a:spLocks noChangeArrowheads="1"/>
          </p:cNvSpPr>
          <p:nvPr/>
        </p:nvSpPr>
        <p:spPr bwMode="auto">
          <a:xfrm>
            <a:off x="5939271" y="870295"/>
            <a:ext cx="1441420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ja-JP" altLang="en-US" sz="1400" b="1">
                <a:latin typeface="Meiryo" charset="-128"/>
                <a:ea typeface="Meiryo" charset="-128"/>
                <a:cs typeface="Meiryo" charset="-128"/>
              </a:rPr>
              <a:t>入力モジュール</a:t>
            </a:r>
          </a:p>
        </p:txBody>
      </p:sp>
      <p:sp>
        <p:nvSpPr>
          <p:cNvPr id="48177" name="AutoShape 288"/>
          <p:cNvSpPr>
            <a:spLocks noChangeArrowheads="1"/>
          </p:cNvSpPr>
          <p:nvPr/>
        </p:nvSpPr>
        <p:spPr bwMode="auto">
          <a:xfrm>
            <a:off x="5439194" y="1146938"/>
            <a:ext cx="1250950" cy="22542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200" b="1">
                <a:latin typeface="Meiryo" charset="-128"/>
                <a:ea typeface="Meiryo" charset="-128"/>
                <a:cs typeface="Meiryo" charset="-128"/>
              </a:rPr>
              <a:t>入力文書選択</a:t>
            </a:r>
          </a:p>
        </p:txBody>
      </p:sp>
      <p:sp>
        <p:nvSpPr>
          <p:cNvPr id="48178" name="AutoShape 289"/>
          <p:cNvSpPr>
            <a:spLocks noChangeArrowheads="1"/>
          </p:cNvSpPr>
          <p:nvPr/>
        </p:nvSpPr>
        <p:spPr bwMode="auto">
          <a:xfrm>
            <a:off x="6690144" y="1146938"/>
            <a:ext cx="1250950" cy="22542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200" b="1">
                <a:latin typeface="Meiryo" charset="-128"/>
                <a:ea typeface="Meiryo" charset="-128"/>
                <a:cs typeface="Meiryo" charset="-128"/>
              </a:rPr>
              <a:t>入力語選択</a:t>
            </a:r>
          </a:p>
        </p:txBody>
      </p:sp>
      <p:sp>
        <p:nvSpPr>
          <p:cNvPr id="39990" name="AutoShape 290"/>
          <p:cNvSpPr>
            <a:spLocks noChangeArrowheads="1"/>
          </p:cNvSpPr>
          <p:nvPr/>
        </p:nvSpPr>
        <p:spPr bwMode="auto">
          <a:xfrm>
            <a:off x="7788694" y="3186874"/>
            <a:ext cx="271462" cy="198438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39991" name="AutoShape 291"/>
          <p:cNvSpPr>
            <a:spLocks noChangeArrowheads="1"/>
          </p:cNvSpPr>
          <p:nvPr/>
        </p:nvSpPr>
        <p:spPr bwMode="auto">
          <a:xfrm>
            <a:off x="5140744" y="3199574"/>
            <a:ext cx="273050" cy="198438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83" name="Text Box 294"/>
          <p:cNvSpPr txBox="1">
            <a:spLocks noChangeArrowheads="1"/>
          </p:cNvSpPr>
          <p:nvPr/>
        </p:nvSpPr>
        <p:spPr bwMode="auto">
          <a:xfrm>
            <a:off x="8859169" y="3008571"/>
            <a:ext cx="1136650" cy="2616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100" b="1">
                <a:latin typeface="Meiryo" charset="-128"/>
                <a:ea typeface="Meiryo" charset="-128"/>
                <a:cs typeface="Meiryo" charset="-128"/>
              </a:rPr>
              <a:t>領域専門文書</a:t>
            </a:r>
          </a:p>
        </p:txBody>
      </p:sp>
      <p:sp>
        <p:nvSpPr>
          <p:cNvPr id="48186" name="Line 299"/>
          <p:cNvSpPr>
            <a:spLocks noChangeShapeType="1"/>
          </p:cNvSpPr>
          <p:nvPr/>
        </p:nvSpPr>
        <p:spPr bwMode="auto">
          <a:xfrm flipV="1">
            <a:off x="4486695" y="2251838"/>
            <a:ext cx="357187" cy="1587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  <p:grpSp>
        <p:nvGrpSpPr>
          <p:cNvPr id="48187" name="Group 300"/>
          <p:cNvGrpSpPr>
            <a:grpSpLocks/>
          </p:cNvGrpSpPr>
          <p:nvPr/>
        </p:nvGrpSpPr>
        <p:grpSpPr bwMode="auto">
          <a:xfrm>
            <a:off x="4962945" y="2704274"/>
            <a:ext cx="592137" cy="330200"/>
            <a:chOff x="1610" y="1207"/>
            <a:chExt cx="626" cy="314"/>
          </a:xfrm>
        </p:grpSpPr>
        <p:sp>
          <p:nvSpPr>
            <p:cNvPr id="48199" name="Oval 301"/>
            <p:cNvSpPr>
              <a:spLocks noChangeArrowheads="1"/>
            </p:cNvSpPr>
            <p:nvPr/>
          </p:nvSpPr>
          <p:spPr bwMode="auto">
            <a:xfrm>
              <a:off x="1774" y="1210"/>
              <a:ext cx="71" cy="5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00" name="Oval 302"/>
            <p:cNvSpPr>
              <a:spLocks noChangeArrowheads="1"/>
            </p:cNvSpPr>
            <p:nvPr/>
          </p:nvSpPr>
          <p:spPr bwMode="auto">
            <a:xfrm>
              <a:off x="1722" y="1339"/>
              <a:ext cx="70" cy="5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01" name="AutoShape 303"/>
            <p:cNvCxnSpPr>
              <a:cxnSpLocks noChangeShapeType="1"/>
              <a:stCxn id="48199" idx="4"/>
              <a:endCxn id="48200" idx="0"/>
            </p:cNvCxnSpPr>
            <p:nvPr/>
          </p:nvCxnSpPr>
          <p:spPr bwMode="auto">
            <a:xfrm flipH="1">
              <a:off x="1758" y="1270"/>
              <a:ext cx="52" cy="65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202" name="AutoShape 304"/>
            <p:cNvCxnSpPr>
              <a:cxnSpLocks noChangeShapeType="1"/>
              <a:stCxn id="48200" idx="4"/>
              <a:endCxn id="48205" idx="0"/>
            </p:cNvCxnSpPr>
            <p:nvPr/>
          </p:nvCxnSpPr>
          <p:spPr bwMode="auto">
            <a:xfrm flipH="1">
              <a:off x="1651" y="1399"/>
              <a:ext cx="107" cy="57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203" name="AutoShape 305"/>
            <p:cNvCxnSpPr>
              <a:cxnSpLocks noChangeShapeType="1"/>
              <a:stCxn id="48200" idx="4"/>
              <a:endCxn id="48204" idx="0"/>
            </p:cNvCxnSpPr>
            <p:nvPr/>
          </p:nvCxnSpPr>
          <p:spPr bwMode="auto">
            <a:xfrm>
              <a:off x="1758" y="1399"/>
              <a:ext cx="29" cy="57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204" name="Oval 306"/>
            <p:cNvSpPr>
              <a:spLocks noChangeArrowheads="1"/>
            </p:cNvSpPr>
            <p:nvPr/>
          </p:nvSpPr>
          <p:spPr bwMode="auto">
            <a:xfrm>
              <a:off x="1746" y="1460"/>
              <a:ext cx="82" cy="61"/>
            </a:xfrm>
            <a:prstGeom prst="ellipse">
              <a:avLst/>
            </a:prstGeom>
            <a:solidFill>
              <a:srgbClr val="6699FF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05" name="Oval 307"/>
            <p:cNvSpPr>
              <a:spLocks noChangeArrowheads="1"/>
            </p:cNvSpPr>
            <p:nvPr/>
          </p:nvSpPr>
          <p:spPr bwMode="auto">
            <a:xfrm>
              <a:off x="1610" y="1460"/>
              <a:ext cx="82" cy="61"/>
            </a:xfrm>
            <a:prstGeom prst="ellipse">
              <a:avLst/>
            </a:prstGeom>
            <a:solidFill>
              <a:srgbClr val="6699FF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06" name="Oval 308"/>
            <p:cNvSpPr>
              <a:spLocks noChangeArrowheads="1"/>
            </p:cNvSpPr>
            <p:nvPr/>
          </p:nvSpPr>
          <p:spPr bwMode="auto">
            <a:xfrm>
              <a:off x="1897" y="1207"/>
              <a:ext cx="70" cy="5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07" name="AutoShape 309"/>
            <p:cNvCxnSpPr>
              <a:cxnSpLocks noChangeShapeType="1"/>
              <a:stCxn id="48206" idx="4"/>
              <a:endCxn id="48208" idx="0"/>
            </p:cNvCxnSpPr>
            <p:nvPr/>
          </p:nvCxnSpPr>
          <p:spPr bwMode="auto">
            <a:xfrm flipH="1">
              <a:off x="1923" y="1267"/>
              <a:ext cx="9" cy="67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208" name="Oval 310"/>
            <p:cNvSpPr>
              <a:spLocks noChangeArrowheads="1"/>
            </p:cNvSpPr>
            <p:nvPr/>
          </p:nvSpPr>
          <p:spPr bwMode="auto">
            <a:xfrm>
              <a:off x="1882" y="1338"/>
              <a:ext cx="82" cy="61"/>
            </a:xfrm>
            <a:prstGeom prst="ellipse">
              <a:avLst/>
            </a:prstGeom>
            <a:solidFill>
              <a:srgbClr val="6699FF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09" name="Oval 311"/>
            <p:cNvSpPr>
              <a:spLocks noChangeArrowheads="1"/>
            </p:cNvSpPr>
            <p:nvPr/>
          </p:nvSpPr>
          <p:spPr bwMode="auto">
            <a:xfrm>
              <a:off x="2033" y="1207"/>
              <a:ext cx="70" cy="5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10" name="Oval 312"/>
            <p:cNvSpPr>
              <a:spLocks noChangeArrowheads="1"/>
            </p:cNvSpPr>
            <p:nvPr/>
          </p:nvSpPr>
          <p:spPr bwMode="auto">
            <a:xfrm>
              <a:off x="2040" y="1343"/>
              <a:ext cx="71" cy="5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cxnSp>
          <p:nvCxnSpPr>
            <p:cNvPr id="48211" name="AutoShape 313"/>
            <p:cNvCxnSpPr>
              <a:cxnSpLocks noChangeShapeType="1"/>
              <a:stCxn id="48209" idx="4"/>
              <a:endCxn id="48215" idx="0"/>
            </p:cNvCxnSpPr>
            <p:nvPr/>
          </p:nvCxnSpPr>
          <p:spPr bwMode="auto">
            <a:xfrm>
              <a:off x="2068" y="1266"/>
              <a:ext cx="127" cy="68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212" name="AutoShape 314"/>
            <p:cNvCxnSpPr>
              <a:cxnSpLocks noChangeShapeType="1"/>
              <a:stCxn id="48210" idx="4"/>
              <a:endCxn id="48214" idx="0"/>
            </p:cNvCxnSpPr>
            <p:nvPr/>
          </p:nvCxnSpPr>
          <p:spPr bwMode="auto">
            <a:xfrm>
              <a:off x="2075" y="1403"/>
              <a:ext cx="12" cy="5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213" name="AutoShape 315"/>
            <p:cNvCxnSpPr>
              <a:cxnSpLocks noChangeShapeType="1"/>
              <a:stCxn id="48209" idx="4"/>
              <a:endCxn id="48210" idx="0"/>
            </p:cNvCxnSpPr>
            <p:nvPr/>
          </p:nvCxnSpPr>
          <p:spPr bwMode="auto">
            <a:xfrm>
              <a:off x="2068" y="1266"/>
              <a:ext cx="7" cy="73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214" name="Oval 316"/>
            <p:cNvSpPr>
              <a:spLocks noChangeArrowheads="1"/>
            </p:cNvSpPr>
            <p:nvPr/>
          </p:nvSpPr>
          <p:spPr bwMode="auto">
            <a:xfrm>
              <a:off x="2045" y="1460"/>
              <a:ext cx="82" cy="61"/>
            </a:xfrm>
            <a:prstGeom prst="ellipse">
              <a:avLst/>
            </a:prstGeom>
            <a:solidFill>
              <a:srgbClr val="6699FF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  <p:sp>
          <p:nvSpPr>
            <p:cNvPr id="48215" name="Oval 317"/>
            <p:cNvSpPr>
              <a:spLocks noChangeArrowheads="1"/>
            </p:cNvSpPr>
            <p:nvPr/>
          </p:nvSpPr>
          <p:spPr bwMode="auto">
            <a:xfrm>
              <a:off x="2154" y="1338"/>
              <a:ext cx="82" cy="61"/>
            </a:xfrm>
            <a:prstGeom prst="ellipse">
              <a:avLst/>
            </a:prstGeom>
            <a:solidFill>
              <a:srgbClr val="6699FF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 sz="1600">
                <a:latin typeface="Meiryo" charset="-128"/>
                <a:ea typeface="Meiryo" charset="-128"/>
                <a:cs typeface="Meiryo" charset="-128"/>
              </a:endParaRPr>
            </a:p>
          </p:txBody>
        </p:sp>
      </p:grpSp>
      <p:sp>
        <p:nvSpPr>
          <p:cNvPr id="40002" name="AutoShape 320"/>
          <p:cNvSpPr>
            <a:spLocks noChangeArrowheads="1"/>
          </p:cNvSpPr>
          <p:nvPr/>
        </p:nvSpPr>
        <p:spPr bwMode="auto">
          <a:xfrm>
            <a:off x="6452020" y="4528312"/>
            <a:ext cx="655637" cy="417512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91" name="Rectangle 321"/>
          <p:cNvSpPr>
            <a:spLocks noChangeArrowheads="1"/>
          </p:cNvSpPr>
          <p:nvPr/>
        </p:nvSpPr>
        <p:spPr bwMode="auto">
          <a:xfrm>
            <a:off x="3538957" y="1234250"/>
            <a:ext cx="892175" cy="127271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92" name="Text Box 322"/>
          <p:cNvSpPr txBox="1">
            <a:spLocks noChangeArrowheads="1"/>
          </p:cNvSpPr>
          <p:nvPr/>
        </p:nvSpPr>
        <p:spPr bwMode="auto">
          <a:xfrm>
            <a:off x="3505332" y="1228758"/>
            <a:ext cx="100540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800" b="1">
                <a:latin typeface="Meiryo" charset="-128"/>
                <a:ea typeface="Meiryo" charset="-128"/>
                <a:cs typeface="Meiryo" charset="-128"/>
              </a:rPr>
              <a:t>汎用オントロジー</a:t>
            </a:r>
          </a:p>
        </p:txBody>
      </p:sp>
      <p:sp>
        <p:nvSpPr>
          <p:cNvPr id="48193" name="AutoShape 341"/>
          <p:cNvSpPr>
            <a:spLocks noChangeArrowheads="1"/>
          </p:cNvSpPr>
          <p:nvPr/>
        </p:nvSpPr>
        <p:spPr bwMode="auto">
          <a:xfrm>
            <a:off x="2656478" y="2552357"/>
            <a:ext cx="1143000" cy="609600"/>
          </a:xfrm>
          <a:prstGeom prst="can">
            <a:avLst>
              <a:gd name="adj" fmla="val 25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100" b="1">
                <a:latin typeface="Meiryo" charset="-128"/>
                <a:ea typeface="Meiryo" charset="-128"/>
                <a:cs typeface="Meiryo" charset="-128"/>
              </a:rPr>
              <a:t>参照</a:t>
            </a:r>
            <a:endParaRPr lang="en-US" altLang="ja-JP" sz="1100" b="1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sz="1100" b="1">
                <a:latin typeface="Meiryo" charset="-128"/>
                <a:ea typeface="Meiryo" charset="-128"/>
                <a:cs typeface="Meiryo" charset="-128"/>
              </a:rPr>
              <a:t>オントロジー</a:t>
            </a:r>
            <a:endParaRPr lang="en-US" altLang="ja-JP" sz="1100" b="1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0007" name="AutoShape 342"/>
          <p:cNvSpPr>
            <a:spLocks noChangeArrowheads="1"/>
          </p:cNvSpPr>
          <p:nvPr/>
        </p:nvSpPr>
        <p:spPr bwMode="auto">
          <a:xfrm>
            <a:off x="3013786" y="2211389"/>
            <a:ext cx="457200" cy="304800"/>
          </a:xfrm>
          <a:prstGeom prst="downArrow">
            <a:avLst>
              <a:gd name="adj1" fmla="val 49769"/>
              <a:gd name="adj2" fmla="val 62056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95" name="AutoShape 135"/>
          <p:cNvSpPr>
            <a:spLocks noChangeArrowheads="1"/>
          </p:cNvSpPr>
          <p:nvPr/>
        </p:nvSpPr>
        <p:spPr bwMode="auto">
          <a:xfrm>
            <a:off x="4873530" y="2439302"/>
            <a:ext cx="900113" cy="228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900">
                <a:latin typeface="Meiryo" charset="-128"/>
                <a:ea typeface="Meiryo" charset="-128"/>
                <a:cs typeface="Meiryo" charset="-128"/>
              </a:rPr>
              <a:t>照合と剪定</a:t>
            </a:r>
          </a:p>
        </p:txBody>
      </p:sp>
      <p:sp>
        <p:nvSpPr>
          <p:cNvPr id="327" name="角丸四角形 326"/>
          <p:cNvSpPr/>
          <p:nvPr/>
        </p:nvSpPr>
        <p:spPr>
          <a:xfrm>
            <a:off x="1970506" y="824674"/>
            <a:ext cx="2590800" cy="23622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328" name="角丸四角形 327"/>
          <p:cNvSpPr/>
          <p:nvPr/>
        </p:nvSpPr>
        <p:spPr>
          <a:xfrm>
            <a:off x="4637506" y="824674"/>
            <a:ext cx="4078288" cy="8382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39987" name="AutoShape 287"/>
          <p:cNvSpPr>
            <a:spLocks noChangeArrowheads="1"/>
          </p:cNvSpPr>
          <p:nvPr/>
        </p:nvSpPr>
        <p:spPr bwMode="auto">
          <a:xfrm>
            <a:off x="6452020" y="1623188"/>
            <a:ext cx="415925" cy="238125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 sz="1600">
              <a:solidFill>
                <a:schemeClr val="tx1"/>
              </a:solidFill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324" name="AutoShape 116"/>
          <p:cNvSpPr>
            <a:spLocks noChangeArrowheads="1"/>
          </p:cNvSpPr>
          <p:nvPr/>
        </p:nvSpPr>
        <p:spPr bwMode="auto">
          <a:xfrm>
            <a:off x="3663673" y="2144475"/>
            <a:ext cx="671513" cy="314325"/>
          </a:xfrm>
          <a:prstGeom prst="can">
            <a:avLst>
              <a:gd name="adj" fmla="val 25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800" dirty="0">
                <a:latin typeface="Meiryo" charset="-128"/>
                <a:ea typeface="Meiryo" charset="-128"/>
                <a:cs typeface="Meiryo" charset="-128"/>
              </a:rPr>
              <a:t>JWO</a:t>
            </a:r>
          </a:p>
        </p:txBody>
      </p:sp>
      <p:sp>
        <p:nvSpPr>
          <p:cNvPr id="48188" name="Line 318"/>
          <p:cNvSpPr>
            <a:spLocks noChangeShapeType="1"/>
          </p:cNvSpPr>
          <p:nvPr/>
        </p:nvSpPr>
        <p:spPr bwMode="auto">
          <a:xfrm rot="-1025662">
            <a:off x="4566069" y="2666175"/>
            <a:ext cx="595312" cy="1235075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81" name="Line 292"/>
          <p:cNvSpPr>
            <a:spLocks noChangeShapeType="1"/>
          </p:cNvSpPr>
          <p:nvPr/>
        </p:nvSpPr>
        <p:spPr bwMode="auto">
          <a:xfrm flipH="1">
            <a:off x="7941095" y="1254887"/>
            <a:ext cx="714375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82" name="Line 293"/>
          <p:cNvSpPr>
            <a:spLocks noChangeShapeType="1"/>
          </p:cNvSpPr>
          <p:nvPr/>
        </p:nvSpPr>
        <p:spPr bwMode="auto">
          <a:xfrm>
            <a:off x="8655470" y="1254887"/>
            <a:ext cx="731837" cy="100806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84" name="Line 296"/>
          <p:cNvSpPr>
            <a:spLocks noChangeShapeType="1"/>
          </p:cNvSpPr>
          <p:nvPr/>
        </p:nvSpPr>
        <p:spPr bwMode="auto">
          <a:xfrm flipH="1">
            <a:off x="4426369" y="1254888"/>
            <a:ext cx="298450" cy="225425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48185" name="Line 297"/>
          <p:cNvSpPr>
            <a:spLocks noChangeShapeType="1"/>
          </p:cNvSpPr>
          <p:nvPr/>
        </p:nvSpPr>
        <p:spPr bwMode="auto">
          <a:xfrm flipV="1">
            <a:off x="4724820" y="1254887"/>
            <a:ext cx="714375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 sz="160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>
            <a:extLst>
              <a:ext uri="{FF2B5EF4-FFF2-40B4-BE49-F238E27FC236}">
                <a16:creationId xmlns:a16="http://schemas.microsoft.com/office/drawing/2014/main" id="{A0712BA0-EDE2-3A2D-A0AF-2CAA6DAEA36B}"/>
              </a:ext>
            </a:extLst>
          </p:cNvPr>
          <p:cNvSpPr/>
          <p:nvPr/>
        </p:nvSpPr>
        <p:spPr bwMode="auto">
          <a:xfrm>
            <a:off x="2188223" y="76200"/>
            <a:ext cx="2057400" cy="9144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オントロジー選択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モジュール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5659B07E-4DB6-FC39-E2E6-6867EB6444CA}"/>
              </a:ext>
            </a:extLst>
          </p:cNvPr>
          <p:cNvSpPr/>
          <p:nvPr/>
        </p:nvSpPr>
        <p:spPr bwMode="auto">
          <a:xfrm>
            <a:off x="2188223" y="2971800"/>
            <a:ext cx="2057400" cy="25908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入力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モジュール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880E2384-45DC-1A3C-6F4B-0FE01D751EC3}"/>
              </a:ext>
            </a:extLst>
          </p:cNvPr>
          <p:cNvSpPr/>
          <p:nvPr/>
        </p:nvSpPr>
        <p:spPr bwMode="auto">
          <a:xfrm>
            <a:off x="4623594" y="2971800"/>
            <a:ext cx="2057400" cy="25908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オントロジー構築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モジュール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B8E32653-5149-7BEC-38E6-740EE2E7B950}"/>
              </a:ext>
            </a:extLst>
          </p:cNvPr>
          <p:cNvSpPr/>
          <p:nvPr/>
        </p:nvSpPr>
        <p:spPr bwMode="auto">
          <a:xfrm>
            <a:off x="7086600" y="2971800"/>
            <a:ext cx="2057400" cy="25908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オントロジー洗練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モジュール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840DA6A8-00C7-1888-9C39-18CEDEF953F7}"/>
              </a:ext>
            </a:extLst>
          </p:cNvPr>
          <p:cNvSpPr/>
          <p:nvPr/>
        </p:nvSpPr>
        <p:spPr bwMode="auto">
          <a:xfrm>
            <a:off x="9837632" y="3782011"/>
            <a:ext cx="2057400" cy="9144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変換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モジュール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AutoShape 341">
            <a:extLst>
              <a:ext uri="{FF2B5EF4-FFF2-40B4-BE49-F238E27FC236}">
                <a16:creationId xmlns:a16="http://schemas.microsoft.com/office/drawing/2014/main" id="{3EC748B5-F1B3-65CE-51FE-DD2C8C99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223" y="1447800"/>
            <a:ext cx="2057400" cy="1066800"/>
          </a:xfrm>
          <a:prstGeom prst="can">
            <a:avLst>
              <a:gd name="adj" fmla="val 25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  <a:cs typeface="Meiryo" charset="-128"/>
              </a:rPr>
              <a:t>参照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  <a:cs typeface="Meiryo" charset="-128"/>
            </a:endParaRPr>
          </a:p>
          <a:p>
            <a:pPr algn="ctr"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  <a:cs typeface="Meiryo" charset="-128"/>
              </a:rPr>
              <a:t>オントロジー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  <a:cs typeface="Meiryo" charset="-128"/>
            </a:endParaRP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84DBED86-8286-F4EA-4763-6223C5C2C5AA}"/>
              </a:ext>
            </a:extLst>
          </p:cNvPr>
          <p:cNvGrpSpPr>
            <a:grpSpLocks/>
          </p:cNvGrpSpPr>
          <p:nvPr/>
        </p:nvGrpSpPr>
        <p:grpSpPr bwMode="auto">
          <a:xfrm>
            <a:off x="258868" y="3588266"/>
            <a:ext cx="1309688" cy="1066800"/>
            <a:chOff x="249" y="2118"/>
            <a:chExt cx="788" cy="855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3DE9EBA2-C3D5-CC3F-542A-7989ECB291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" y="2118"/>
              <a:ext cx="652" cy="722"/>
              <a:chOff x="4785" y="2563"/>
              <a:chExt cx="912" cy="912"/>
            </a:xfrm>
          </p:grpSpPr>
          <p:sp>
            <p:nvSpPr>
              <p:cNvPr id="41" name="Rectangle 6">
                <a:extLst>
                  <a:ext uri="{FF2B5EF4-FFF2-40B4-BE49-F238E27FC236}">
                    <a16:creationId xmlns:a16="http://schemas.microsoft.com/office/drawing/2014/main" id="{4EA53561-84B7-0619-008B-FD71AD9AE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2" name="Rectangle 7">
                <a:extLst>
                  <a:ext uri="{FF2B5EF4-FFF2-40B4-BE49-F238E27FC236}">
                    <a16:creationId xmlns:a16="http://schemas.microsoft.com/office/drawing/2014/main" id="{149B385F-CF12-C94E-54AB-217F15020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3" name="Line 8">
                <a:extLst>
                  <a:ext uri="{FF2B5EF4-FFF2-40B4-BE49-F238E27FC236}">
                    <a16:creationId xmlns:a16="http://schemas.microsoft.com/office/drawing/2014/main" id="{349FED60-1DF9-C209-1BFE-BE2DD29F5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4" name="Line 9">
                <a:extLst>
                  <a:ext uri="{FF2B5EF4-FFF2-40B4-BE49-F238E27FC236}">
                    <a16:creationId xmlns:a16="http://schemas.microsoft.com/office/drawing/2014/main" id="{1CFB888A-56FD-F2CA-F463-5D331077F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5" name="Line 10">
                <a:extLst>
                  <a:ext uri="{FF2B5EF4-FFF2-40B4-BE49-F238E27FC236}">
                    <a16:creationId xmlns:a16="http://schemas.microsoft.com/office/drawing/2014/main" id="{45DCD9D2-3BE5-94C4-3F08-425721B217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6" name="Line 11">
                <a:extLst>
                  <a:ext uri="{FF2B5EF4-FFF2-40B4-BE49-F238E27FC236}">
                    <a16:creationId xmlns:a16="http://schemas.microsoft.com/office/drawing/2014/main" id="{EFFAC8B6-052A-05EC-563B-DD1445F7E6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7" name="Line 12">
                <a:extLst>
                  <a:ext uri="{FF2B5EF4-FFF2-40B4-BE49-F238E27FC236}">
                    <a16:creationId xmlns:a16="http://schemas.microsoft.com/office/drawing/2014/main" id="{256B7B17-7700-A3A9-B799-051B7C900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8" name="Line 13">
                <a:extLst>
                  <a:ext uri="{FF2B5EF4-FFF2-40B4-BE49-F238E27FC236}">
                    <a16:creationId xmlns:a16="http://schemas.microsoft.com/office/drawing/2014/main" id="{593542BB-804E-788D-6A0E-39D0F1C53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9" name="Line 14">
                <a:extLst>
                  <a:ext uri="{FF2B5EF4-FFF2-40B4-BE49-F238E27FC236}">
                    <a16:creationId xmlns:a16="http://schemas.microsoft.com/office/drawing/2014/main" id="{D302F1A9-7C35-0C65-34EB-3EB7CD6AB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  <p:grpSp>
          <p:nvGrpSpPr>
            <p:cNvPr id="11" name="Group 15">
              <a:extLst>
                <a:ext uri="{FF2B5EF4-FFF2-40B4-BE49-F238E27FC236}">
                  <a16:creationId xmlns:a16="http://schemas.microsoft.com/office/drawing/2014/main" id="{6E5D59D5-03A1-544C-A35B-F768690CCF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" y="2164"/>
              <a:ext cx="652" cy="722"/>
              <a:chOff x="4785" y="2563"/>
              <a:chExt cx="912" cy="912"/>
            </a:xfrm>
          </p:grpSpPr>
          <p:sp>
            <p:nvSpPr>
              <p:cNvPr id="32" name="Rectangle 16">
                <a:extLst>
                  <a:ext uri="{FF2B5EF4-FFF2-40B4-BE49-F238E27FC236}">
                    <a16:creationId xmlns:a16="http://schemas.microsoft.com/office/drawing/2014/main" id="{E99E6C14-EA1A-33C6-5850-882A9DF41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33" name="Rectangle 17">
                <a:extLst>
                  <a:ext uri="{FF2B5EF4-FFF2-40B4-BE49-F238E27FC236}">
                    <a16:creationId xmlns:a16="http://schemas.microsoft.com/office/drawing/2014/main" id="{BF99CE3D-65E3-CC05-A73A-44ACC3F6C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34" name="Line 18">
                <a:extLst>
                  <a:ext uri="{FF2B5EF4-FFF2-40B4-BE49-F238E27FC236}">
                    <a16:creationId xmlns:a16="http://schemas.microsoft.com/office/drawing/2014/main" id="{191D2063-A79C-1F75-4EC3-DAA77938BC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35" name="Line 19">
                <a:extLst>
                  <a:ext uri="{FF2B5EF4-FFF2-40B4-BE49-F238E27FC236}">
                    <a16:creationId xmlns:a16="http://schemas.microsoft.com/office/drawing/2014/main" id="{32FEDF8F-2B85-677A-19A3-FC0A454F7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36" name="Line 20">
                <a:extLst>
                  <a:ext uri="{FF2B5EF4-FFF2-40B4-BE49-F238E27FC236}">
                    <a16:creationId xmlns:a16="http://schemas.microsoft.com/office/drawing/2014/main" id="{15A1C794-D07A-86E5-230A-9C0CD7456C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37" name="Line 21">
                <a:extLst>
                  <a:ext uri="{FF2B5EF4-FFF2-40B4-BE49-F238E27FC236}">
                    <a16:creationId xmlns:a16="http://schemas.microsoft.com/office/drawing/2014/main" id="{3BAC4B3A-1F85-7377-212E-DB06EE538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38" name="Line 22">
                <a:extLst>
                  <a:ext uri="{FF2B5EF4-FFF2-40B4-BE49-F238E27FC236}">
                    <a16:creationId xmlns:a16="http://schemas.microsoft.com/office/drawing/2014/main" id="{78990042-59A9-0190-D5F3-C0CB6AFC7D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39" name="Line 23">
                <a:extLst>
                  <a:ext uri="{FF2B5EF4-FFF2-40B4-BE49-F238E27FC236}">
                    <a16:creationId xmlns:a16="http://schemas.microsoft.com/office/drawing/2014/main" id="{88768101-A49D-17D1-2B03-416A7CD9A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40" name="Line 24">
                <a:extLst>
                  <a:ext uri="{FF2B5EF4-FFF2-40B4-BE49-F238E27FC236}">
                    <a16:creationId xmlns:a16="http://schemas.microsoft.com/office/drawing/2014/main" id="{EB658D06-19F1-DA72-641F-4B9E4DD1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  <p:grpSp>
          <p:nvGrpSpPr>
            <p:cNvPr id="12" name="Group 25">
              <a:extLst>
                <a:ext uri="{FF2B5EF4-FFF2-40B4-BE49-F238E27FC236}">
                  <a16:creationId xmlns:a16="http://schemas.microsoft.com/office/drawing/2014/main" id="{F0D7E2A6-3242-CC5E-5666-04755435E0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" y="2205"/>
              <a:ext cx="652" cy="722"/>
              <a:chOff x="4785" y="2563"/>
              <a:chExt cx="912" cy="912"/>
            </a:xfrm>
          </p:grpSpPr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A36A44F6-F2DB-14FB-B8CF-E21442749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24" name="Rectangle 27">
                <a:extLst>
                  <a:ext uri="{FF2B5EF4-FFF2-40B4-BE49-F238E27FC236}">
                    <a16:creationId xmlns:a16="http://schemas.microsoft.com/office/drawing/2014/main" id="{19633A3B-D755-681D-7EE6-A3D8236BC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25" name="Line 28">
                <a:extLst>
                  <a:ext uri="{FF2B5EF4-FFF2-40B4-BE49-F238E27FC236}">
                    <a16:creationId xmlns:a16="http://schemas.microsoft.com/office/drawing/2014/main" id="{7AE6EACC-49E2-2ED3-F63E-CBF7298AA1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26" name="Line 29">
                <a:extLst>
                  <a:ext uri="{FF2B5EF4-FFF2-40B4-BE49-F238E27FC236}">
                    <a16:creationId xmlns:a16="http://schemas.microsoft.com/office/drawing/2014/main" id="{772981E4-7599-C523-33CD-1078F6BF9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27" name="Line 30">
                <a:extLst>
                  <a:ext uri="{FF2B5EF4-FFF2-40B4-BE49-F238E27FC236}">
                    <a16:creationId xmlns:a16="http://schemas.microsoft.com/office/drawing/2014/main" id="{3A35F7E0-EC84-E378-A14D-866AB43521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28" name="Line 31">
                <a:extLst>
                  <a:ext uri="{FF2B5EF4-FFF2-40B4-BE49-F238E27FC236}">
                    <a16:creationId xmlns:a16="http://schemas.microsoft.com/office/drawing/2014/main" id="{305B619E-814C-AA30-69DC-0106F9B7B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EEE82A82-F7E1-3DC1-EFB2-9626E9D5F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30" name="Line 33">
                <a:extLst>
                  <a:ext uri="{FF2B5EF4-FFF2-40B4-BE49-F238E27FC236}">
                    <a16:creationId xmlns:a16="http://schemas.microsoft.com/office/drawing/2014/main" id="{B3225CF8-CFAB-CCC0-E6BE-2F3767FBA9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31" name="Line 34">
                <a:extLst>
                  <a:ext uri="{FF2B5EF4-FFF2-40B4-BE49-F238E27FC236}">
                    <a16:creationId xmlns:a16="http://schemas.microsoft.com/office/drawing/2014/main" id="{D1C78B85-FA1D-EB8E-7784-928CBADDB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  <p:grpSp>
          <p:nvGrpSpPr>
            <p:cNvPr id="13" name="Group 35">
              <a:extLst>
                <a:ext uri="{FF2B5EF4-FFF2-40B4-BE49-F238E27FC236}">
                  <a16:creationId xmlns:a16="http://schemas.microsoft.com/office/drawing/2014/main" id="{C54EDD14-A0F7-EA86-426C-49B40A0948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251"/>
              <a:ext cx="652" cy="722"/>
              <a:chOff x="4785" y="2563"/>
              <a:chExt cx="912" cy="912"/>
            </a:xfrm>
          </p:grpSpPr>
          <p:sp>
            <p:nvSpPr>
              <p:cNvPr id="14" name="Rectangle 36">
                <a:extLst>
                  <a:ext uri="{FF2B5EF4-FFF2-40B4-BE49-F238E27FC236}">
                    <a16:creationId xmlns:a16="http://schemas.microsoft.com/office/drawing/2014/main" id="{5A7B1271-8390-FA97-9A11-C5ED57EBE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15" name="Rectangle 37">
                <a:extLst>
                  <a:ext uri="{FF2B5EF4-FFF2-40B4-BE49-F238E27FC236}">
                    <a16:creationId xmlns:a16="http://schemas.microsoft.com/office/drawing/2014/main" id="{BF5861CA-6C20-DDB6-7E2F-D99280424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16" name="Line 38">
                <a:extLst>
                  <a:ext uri="{FF2B5EF4-FFF2-40B4-BE49-F238E27FC236}">
                    <a16:creationId xmlns:a16="http://schemas.microsoft.com/office/drawing/2014/main" id="{0CC2D2EC-4CD0-DE51-31EA-A17E343F83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17" name="Line 39">
                <a:extLst>
                  <a:ext uri="{FF2B5EF4-FFF2-40B4-BE49-F238E27FC236}">
                    <a16:creationId xmlns:a16="http://schemas.microsoft.com/office/drawing/2014/main" id="{DFB6503F-489D-2108-2EF7-87ACA6B302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18" name="Line 40">
                <a:extLst>
                  <a:ext uri="{FF2B5EF4-FFF2-40B4-BE49-F238E27FC236}">
                    <a16:creationId xmlns:a16="http://schemas.microsoft.com/office/drawing/2014/main" id="{323C3929-FA7D-995C-7A30-97C6C78570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19" name="Line 41">
                <a:extLst>
                  <a:ext uri="{FF2B5EF4-FFF2-40B4-BE49-F238E27FC236}">
                    <a16:creationId xmlns:a16="http://schemas.microsoft.com/office/drawing/2014/main" id="{EDC75983-0126-DF84-77D8-99AC8487EF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20" name="Line 42">
                <a:extLst>
                  <a:ext uri="{FF2B5EF4-FFF2-40B4-BE49-F238E27FC236}">
                    <a16:creationId xmlns:a16="http://schemas.microsoft.com/office/drawing/2014/main" id="{11C32043-B656-F674-582C-DF8D40213D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21" name="Line 43">
                <a:extLst>
                  <a:ext uri="{FF2B5EF4-FFF2-40B4-BE49-F238E27FC236}">
                    <a16:creationId xmlns:a16="http://schemas.microsoft.com/office/drawing/2014/main" id="{010E616F-E165-EC86-F8B9-195E0F328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  <p:sp>
            <p:nvSpPr>
              <p:cNvPr id="22" name="Line 44">
                <a:extLst>
                  <a:ext uri="{FF2B5EF4-FFF2-40B4-BE49-F238E27FC236}">
                    <a16:creationId xmlns:a16="http://schemas.microsoft.com/office/drawing/2014/main" id="{A895FD0D-3D0D-BEAB-EFB0-7ED954EBF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Meiryo" charset="-128"/>
                  <a:ea typeface="Meiryo" charset="-128"/>
                  <a:cs typeface="Meiryo" charset="-128"/>
                </a:endParaRPr>
              </a:p>
            </p:txBody>
          </p:sp>
        </p:grpSp>
      </p:grpSp>
      <p:sp>
        <p:nvSpPr>
          <p:cNvPr id="50" name="Text Box 294">
            <a:extLst>
              <a:ext uri="{FF2B5EF4-FFF2-40B4-BE49-F238E27FC236}">
                <a16:creationId xmlns:a16="http://schemas.microsoft.com/office/drawing/2014/main" id="{DE4D7448-1FFE-2303-B915-16F446D1F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48" y="4731266"/>
            <a:ext cx="1624555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>
                <a:latin typeface="Meiryo" charset="-128"/>
                <a:ea typeface="Meiryo" charset="-128"/>
                <a:cs typeface="Meiryo" charset="-128"/>
              </a:rPr>
              <a:t>領域専門文書</a:t>
            </a:r>
          </a:p>
        </p:txBody>
      </p:sp>
      <p:sp>
        <p:nvSpPr>
          <p:cNvPr id="51" name="角丸四角形 50">
            <a:extLst>
              <a:ext uri="{FF2B5EF4-FFF2-40B4-BE49-F238E27FC236}">
                <a16:creationId xmlns:a16="http://schemas.microsoft.com/office/drawing/2014/main" id="{6B12500B-DBDE-8D21-8FD9-1EC01F28EBFB}"/>
              </a:ext>
            </a:extLst>
          </p:cNvPr>
          <p:cNvSpPr/>
          <p:nvPr/>
        </p:nvSpPr>
        <p:spPr bwMode="auto">
          <a:xfrm>
            <a:off x="2319335" y="3861788"/>
            <a:ext cx="1795175" cy="4572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入力文書選択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角丸四角形 51">
            <a:extLst>
              <a:ext uri="{FF2B5EF4-FFF2-40B4-BE49-F238E27FC236}">
                <a16:creationId xmlns:a16="http://schemas.microsoft.com/office/drawing/2014/main" id="{9334975D-8417-37F7-9BA6-EC6B2F86D748}"/>
              </a:ext>
            </a:extLst>
          </p:cNvPr>
          <p:cNvSpPr/>
          <p:nvPr/>
        </p:nvSpPr>
        <p:spPr bwMode="auto">
          <a:xfrm>
            <a:off x="2331086" y="4395611"/>
            <a:ext cx="1795175" cy="4572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入力語選択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3" name="角丸四角形 52">
            <a:extLst>
              <a:ext uri="{FF2B5EF4-FFF2-40B4-BE49-F238E27FC236}">
                <a16:creationId xmlns:a16="http://schemas.microsoft.com/office/drawing/2014/main" id="{4B0A9E69-4A4A-09BF-BDF7-DB9E071E6D48}"/>
              </a:ext>
            </a:extLst>
          </p:cNvPr>
          <p:cNvSpPr/>
          <p:nvPr/>
        </p:nvSpPr>
        <p:spPr bwMode="auto">
          <a:xfrm>
            <a:off x="2349282" y="4915932"/>
            <a:ext cx="1795175" cy="4572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入力概念選択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4" name="角丸四角形 53">
            <a:extLst>
              <a:ext uri="{FF2B5EF4-FFF2-40B4-BE49-F238E27FC236}">
                <a16:creationId xmlns:a16="http://schemas.microsoft.com/office/drawing/2014/main" id="{D48A21D0-24E6-C449-12AB-FB0C3CD416B6}"/>
              </a:ext>
            </a:extLst>
          </p:cNvPr>
          <p:cNvSpPr/>
          <p:nvPr/>
        </p:nvSpPr>
        <p:spPr bwMode="auto">
          <a:xfrm>
            <a:off x="4754706" y="3872616"/>
            <a:ext cx="1795175" cy="4572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階層構築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" name="角丸四角形 54">
            <a:extLst>
              <a:ext uri="{FF2B5EF4-FFF2-40B4-BE49-F238E27FC236}">
                <a16:creationId xmlns:a16="http://schemas.microsoft.com/office/drawing/2014/main" id="{E9A323CB-68B9-B673-8943-D5B1CDBD642C}"/>
              </a:ext>
            </a:extLst>
          </p:cNvPr>
          <p:cNvSpPr/>
          <p:nvPr/>
        </p:nvSpPr>
        <p:spPr bwMode="auto">
          <a:xfrm>
            <a:off x="4754706" y="4425348"/>
            <a:ext cx="1795175" cy="4572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関係構築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" name="角丸四角形 55">
            <a:extLst>
              <a:ext uri="{FF2B5EF4-FFF2-40B4-BE49-F238E27FC236}">
                <a16:creationId xmlns:a16="http://schemas.microsoft.com/office/drawing/2014/main" id="{168477D3-077C-69AC-AC39-8157084A46DF}"/>
              </a:ext>
            </a:extLst>
          </p:cNvPr>
          <p:cNvSpPr/>
          <p:nvPr/>
        </p:nvSpPr>
        <p:spPr bwMode="auto">
          <a:xfrm>
            <a:off x="7239000" y="3885294"/>
            <a:ext cx="1795175" cy="4572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階層洗練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角丸四角形 56">
            <a:extLst>
              <a:ext uri="{FF2B5EF4-FFF2-40B4-BE49-F238E27FC236}">
                <a16:creationId xmlns:a16="http://schemas.microsoft.com/office/drawing/2014/main" id="{246E2334-8AEC-0C1A-A5C5-8B98803E1602}"/>
              </a:ext>
            </a:extLst>
          </p:cNvPr>
          <p:cNvSpPr/>
          <p:nvPr/>
        </p:nvSpPr>
        <p:spPr bwMode="auto">
          <a:xfrm>
            <a:off x="7239000" y="4438026"/>
            <a:ext cx="1795175" cy="4572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関係洗練</a:t>
            </a:r>
          </a:p>
        </p:txBody>
      </p:sp>
      <p:sp>
        <p:nvSpPr>
          <p:cNvPr id="58" name="角丸四角形 57">
            <a:extLst>
              <a:ext uri="{FF2B5EF4-FFF2-40B4-BE49-F238E27FC236}">
                <a16:creationId xmlns:a16="http://schemas.microsoft.com/office/drawing/2014/main" id="{E052DCEA-68B6-9ABC-4815-9580D7802505}"/>
              </a:ext>
            </a:extLst>
          </p:cNvPr>
          <p:cNvSpPr/>
          <p:nvPr/>
        </p:nvSpPr>
        <p:spPr bwMode="auto">
          <a:xfrm>
            <a:off x="7107887" y="1295400"/>
            <a:ext cx="2057400" cy="9144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可視化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モジュール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9" name="AutoShape 341">
            <a:extLst>
              <a:ext uri="{FF2B5EF4-FFF2-40B4-BE49-F238E27FC236}">
                <a16:creationId xmlns:a16="http://schemas.microsoft.com/office/drawing/2014/main" id="{86018B6A-4073-7BE5-2915-611AB8225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7632" y="5373132"/>
            <a:ext cx="2057400" cy="1066800"/>
          </a:xfrm>
          <a:prstGeom prst="can">
            <a:avLst>
              <a:gd name="adj" fmla="val 25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  <a:cs typeface="Meiryo" charset="-128"/>
              </a:rPr>
              <a:t>領域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  <a:cs typeface="Meiryo" charset="-128"/>
            </a:endParaRPr>
          </a:p>
          <a:p>
            <a:pPr algn="ctr"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  <a:cs typeface="Meiryo" charset="-128"/>
              </a:rPr>
              <a:t>オントロジー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  <a:cs typeface="Meiryo" charset="-128"/>
            </a:endParaRPr>
          </a:p>
        </p:txBody>
      </p:sp>
      <p:sp>
        <p:nvSpPr>
          <p:cNvPr id="60" name="下矢印 59">
            <a:extLst>
              <a:ext uri="{FF2B5EF4-FFF2-40B4-BE49-F238E27FC236}">
                <a16:creationId xmlns:a16="http://schemas.microsoft.com/office/drawing/2014/main" id="{115CCF6B-5A54-8023-8BCA-FCEB6A1B1A7F}"/>
              </a:ext>
            </a:extLst>
          </p:cNvPr>
          <p:cNvSpPr/>
          <p:nvPr/>
        </p:nvSpPr>
        <p:spPr bwMode="auto">
          <a:xfrm>
            <a:off x="3019672" y="1041611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下矢印 60">
            <a:extLst>
              <a:ext uri="{FF2B5EF4-FFF2-40B4-BE49-F238E27FC236}">
                <a16:creationId xmlns:a16="http://schemas.microsoft.com/office/drawing/2014/main" id="{EEA0E9B8-5B0A-6CC0-1776-4CA5700F7275}"/>
              </a:ext>
            </a:extLst>
          </p:cNvPr>
          <p:cNvSpPr/>
          <p:nvPr/>
        </p:nvSpPr>
        <p:spPr bwMode="auto">
          <a:xfrm>
            <a:off x="3023494" y="2578523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下矢印 61">
            <a:extLst>
              <a:ext uri="{FF2B5EF4-FFF2-40B4-BE49-F238E27FC236}">
                <a16:creationId xmlns:a16="http://schemas.microsoft.com/office/drawing/2014/main" id="{B993621B-E76F-DADC-F7F2-71D50CD6C15A}"/>
              </a:ext>
            </a:extLst>
          </p:cNvPr>
          <p:cNvSpPr/>
          <p:nvPr/>
        </p:nvSpPr>
        <p:spPr bwMode="auto">
          <a:xfrm rot="16200000">
            <a:off x="1638493" y="4040247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下矢印 62">
            <a:extLst>
              <a:ext uri="{FF2B5EF4-FFF2-40B4-BE49-F238E27FC236}">
                <a16:creationId xmlns:a16="http://schemas.microsoft.com/office/drawing/2014/main" id="{4250EA01-88BD-9B09-62D8-B7392CB88EB1}"/>
              </a:ext>
            </a:extLst>
          </p:cNvPr>
          <p:cNvSpPr/>
          <p:nvPr/>
        </p:nvSpPr>
        <p:spPr bwMode="auto">
          <a:xfrm rot="16200000">
            <a:off x="4202364" y="4104775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下矢印 63">
            <a:extLst>
              <a:ext uri="{FF2B5EF4-FFF2-40B4-BE49-F238E27FC236}">
                <a16:creationId xmlns:a16="http://schemas.microsoft.com/office/drawing/2014/main" id="{704EA9F7-353D-5080-AA9D-9C256E10ED9F}"/>
              </a:ext>
            </a:extLst>
          </p:cNvPr>
          <p:cNvSpPr/>
          <p:nvPr/>
        </p:nvSpPr>
        <p:spPr bwMode="auto">
          <a:xfrm rot="16200000">
            <a:off x="6663135" y="4080665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下矢印 64">
            <a:extLst>
              <a:ext uri="{FF2B5EF4-FFF2-40B4-BE49-F238E27FC236}">
                <a16:creationId xmlns:a16="http://schemas.microsoft.com/office/drawing/2014/main" id="{6FBEE134-B990-DD26-E8C7-4474AC9BA25D}"/>
              </a:ext>
            </a:extLst>
          </p:cNvPr>
          <p:cNvSpPr/>
          <p:nvPr/>
        </p:nvSpPr>
        <p:spPr bwMode="auto">
          <a:xfrm rot="16200000">
            <a:off x="9253142" y="4144183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下矢印 65">
            <a:extLst>
              <a:ext uri="{FF2B5EF4-FFF2-40B4-BE49-F238E27FC236}">
                <a16:creationId xmlns:a16="http://schemas.microsoft.com/office/drawing/2014/main" id="{FCC7ED4D-E1C9-2020-5B68-3B81D1B46016}"/>
              </a:ext>
            </a:extLst>
          </p:cNvPr>
          <p:cNvSpPr/>
          <p:nvPr/>
        </p:nvSpPr>
        <p:spPr bwMode="auto">
          <a:xfrm>
            <a:off x="10639135" y="4850833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上下矢印 69">
            <a:extLst>
              <a:ext uri="{FF2B5EF4-FFF2-40B4-BE49-F238E27FC236}">
                <a16:creationId xmlns:a16="http://schemas.microsoft.com/office/drawing/2014/main" id="{E922DB72-6379-6E2F-B711-A48ABC452A3A}"/>
              </a:ext>
            </a:extLst>
          </p:cNvPr>
          <p:cNvSpPr/>
          <p:nvPr/>
        </p:nvSpPr>
        <p:spPr bwMode="auto">
          <a:xfrm>
            <a:off x="7894271" y="2268810"/>
            <a:ext cx="484632" cy="607458"/>
          </a:xfrm>
          <a:prstGeom prst="upDown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506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グループ化 257"/>
          <p:cNvGrpSpPr>
            <a:grpSpLocks/>
          </p:cNvGrpSpPr>
          <p:nvPr/>
        </p:nvGrpSpPr>
        <p:grpSpPr bwMode="auto">
          <a:xfrm>
            <a:off x="1219200" y="-642938"/>
            <a:ext cx="10020300" cy="9001126"/>
            <a:chOff x="771090" y="-71462"/>
            <a:chExt cx="7730000" cy="7072362"/>
          </a:xfrm>
        </p:grpSpPr>
        <p:sp>
          <p:nvSpPr>
            <p:cNvPr id="2" name="Text Box 5"/>
            <p:cNvSpPr txBox="1">
              <a:spLocks noChangeArrowheads="1"/>
            </p:cNvSpPr>
            <p:nvPr/>
          </p:nvSpPr>
          <p:spPr bwMode="auto">
            <a:xfrm>
              <a:off x="2785642" y="-71462"/>
              <a:ext cx="3922558" cy="31432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ja-JP" altLang="en-US" sz="2000" dirty="0">
                  <a:cs typeface="Arial" pitchFamily="34" charset="0"/>
                </a:rPr>
                <a:t>入力語セット</a:t>
              </a:r>
            </a:p>
          </p:txBody>
        </p:sp>
        <p:sp>
          <p:nvSpPr>
            <p:cNvPr id="3" name="Text Box 6"/>
            <p:cNvSpPr txBox="1">
              <a:spLocks noChangeArrowheads="1"/>
            </p:cNvSpPr>
            <p:nvPr/>
          </p:nvSpPr>
          <p:spPr bwMode="auto">
            <a:xfrm>
              <a:off x="771090" y="1974160"/>
              <a:ext cx="1285884" cy="5550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ja-JP" altLang="en-US" sz="2000" dirty="0">
                  <a:cs typeface="Arial" pitchFamily="34" charset="0"/>
                </a:rPr>
                <a:t>クラスの</a:t>
              </a:r>
              <a:endParaRPr lang="en-US" altLang="ja-JP" sz="2000" dirty="0">
                <a:cs typeface="Arial" pitchFamily="34" charset="0"/>
              </a:endParaRPr>
            </a:p>
            <a:p>
              <a:pPr algn="ctr">
                <a:defRPr/>
              </a:pPr>
              <a:r>
                <a:rPr lang="en-US" altLang="ja-JP" sz="2000" dirty="0">
                  <a:cs typeface="Arial" pitchFamily="34" charset="0"/>
                </a:rPr>
                <a:t>URI</a:t>
              </a:r>
              <a:r>
                <a:rPr lang="ja-JP" altLang="en-US" sz="2000" dirty="0">
                  <a:cs typeface="Arial" pitchFamily="34" charset="0"/>
                </a:rPr>
                <a:t>セット</a:t>
              </a:r>
              <a:endParaRPr lang="en-US" altLang="ja-JP" sz="2000" dirty="0">
                <a:cs typeface="Arial" pitchFamily="34" charset="0"/>
              </a:endParaRPr>
            </a:p>
          </p:txBody>
        </p:sp>
        <p:sp>
          <p:nvSpPr>
            <p:cNvPr id="4" name="Text Box 9"/>
            <p:cNvSpPr txBox="1">
              <a:spLocks noChangeArrowheads="1"/>
            </p:cNvSpPr>
            <p:nvPr/>
          </p:nvSpPr>
          <p:spPr bwMode="auto">
            <a:xfrm>
              <a:off x="7144176" y="2513007"/>
              <a:ext cx="1356914" cy="5550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ja-JP" altLang="en-US" sz="2000" dirty="0">
                  <a:cs typeface="Arial" pitchFamily="34" charset="0"/>
                </a:rPr>
                <a:t>プロパティの</a:t>
              </a:r>
              <a:endParaRPr lang="en-US" altLang="ja-JP" sz="2000" dirty="0">
                <a:cs typeface="Arial" pitchFamily="34" charset="0"/>
              </a:endParaRPr>
            </a:p>
            <a:p>
              <a:pPr algn="ctr">
                <a:defRPr/>
              </a:pPr>
              <a:r>
                <a:rPr lang="en-US" altLang="ja-JP" sz="2000" dirty="0">
                  <a:cs typeface="Arial" pitchFamily="34" charset="0"/>
                </a:rPr>
                <a:t>URI</a:t>
              </a:r>
              <a:r>
                <a:rPr lang="ja-JP" altLang="en-US" sz="2000" dirty="0">
                  <a:cs typeface="Arial" pitchFamily="34" charset="0"/>
                </a:rPr>
                <a:t>セット</a:t>
              </a:r>
            </a:p>
          </p:txBody>
        </p:sp>
        <p:sp>
          <p:nvSpPr>
            <p:cNvPr id="5" name="Text Box 13"/>
            <p:cNvSpPr txBox="1">
              <a:spLocks noChangeArrowheads="1"/>
            </p:cNvSpPr>
            <p:nvPr/>
          </p:nvSpPr>
          <p:spPr bwMode="auto">
            <a:xfrm>
              <a:off x="2714612" y="4643446"/>
              <a:ext cx="3786622" cy="31432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ja-JP" altLang="en-US" sz="2000" dirty="0">
                  <a:cs typeface="Arial" pitchFamily="34" charset="0"/>
                </a:rPr>
                <a:t>既存オントロジー</a:t>
              </a:r>
            </a:p>
          </p:txBody>
        </p:sp>
        <p:cxnSp>
          <p:nvCxnSpPr>
            <p:cNvPr id="6" name="AutoShape 21"/>
            <p:cNvCxnSpPr>
              <a:cxnSpLocks noChangeShapeType="1"/>
              <a:stCxn id="104" idx="3"/>
              <a:endCxn id="4" idx="0"/>
            </p:cNvCxnSpPr>
            <p:nvPr/>
          </p:nvCxnSpPr>
          <p:spPr bwMode="auto">
            <a:xfrm>
              <a:off x="6857608" y="1107265"/>
              <a:ext cx="965025" cy="1405741"/>
            </a:xfrm>
            <a:prstGeom prst="bentConnector2">
              <a:avLst/>
            </a:prstGeom>
            <a:ln w="63500">
              <a:headEnd/>
              <a:tailEnd type="triangl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AutoShape 22"/>
            <p:cNvCxnSpPr>
              <a:cxnSpLocks noChangeShapeType="1"/>
              <a:stCxn id="104" idx="1"/>
              <a:endCxn id="3" idx="0"/>
            </p:cNvCxnSpPr>
            <p:nvPr/>
          </p:nvCxnSpPr>
          <p:spPr bwMode="auto">
            <a:xfrm rot="10800000" flipV="1">
              <a:off x="1414032" y="1107265"/>
              <a:ext cx="1157295" cy="866895"/>
            </a:xfrm>
            <a:prstGeom prst="bentConnector2">
              <a:avLst/>
            </a:prstGeom>
            <a:ln w="63500">
              <a:solidFill>
                <a:schemeClr val="tx1"/>
              </a:solidFill>
              <a:headEnd/>
              <a:tailEnd type="triangle" w="med" len="med"/>
            </a:ln>
            <a:effec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" name="直線矢印コネクタ 8"/>
            <p:cNvCxnSpPr>
              <a:stCxn id="3" idx="3"/>
              <a:endCxn id="38" idx="1"/>
            </p:cNvCxnSpPr>
            <p:nvPr/>
          </p:nvCxnSpPr>
          <p:spPr bwMode="auto">
            <a:xfrm flipV="1">
              <a:off x="2056974" y="2249820"/>
              <a:ext cx="514354" cy="1248"/>
            </a:xfrm>
            <a:prstGeom prst="straightConnector1">
              <a:avLst/>
            </a:prstGeom>
            <a:ln w="63500" cap="flat">
              <a:miter lim="800000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矢印コネクタ 13"/>
            <p:cNvCxnSpPr>
              <a:stCxn id="103" idx="0"/>
              <a:endCxn id="2" idx="2"/>
            </p:cNvCxnSpPr>
            <p:nvPr/>
          </p:nvCxnSpPr>
          <p:spPr bwMode="auto">
            <a:xfrm rot="5400000" flipH="1" flipV="1">
              <a:off x="4579223" y="402603"/>
              <a:ext cx="328048" cy="8573"/>
            </a:xfrm>
            <a:prstGeom prst="straightConnector1">
              <a:avLst/>
            </a:prstGeom>
            <a:ln w="63500">
              <a:headEnd type="triangle"/>
              <a:tailEnd type="non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AutoShape 22"/>
            <p:cNvCxnSpPr>
              <a:cxnSpLocks noChangeShapeType="1"/>
              <a:stCxn id="52" idx="2"/>
              <a:endCxn id="141" idx="1"/>
            </p:cNvCxnSpPr>
            <p:nvPr/>
          </p:nvCxnSpPr>
          <p:spPr bwMode="auto">
            <a:xfrm rot="16200000" flipH="1">
              <a:off x="1593681" y="3487137"/>
              <a:ext cx="512653" cy="871952"/>
            </a:xfrm>
            <a:prstGeom prst="bentConnector2">
              <a:avLst/>
            </a:prstGeom>
            <a:ln w="63500">
              <a:headEnd/>
              <a:tailEnd type="triangl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AutoShape 22"/>
            <p:cNvCxnSpPr>
              <a:cxnSpLocks noChangeShapeType="1"/>
              <a:stCxn id="4" idx="2"/>
              <a:endCxn id="141" idx="3"/>
            </p:cNvCxnSpPr>
            <p:nvPr/>
          </p:nvCxnSpPr>
          <p:spPr bwMode="auto">
            <a:xfrm rot="5400000">
              <a:off x="6820562" y="3177369"/>
              <a:ext cx="1111371" cy="892771"/>
            </a:xfrm>
            <a:prstGeom prst="bentConnector2">
              <a:avLst/>
            </a:prstGeom>
            <a:ln w="63500">
              <a:headEnd/>
              <a:tailEnd type="triangl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矢印コネクタ 16"/>
            <p:cNvCxnSpPr>
              <a:stCxn id="5" idx="0"/>
              <a:endCxn id="141" idx="2"/>
            </p:cNvCxnSpPr>
            <p:nvPr/>
          </p:nvCxnSpPr>
          <p:spPr bwMode="auto">
            <a:xfrm rot="5400000" flipH="1" flipV="1">
              <a:off x="4463868" y="4500638"/>
              <a:ext cx="286886" cy="1225"/>
            </a:xfrm>
            <a:prstGeom prst="straightConnector1">
              <a:avLst/>
            </a:prstGeom>
            <a:ln w="63500">
              <a:headEnd type="triangle"/>
              <a:tailEnd type="non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矢印コネクタ 20"/>
            <p:cNvCxnSpPr>
              <a:stCxn id="171" idx="0"/>
              <a:endCxn id="5" idx="2"/>
            </p:cNvCxnSpPr>
            <p:nvPr/>
          </p:nvCxnSpPr>
          <p:spPr bwMode="auto">
            <a:xfrm rot="5400000" flipH="1" flipV="1">
              <a:off x="4407738" y="5157981"/>
              <a:ext cx="399146" cy="1225"/>
            </a:xfrm>
            <a:prstGeom prst="straightConnector1">
              <a:avLst/>
            </a:prstGeom>
            <a:ln w="63500">
              <a:headEnd type="triangle"/>
              <a:tailEnd type="non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矢印コネクタ 21"/>
            <p:cNvCxnSpPr>
              <a:stCxn id="172" idx="0"/>
              <a:endCxn id="171" idx="2"/>
            </p:cNvCxnSpPr>
            <p:nvPr/>
          </p:nvCxnSpPr>
          <p:spPr bwMode="auto">
            <a:xfrm rot="5400000" flipH="1" flipV="1">
              <a:off x="4464491" y="5858357"/>
              <a:ext cx="285638" cy="1225"/>
            </a:xfrm>
            <a:prstGeom prst="straightConnector1">
              <a:avLst/>
            </a:prstGeom>
            <a:ln w="63500">
              <a:headEnd type="triangle"/>
              <a:tailEnd type="non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矢印コネクタ 22"/>
            <p:cNvCxnSpPr>
              <a:stCxn id="173" idx="0"/>
              <a:endCxn id="172" idx="2"/>
            </p:cNvCxnSpPr>
            <p:nvPr/>
          </p:nvCxnSpPr>
          <p:spPr bwMode="auto">
            <a:xfrm rot="5400000" flipH="1" flipV="1">
              <a:off x="4464491" y="6500732"/>
              <a:ext cx="285639" cy="1225"/>
            </a:xfrm>
            <a:prstGeom prst="straightConnector1">
              <a:avLst/>
            </a:prstGeom>
            <a:ln w="63500">
              <a:headEnd type="triangle"/>
              <a:tailEnd type="non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角丸四角形 37"/>
            <p:cNvSpPr/>
            <p:nvPr/>
          </p:nvSpPr>
          <p:spPr>
            <a:xfrm>
              <a:off x="2571328" y="1714715"/>
              <a:ext cx="4286280" cy="107145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sz="2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2593371" y="1750888"/>
              <a:ext cx="4291179" cy="31432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ja-JP" altLang="en-US" sz="2000" b="1" dirty="0">
                  <a:solidFill>
                    <a:schemeClr val="tx2"/>
                  </a:solidFill>
                  <a:latin typeface="+mj-ea"/>
                  <a:ea typeface="+mj-ea"/>
                  <a:cs typeface="Arial" pitchFamily="34" charset="0"/>
                </a:rPr>
                <a:t>手順２：プロパティの獲得</a:t>
              </a:r>
            </a:p>
          </p:txBody>
        </p:sp>
        <p:sp>
          <p:nvSpPr>
            <p:cNvPr id="49173" name="テキスト ボックス 50"/>
            <p:cNvSpPr txBox="1">
              <a:spLocks noChangeArrowheads="1"/>
            </p:cNvSpPr>
            <p:nvPr/>
          </p:nvSpPr>
          <p:spPr bwMode="auto">
            <a:xfrm>
              <a:off x="4290032" y="2008993"/>
              <a:ext cx="863402" cy="241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rdfs:domain</a:t>
              </a:r>
              <a:endParaRPr lang="ja-JP" altLang="en-US" sz="1400"/>
            </a:p>
          </p:txBody>
        </p:sp>
        <p:sp>
          <p:nvSpPr>
            <p:cNvPr id="49174" name="テキスト ボックス 51"/>
            <p:cNvSpPr txBox="1">
              <a:spLocks noChangeArrowheads="1"/>
            </p:cNvSpPr>
            <p:nvPr/>
          </p:nvSpPr>
          <p:spPr bwMode="auto">
            <a:xfrm>
              <a:off x="4321186" y="2428868"/>
              <a:ext cx="763236" cy="241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rdfs:range</a:t>
              </a:r>
              <a:endParaRPr lang="ja-JP" altLang="en-US" sz="1400"/>
            </a:p>
          </p:txBody>
        </p:sp>
        <p:cxnSp>
          <p:nvCxnSpPr>
            <p:cNvPr id="47" name="直線矢印コネクタ 46"/>
            <p:cNvCxnSpPr>
              <a:stCxn id="43" idx="6"/>
            </p:cNvCxnSpPr>
            <p:nvPr/>
          </p:nvCxnSpPr>
          <p:spPr>
            <a:xfrm flipV="1">
              <a:off x="4661808" y="2214894"/>
              <a:ext cx="678457" cy="1421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矢印コネクタ 47"/>
            <p:cNvCxnSpPr>
              <a:stCxn id="43" idx="6"/>
            </p:cNvCxnSpPr>
            <p:nvPr/>
          </p:nvCxnSpPr>
          <p:spPr>
            <a:xfrm>
              <a:off x="4661808" y="2357090"/>
              <a:ext cx="678457" cy="2145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円/楕円 42"/>
            <p:cNvSpPr/>
            <p:nvPr/>
          </p:nvSpPr>
          <p:spPr>
            <a:xfrm>
              <a:off x="3048942" y="2214894"/>
              <a:ext cx="1612866" cy="28563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b="1" dirty="0">
                  <a:solidFill>
                    <a:schemeClr val="tx1"/>
                  </a:solidFill>
                  <a:cs typeface="Arial" pitchFamily="34" charset="0"/>
                </a:rPr>
                <a:t>プロパティ</a:t>
              </a:r>
            </a:p>
          </p:txBody>
        </p:sp>
        <p:sp>
          <p:nvSpPr>
            <p:cNvPr id="57" name="角丸四角形 56"/>
            <p:cNvSpPr/>
            <p:nvPr/>
          </p:nvSpPr>
          <p:spPr>
            <a:xfrm>
              <a:off x="2571328" y="2857270"/>
              <a:ext cx="4286280" cy="107145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sz="2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59" name="正方形/長方形 58"/>
            <p:cNvSpPr/>
            <p:nvPr/>
          </p:nvSpPr>
          <p:spPr>
            <a:xfrm>
              <a:off x="2593371" y="2888453"/>
              <a:ext cx="4291179" cy="31432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ja-JP" altLang="en-US" sz="2000" b="1" dirty="0">
                  <a:solidFill>
                    <a:schemeClr val="tx2"/>
                  </a:solidFill>
                  <a:latin typeface="+mj-ea"/>
                  <a:ea typeface="+mj-ea"/>
                  <a:cs typeface="Arial" pitchFamily="34" charset="0"/>
                </a:rPr>
                <a:t>手順３：クラスの獲得</a:t>
              </a:r>
            </a:p>
          </p:txBody>
        </p:sp>
        <p:sp>
          <p:nvSpPr>
            <p:cNvPr id="49180" name="テキスト ボックス 61"/>
            <p:cNvSpPr txBox="1">
              <a:spLocks noChangeArrowheads="1"/>
            </p:cNvSpPr>
            <p:nvPr/>
          </p:nvSpPr>
          <p:spPr bwMode="auto">
            <a:xfrm>
              <a:off x="4160550" y="3152001"/>
              <a:ext cx="863402" cy="241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rdfs:domain</a:t>
              </a:r>
              <a:endParaRPr lang="ja-JP" altLang="en-US" sz="1400"/>
            </a:p>
          </p:txBody>
        </p:sp>
        <p:sp>
          <p:nvSpPr>
            <p:cNvPr id="49181" name="テキスト ボックス 62"/>
            <p:cNvSpPr txBox="1">
              <a:spLocks noChangeArrowheads="1"/>
            </p:cNvSpPr>
            <p:nvPr/>
          </p:nvSpPr>
          <p:spPr bwMode="auto">
            <a:xfrm>
              <a:off x="4263142" y="3571876"/>
              <a:ext cx="763236" cy="241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rdfs:range</a:t>
              </a:r>
              <a:endParaRPr lang="ja-JP" altLang="en-US" sz="1400"/>
            </a:p>
          </p:txBody>
        </p:sp>
        <p:cxnSp>
          <p:nvCxnSpPr>
            <p:cNvPr id="64" name="直線矢印コネクタ 63"/>
            <p:cNvCxnSpPr>
              <a:stCxn id="66" idx="6"/>
            </p:cNvCxnSpPr>
            <p:nvPr/>
          </p:nvCxnSpPr>
          <p:spPr>
            <a:xfrm flipV="1">
              <a:off x="4589553" y="3357449"/>
              <a:ext cx="678457" cy="14344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矢印コネクタ 64"/>
            <p:cNvCxnSpPr>
              <a:stCxn id="66" idx="6"/>
            </p:cNvCxnSpPr>
            <p:nvPr/>
          </p:nvCxnSpPr>
          <p:spPr>
            <a:xfrm>
              <a:off x="4589553" y="3500892"/>
              <a:ext cx="678457" cy="2132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円/楕円 65"/>
            <p:cNvSpPr/>
            <p:nvPr/>
          </p:nvSpPr>
          <p:spPr>
            <a:xfrm>
              <a:off x="3062413" y="3357449"/>
              <a:ext cx="1527140" cy="2856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dirty="0">
                  <a:solidFill>
                    <a:schemeClr val="tx1"/>
                  </a:solidFill>
                  <a:cs typeface="Arial" pitchFamily="34" charset="0"/>
                </a:rPr>
                <a:t>プロパティ</a:t>
              </a:r>
            </a:p>
          </p:txBody>
        </p:sp>
        <p:cxnSp>
          <p:nvCxnSpPr>
            <p:cNvPr id="94" name="直線矢印コネクタ 93"/>
            <p:cNvCxnSpPr>
              <a:stCxn id="38" idx="3"/>
              <a:endCxn id="4" idx="1"/>
            </p:cNvCxnSpPr>
            <p:nvPr/>
          </p:nvCxnSpPr>
          <p:spPr bwMode="auto">
            <a:xfrm>
              <a:off x="6857608" y="2249820"/>
              <a:ext cx="286568" cy="540094"/>
            </a:xfrm>
            <a:prstGeom prst="straightConnector1">
              <a:avLst/>
            </a:prstGeom>
            <a:ln w="63500" cap="flat">
              <a:miter lim="800000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線矢印コネクタ 96"/>
            <p:cNvCxnSpPr>
              <a:stCxn id="4" idx="1"/>
              <a:endCxn id="57" idx="3"/>
            </p:cNvCxnSpPr>
            <p:nvPr/>
          </p:nvCxnSpPr>
          <p:spPr bwMode="auto">
            <a:xfrm rot="10800000" flipV="1">
              <a:off x="6857608" y="2789914"/>
              <a:ext cx="286568" cy="602460"/>
            </a:xfrm>
            <a:prstGeom prst="straightConnector1">
              <a:avLst/>
            </a:prstGeom>
            <a:ln w="63500" cap="flat">
              <a:miter lim="800000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線矢印コネクタ 99"/>
            <p:cNvCxnSpPr>
              <a:stCxn id="57" idx="1"/>
              <a:endCxn id="52" idx="3"/>
            </p:cNvCxnSpPr>
            <p:nvPr/>
          </p:nvCxnSpPr>
          <p:spPr bwMode="auto">
            <a:xfrm rot="10800000">
              <a:off x="2056974" y="3389879"/>
              <a:ext cx="514354" cy="3742"/>
            </a:xfrm>
            <a:prstGeom prst="straightConnector1">
              <a:avLst/>
            </a:prstGeom>
            <a:ln w="63500" cap="flat">
              <a:miter lim="800000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角丸四角形 103"/>
            <p:cNvSpPr/>
            <p:nvPr/>
          </p:nvSpPr>
          <p:spPr>
            <a:xfrm>
              <a:off x="2571328" y="570913"/>
              <a:ext cx="4286280" cy="107270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sz="2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41" name="角丸四角形 140"/>
            <p:cNvSpPr/>
            <p:nvPr/>
          </p:nvSpPr>
          <p:spPr>
            <a:xfrm>
              <a:off x="2285984" y="4001071"/>
              <a:ext cx="4643878" cy="3567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2000" b="1" dirty="0">
                  <a:solidFill>
                    <a:schemeClr val="tx2"/>
                  </a:solidFill>
                  <a:cs typeface="Arial" pitchFamily="34" charset="0"/>
                </a:rPr>
                <a:t>手順４：オントロジーの獲得</a:t>
              </a:r>
            </a:p>
          </p:txBody>
        </p:sp>
        <p:sp>
          <p:nvSpPr>
            <p:cNvPr id="171" name="角丸四角形 170"/>
            <p:cNvSpPr/>
            <p:nvPr/>
          </p:nvSpPr>
          <p:spPr>
            <a:xfrm>
              <a:off x="2285984" y="5358166"/>
              <a:ext cx="4643878" cy="3567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2000" b="1" dirty="0">
                  <a:solidFill>
                    <a:schemeClr val="tx2"/>
                  </a:solidFill>
                  <a:cs typeface="Arial" pitchFamily="34" charset="0"/>
                </a:rPr>
                <a:t>手順５：既存オントロジーからの要素抽出</a:t>
              </a:r>
            </a:p>
          </p:txBody>
        </p:sp>
        <p:sp>
          <p:nvSpPr>
            <p:cNvPr id="172" name="角丸四角形 171"/>
            <p:cNvSpPr/>
            <p:nvPr/>
          </p:nvSpPr>
          <p:spPr>
            <a:xfrm>
              <a:off x="2285984" y="6000541"/>
              <a:ext cx="4643878" cy="3579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2000" b="1" dirty="0">
                  <a:solidFill>
                    <a:schemeClr val="tx2"/>
                  </a:solidFill>
                  <a:cs typeface="Arial" pitchFamily="34" charset="0"/>
                </a:rPr>
                <a:t>手順６：不要プロパティの除去</a:t>
              </a:r>
            </a:p>
          </p:txBody>
        </p:sp>
        <p:sp>
          <p:nvSpPr>
            <p:cNvPr id="173" name="角丸四角形 172"/>
            <p:cNvSpPr/>
            <p:nvPr/>
          </p:nvSpPr>
          <p:spPr>
            <a:xfrm>
              <a:off x="2285984" y="6644164"/>
              <a:ext cx="4643878" cy="3567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2000" b="1" dirty="0">
                  <a:solidFill>
                    <a:schemeClr val="tx2"/>
                  </a:solidFill>
                  <a:cs typeface="Arial" pitchFamily="34" charset="0"/>
                </a:rPr>
                <a:t>手順７：既存オントロジーのランキング</a:t>
              </a:r>
            </a:p>
          </p:txBody>
        </p:sp>
        <p:sp>
          <p:nvSpPr>
            <p:cNvPr id="49193" name="テキスト ボックス 254"/>
            <p:cNvSpPr txBox="1">
              <a:spLocks noChangeArrowheads="1"/>
            </p:cNvSpPr>
            <p:nvPr/>
          </p:nvSpPr>
          <p:spPr bwMode="auto">
            <a:xfrm>
              <a:off x="4429124" y="785794"/>
              <a:ext cx="702643" cy="241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rdfs:label</a:t>
              </a:r>
              <a:endParaRPr lang="ja-JP" altLang="en-US" sz="1400"/>
            </a:p>
          </p:txBody>
        </p:sp>
        <p:sp>
          <p:nvSpPr>
            <p:cNvPr id="103" name="正方形/長方形 102"/>
            <p:cNvSpPr/>
            <p:nvPr/>
          </p:nvSpPr>
          <p:spPr>
            <a:xfrm>
              <a:off x="2593371" y="570913"/>
              <a:ext cx="4291179" cy="314327"/>
            </a:xfrm>
            <a:prstGeom prst="rect">
              <a:avLst/>
            </a:prstGeom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ja-JP" altLang="en-US" sz="2000" b="1">
                  <a:solidFill>
                    <a:schemeClr val="tx2"/>
                  </a:solidFill>
                  <a:latin typeface="ＭＳ Ｐゴシック" charset="-128"/>
                </a:rPr>
                <a:t>手順１</a:t>
              </a:r>
              <a:r>
                <a:rPr lang="en-US" altLang="ja-JP" sz="2000" b="1">
                  <a:solidFill>
                    <a:schemeClr val="tx2"/>
                  </a:solidFill>
                  <a:latin typeface="ＭＳ Ｐゴシック" charset="-128"/>
                </a:rPr>
                <a:t>: </a:t>
              </a:r>
              <a:r>
                <a:rPr lang="ja-JP" altLang="en-US" sz="2000" b="1">
                  <a:solidFill>
                    <a:schemeClr val="tx2"/>
                  </a:solidFill>
                  <a:latin typeface="ＭＳ Ｐゴシック" charset="-128"/>
                </a:rPr>
                <a:t>クラス及びプロパティの獲得</a:t>
              </a:r>
            </a:p>
          </p:txBody>
        </p:sp>
        <p:sp>
          <p:nvSpPr>
            <p:cNvPr id="123" name="円/楕円 122"/>
            <p:cNvSpPr/>
            <p:nvPr/>
          </p:nvSpPr>
          <p:spPr>
            <a:xfrm>
              <a:off x="3072210" y="1285634"/>
              <a:ext cx="1285884" cy="28563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b="1" dirty="0">
                  <a:solidFill>
                    <a:schemeClr val="tx1"/>
                  </a:solidFill>
                  <a:cs typeface="Arial" pitchFamily="34" charset="0"/>
                </a:rPr>
                <a:t>プロパティ</a:t>
              </a:r>
            </a:p>
          </p:txBody>
        </p:sp>
        <p:sp>
          <p:nvSpPr>
            <p:cNvPr id="49196" name="テキスト ボックス 124"/>
            <p:cNvSpPr txBox="1">
              <a:spLocks noChangeArrowheads="1"/>
            </p:cNvSpPr>
            <p:nvPr/>
          </p:nvSpPr>
          <p:spPr bwMode="auto">
            <a:xfrm>
              <a:off x="5304456" y="1329458"/>
              <a:ext cx="649468" cy="241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“</a:t>
              </a:r>
              <a:r>
                <a:rPr lang="ja-JP" altLang="en-US" sz="1400"/>
                <a:t>入力語</a:t>
              </a:r>
              <a:r>
                <a:rPr lang="en-US" altLang="ja-JP" sz="1400"/>
                <a:t>”</a:t>
              </a:r>
              <a:endParaRPr lang="ja-JP" altLang="en-US" sz="1400"/>
            </a:p>
          </p:txBody>
        </p:sp>
        <p:cxnSp>
          <p:nvCxnSpPr>
            <p:cNvPr id="126" name="直線矢印コネクタ 125"/>
            <p:cNvCxnSpPr>
              <a:endCxn id="49199" idx="1"/>
            </p:cNvCxnSpPr>
            <p:nvPr/>
          </p:nvCxnSpPr>
          <p:spPr>
            <a:xfrm>
              <a:off x="4358095" y="1071093"/>
              <a:ext cx="946655" cy="1995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正方形/長方形 121"/>
            <p:cNvSpPr/>
            <p:nvPr/>
          </p:nvSpPr>
          <p:spPr>
            <a:xfrm>
              <a:off x="3072210" y="928897"/>
              <a:ext cx="1285884" cy="28563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b="1" dirty="0">
                  <a:solidFill>
                    <a:schemeClr val="tx1"/>
                  </a:solidFill>
                  <a:cs typeface="Arial" pitchFamily="34" charset="0"/>
                </a:rPr>
                <a:t>クラス</a:t>
              </a:r>
            </a:p>
          </p:txBody>
        </p:sp>
        <p:sp>
          <p:nvSpPr>
            <p:cNvPr id="49199" name="テキスト ボックス 123"/>
            <p:cNvSpPr txBox="1">
              <a:spLocks noChangeArrowheads="1"/>
            </p:cNvSpPr>
            <p:nvPr/>
          </p:nvSpPr>
          <p:spPr bwMode="auto">
            <a:xfrm>
              <a:off x="5304456" y="970229"/>
              <a:ext cx="696454" cy="2418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“</a:t>
              </a:r>
              <a:r>
                <a:rPr lang="ja-JP" altLang="en-US" sz="1400"/>
                <a:t>入力語</a:t>
              </a:r>
              <a:r>
                <a:rPr lang="en-US" altLang="ja-JP" sz="1400"/>
                <a:t>”</a:t>
              </a:r>
              <a:endParaRPr lang="ja-JP" altLang="en-US" sz="1400"/>
            </a:p>
          </p:txBody>
        </p:sp>
        <p:sp>
          <p:nvSpPr>
            <p:cNvPr id="49200" name="テキスト ボックス 255"/>
            <p:cNvSpPr txBox="1">
              <a:spLocks noChangeArrowheads="1"/>
            </p:cNvSpPr>
            <p:nvPr/>
          </p:nvSpPr>
          <p:spPr bwMode="auto">
            <a:xfrm>
              <a:off x="4429124" y="1142984"/>
              <a:ext cx="702643" cy="241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rdfs:label</a:t>
              </a:r>
              <a:endParaRPr lang="ja-JP" altLang="en-US" sz="1400"/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5340265" y="2071452"/>
              <a:ext cx="1017685" cy="2856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dirty="0">
                  <a:solidFill>
                    <a:schemeClr val="tx1"/>
                  </a:solidFill>
                  <a:cs typeface="Arial" pitchFamily="34" charset="0"/>
                </a:rPr>
                <a:t>クラス</a:t>
              </a: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5340265" y="2429435"/>
              <a:ext cx="1017685" cy="2856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dirty="0">
                  <a:solidFill>
                    <a:schemeClr val="tx1"/>
                  </a:solidFill>
                  <a:cs typeface="Arial" pitchFamily="34" charset="0"/>
                </a:rPr>
                <a:t>クラス</a:t>
              </a:r>
            </a:p>
          </p:txBody>
        </p:sp>
        <p:sp>
          <p:nvSpPr>
            <p:cNvPr id="60" name="正方形/長方形 59"/>
            <p:cNvSpPr/>
            <p:nvPr/>
          </p:nvSpPr>
          <p:spPr>
            <a:xfrm>
              <a:off x="5268010" y="3215253"/>
              <a:ext cx="1018910" cy="28563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b="1" dirty="0">
                  <a:solidFill>
                    <a:schemeClr val="tx1"/>
                  </a:solidFill>
                  <a:cs typeface="Arial" pitchFamily="34" charset="0"/>
                </a:rPr>
                <a:t>クラス</a:t>
              </a:r>
            </a:p>
          </p:txBody>
        </p:sp>
        <p:sp>
          <p:nvSpPr>
            <p:cNvPr id="61" name="正方形/長方形 60"/>
            <p:cNvSpPr/>
            <p:nvPr/>
          </p:nvSpPr>
          <p:spPr>
            <a:xfrm>
              <a:off x="5268010" y="3571989"/>
              <a:ext cx="1018910" cy="28563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b="1" dirty="0">
                  <a:solidFill>
                    <a:schemeClr val="tx1"/>
                  </a:solidFill>
                  <a:cs typeface="Arial" pitchFamily="34" charset="0"/>
                </a:rPr>
                <a:t>クラス</a:t>
              </a:r>
            </a:p>
          </p:txBody>
        </p:sp>
        <p:cxnSp>
          <p:nvCxnSpPr>
            <p:cNvPr id="129" name="直線矢印コネクタ 128"/>
            <p:cNvCxnSpPr>
              <a:stCxn id="123" idx="6"/>
              <a:endCxn id="49196" idx="1"/>
            </p:cNvCxnSpPr>
            <p:nvPr/>
          </p:nvCxnSpPr>
          <p:spPr>
            <a:xfrm>
              <a:off x="4358095" y="1429076"/>
              <a:ext cx="946655" cy="212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 Box 6"/>
          <p:cNvSpPr txBox="1">
            <a:spLocks noChangeArrowheads="1"/>
          </p:cNvSpPr>
          <p:nvPr/>
        </p:nvSpPr>
        <p:spPr bwMode="auto">
          <a:xfrm>
            <a:off x="1219201" y="3408364"/>
            <a:ext cx="1666875" cy="7064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ja-JP" altLang="en-US" sz="2000" dirty="0">
                <a:cs typeface="Arial" pitchFamily="34" charset="0"/>
              </a:rPr>
              <a:t>クラスの</a:t>
            </a:r>
            <a:endParaRPr lang="en-US" altLang="ja-JP" sz="2000" dirty="0">
              <a:cs typeface="Arial" pitchFamily="34" charset="0"/>
            </a:endParaRPr>
          </a:p>
          <a:p>
            <a:pPr algn="ctr">
              <a:defRPr/>
            </a:pPr>
            <a:r>
              <a:rPr lang="en-US" altLang="ja-JP" sz="2000" dirty="0">
                <a:cs typeface="Arial" pitchFamily="34" charset="0"/>
              </a:rPr>
              <a:t>URI</a:t>
            </a:r>
            <a:r>
              <a:rPr lang="ja-JP" altLang="en-US" sz="2000" dirty="0">
                <a:cs typeface="Arial" pitchFamily="34" charset="0"/>
              </a:rPr>
              <a:t>セット</a:t>
            </a:r>
            <a:endParaRPr lang="en-US" altLang="ja-JP" sz="2000" dirty="0">
              <a:cs typeface="Arial" pitchFamily="34" charset="0"/>
            </a:endParaRPr>
          </a:p>
        </p:txBody>
      </p:sp>
      <p:cxnSp>
        <p:nvCxnSpPr>
          <p:cNvPr id="73" name="直線矢印コネクタ 72"/>
          <p:cNvCxnSpPr>
            <a:stCxn id="3" idx="2"/>
            <a:endCxn id="52" idx="0"/>
          </p:cNvCxnSpPr>
          <p:nvPr/>
        </p:nvCxnSpPr>
        <p:spPr bwMode="auto">
          <a:xfrm rot="5400000">
            <a:off x="1683545" y="3037683"/>
            <a:ext cx="739775" cy="1587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>
            <a:extLst>
              <a:ext uri="{FF2B5EF4-FFF2-40B4-BE49-F238E27FC236}">
                <a16:creationId xmlns:a16="http://schemas.microsoft.com/office/drawing/2014/main" id="{185D3147-171B-C4D7-6974-81570ADCE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8744" y="22761"/>
            <a:ext cx="4463256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ja-JP" altLang="en-US" sz="2000" dirty="0"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入力語セット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3DD6FB3A-8719-03F6-4FA8-805EE3F25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800639"/>
            <a:ext cx="2159396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クラスのセット</a:t>
            </a: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  <a:cs typeface="Arial" pitchFamily="34" charset="0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C0EF2172-51BA-3035-CA1B-544633925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8653" y="1800639"/>
            <a:ext cx="2523295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プロパティのセット</a:t>
            </a:r>
            <a:endParaRPr lang="ja-JP" altLang="en-US" sz="2000" dirty="0">
              <a:latin typeface="Meiryo" panose="020B0604030504040204" pitchFamily="34" charset="-128"/>
              <a:ea typeface="Meiryo" panose="020B0604030504040204" pitchFamily="34" charset="-128"/>
              <a:cs typeface="Arial" pitchFamily="34" charset="0"/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3C687D10-9306-8E47-7EB8-1ABC2EE7A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960" y="3580873"/>
            <a:ext cx="4452488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ja-JP" altLang="en-US" sz="2000" dirty="0"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既存オントロジー</a:t>
            </a:r>
          </a:p>
        </p:txBody>
      </p:sp>
      <p:cxnSp>
        <p:nvCxnSpPr>
          <p:cNvPr id="7" name="AutoShape 21">
            <a:extLst>
              <a:ext uri="{FF2B5EF4-FFF2-40B4-BE49-F238E27FC236}">
                <a16:creationId xmlns:a16="http://schemas.microsoft.com/office/drawing/2014/main" id="{0F13793A-7FAF-9D7C-7A04-33778B4F3848}"/>
              </a:ext>
            </a:extLst>
          </p:cNvPr>
          <p:cNvCxnSpPr>
            <a:cxnSpLocks noChangeShapeType="1"/>
            <a:stCxn id="34" idx="3"/>
            <a:endCxn id="5" idx="0"/>
          </p:cNvCxnSpPr>
          <p:nvPr/>
        </p:nvCxnSpPr>
        <p:spPr bwMode="auto">
          <a:xfrm>
            <a:off x="8382000" y="940266"/>
            <a:ext cx="1968301" cy="860373"/>
          </a:xfrm>
          <a:prstGeom prst="bentConnector2">
            <a:avLst/>
          </a:prstGeom>
          <a:ln w="63500">
            <a:headEnd/>
            <a:tailEnd type="triangl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AutoShape 22">
            <a:extLst>
              <a:ext uri="{FF2B5EF4-FFF2-40B4-BE49-F238E27FC236}">
                <a16:creationId xmlns:a16="http://schemas.microsoft.com/office/drawing/2014/main" id="{2D3CADD5-B2D6-DE75-5B33-526581C9824C}"/>
              </a:ext>
            </a:extLst>
          </p:cNvPr>
          <p:cNvCxnSpPr>
            <a:cxnSpLocks noChangeShapeType="1"/>
            <a:stCxn id="34" idx="1"/>
            <a:endCxn id="4" idx="0"/>
          </p:cNvCxnSpPr>
          <p:nvPr/>
        </p:nvCxnSpPr>
        <p:spPr bwMode="auto">
          <a:xfrm rot="10800000" flipV="1">
            <a:off x="1841698" y="940265"/>
            <a:ext cx="2077046" cy="860373"/>
          </a:xfrm>
          <a:prstGeom prst="bentConnector2">
            <a:avLst/>
          </a:prstGeom>
          <a:ln w="63500">
            <a:solidFill>
              <a:schemeClr val="tx1"/>
            </a:solidFill>
            <a:headEnd/>
            <a:tailEnd type="triangle" w="med" len="med"/>
          </a:ln>
          <a:effec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102E740-737C-4856-890D-AFED90338B0B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 bwMode="auto">
          <a:xfrm flipV="1">
            <a:off x="2921396" y="1646701"/>
            <a:ext cx="984648" cy="353993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28DF033-ED7B-E751-D69A-384AE08910DB}"/>
              </a:ext>
            </a:extLst>
          </p:cNvPr>
          <p:cNvCxnSpPr>
            <a:cxnSpLocks/>
            <a:stCxn id="34" idx="0"/>
            <a:endCxn id="3" idx="2"/>
          </p:cNvCxnSpPr>
          <p:nvPr/>
        </p:nvCxnSpPr>
        <p:spPr bwMode="auto">
          <a:xfrm flipV="1">
            <a:off x="6150372" y="422871"/>
            <a:ext cx="0" cy="247395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AutoShape 22">
            <a:extLst>
              <a:ext uri="{FF2B5EF4-FFF2-40B4-BE49-F238E27FC236}">
                <a16:creationId xmlns:a16="http://schemas.microsoft.com/office/drawing/2014/main" id="{29485E4B-0992-DFD4-EB4E-8A2176FE62A1}"/>
              </a:ext>
            </a:extLst>
          </p:cNvPr>
          <p:cNvCxnSpPr>
            <a:cxnSpLocks noChangeShapeType="1"/>
            <a:stCxn id="4" idx="2"/>
            <a:endCxn id="35" idx="1"/>
          </p:cNvCxnSpPr>
          <p:nvPr/>
        </p:nvCxnSpPr>
        <p:spPr bwMode="auto">
          <a:xfrm rot="16200000" flipH="1">
            <a:off x="2462623" y="1579824"/>
            <a:ext cx="835197" cy="2077046"/>
          </a:xfrm>
          <a:prstGeom prst="bentConnector2">
            <a:avLst/>
          </a:prstGeom>
          <a:ln w="63500">
            <a:headEnd/>
            <a:tailEnd type="triangl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AutoShape 22">
            <a:extLst>
              <a:ext uri="{FF2B5EF4-FFF2-40B4-BE49-F238E27FC236}">
                <a16:creationId xmlns:a16="http://schemas.microsoft.com/office/drawing/2014/main" id="{D596D598-06DC-A7F4-C4F8-7CA6020EC418}"/>
              </a:ext>
            </a:extLst>
          </p:cNvPr>
          <p:cNvCxnSpPr>
            <a:cxnSpLocks noChangeShapeType="1"/>
            <a:stCxn id="5" idx="2"/>
            <a:endCxn id="35" idx="3"/>
          </p:cNvCxnSpPr>
          <p:nvPr/>
        </p:nvCxnSpPr>
        <p:spPr bwMode="auto">
          <a:xfrm rot="5400000">
            <a:off x="8948553" y="1634197"/>
            <a:ext cx="835197" cy="1968301"/>
          </a:xfrm>
          <a:prstGeom prst="bentConnector2">
            <a:avLst/>
          </a:prstGeom>
          <a:ln w="63500">
            <a:headEnd/>
            <a:tailEnd type="triangl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5608E89-4B85-EBC1-D34C-F0729ADBFFAC}"/>
              </a:ext>
            </a:extLst>
          </p:cNvPr>
          <p:cNvCxnSpPr>
            <a:cxnSpLocks/>
            <a:stCxn id="36" idx="0"/>
            <a:endCxn id="6" idx="2"/>
          </p:cNvCxnSpPr>
          <p:nvPr/>
        </p:nvCxnSpPr>
        <p:spPr bwMode="auto">
          <a:xfrm flipV="1">
            <a:off x="6152462" y="3980983"/>
            <a:ext cx="1742" cy="287780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150F959-661E-EBA7-5125-AAF42D396FB1}"/>
              </a:ext>
            </a:extLst>
          </p:cNvPr>
          <p:cNvCxnSpPr>
            <a:cxnSpLocks/>
            <a:stCxn id="37" idx="0"/>
            <a:endCxn id="36" idx="2"/>
          </p:cNvCxnSpPr>
          <p:nvPr/>
        </p:nvCxnSpPr>
        <p:spPr bwMode="auto">
          <a:xfrm flipV="1">
            <a:off x="6143246" y="4808763"/>
            <a:ext cx="9216" cy="287780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57E113D-4EB6-15F9-AFDF-7A5A4746DFE7}"/>
              </a:ext>
            </a:extLst>
          </p:cNvPr>
          <p:cNvCxnSpPr>
            <a:cxnSpLocks/>
            <a:stCxn id="38" idx="0"/>
            <a:endCxn id="37" idx="2"/>
          </p:cNvCxnSpPr>
          <p:nvPr/>
        </p:nvCxnSpPr>
        <p:spPr bwMode="auto">
          <a:xfrm flipV="1">
            <a:off x="6141504" y="5636543"/>
            <a:ext cx="1742" cy="287780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C59CCFC7-7A66-7805-50D9-2CD514C8F42A}"/>
              </a:ext>
            </a:extLst>
          </p:cNvPr>
          <p:cNvSpPr/>
          <p:nvPr/>
        </p:nvSpPr>
        <p:spPr bwMode="auto">
          <a:xfrm>
            <a:off x="3906044" y="1376701"/>
            <a:ext cx="4474404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2. </a:t>
            </a:r>
            <a:r>
              <a:rPr lang="ja-JP" altLang="en-US" sz="200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プロパティの獲得</a:t>
            </a: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28255F54-1160-3B09-9355-CED59538742B}"/>
              </a:ext>
            </a:extLst>
          </p:cNvPr>
          <p:cNvSpPr/>
          <p:nvPr/>
        </p:nvSpPr>
        <p:spPr bwMode="auto">
          <a:xfrm>
            <a:off x="3918744" y="2083136"/>
            <a:ext cx="4463256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3. </a:t>
            </a:r>
            <a:r>
              <a:rPr lang="ja-JP" altLang="en-US" sz="200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クラスの獲得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7D2F115E-DDD7-2577-365F-7814DF82B594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 bwMode="auto">
          <a:xfrm>
            <a:off x="8380448" y="1646701"/>
            <a:ext cx="708205" cy="353993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CDE5D070-7A76-E656-52FB-CCA655658FC7}"/>
              </a:ext>
            </a:extLst>
          </p:cNvPr>
          <p:cNvCxnSpPr>
            <a:cxnSpLocks/>
            <a:stCxn id="5" idx="1"/>
            <a:endCxn id="24" idx="3"/>
          </p:cNvCxnSpPr>
          <p:nvPr/>
        </p:nvCxnSpPr>
        <p:spPr bwMode="auto">
          <a:xfrm flipH="1">
            <a:off x="8382000" y="2000694"/>
            <a:ext cx="706653" cy="352442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54C4D6FC-0500-6C90-18BC-009CCFB73833}"/>
              </a:ext>
            </a:extLst>
          </p:cNvPr>
          <p:cNvCxnSpPr>
            <a:cxnSpLocks/>
            <a:stCxn id="24" idx="1"/>
            <a:endCxn id="4" idx="3"/>
          </p:cNvCxnSpPr>
          <p:nvPr/>
        </p:nvCxnSpPr>
        <p:spPr bwMode="auto">
          <a:xfrm flipH="1" flipV="1">
            <a:off x="2921396" y="2000694"/>
            <a:ext cx="997348" cy="352442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D0C97D2F-D318-41B3-951C-D5966503D80B}"/>
              </a:ext>
            </a:extLst>
          </p:cNvPr>
          <p:cNvSpPr/>
          <p:nvPr/>
        </p:nvSpPr>
        <p:spPr bwMode="auto">
          <a:xfrm>
            <a:off x="3918744" y="670266"/>
            <a:ext cx="4463256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1. </a:t>
            </a:r>
            <a:r>
              <a:rPr lang="ja-JP" altLang="en-US" sz="200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クラスとプロパティの獲得</a:t>
            </a: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510BFDE0-DB9D-6FBF-2C24-63A37819B571}"/>
              </a:ext>
            </a:extLst>
          </p:cNvPr>
          <p:cNvSpPr/>
          <p:nvPr/>
        </p:nvSpPr>
        <p:spPr bwMode="auto">
          <a:xfrm>
            <a:off x="3918744" y="2765946"/>
            <a:ext cx="4463256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4. </a:t>
            </a:r>
            <a:r>
              <a:rPr lang="ja-JP" altLang="en-US" sz="200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オントロジー</a:t>
            </a:r>
            <a:r>
              <a:rPr lang="ja-JP" altLang="en-US" sz="2000" dirty="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の獲得</a:t>
            </a:r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BFAB00F2-B529-2A01-2E51-EA0F08CD75FB}"/>
              </a:ext>
            </a:extLst>
          </p:cNvPr>
          <p:cNvSpPr/>
          <p:nvPr/>
        </p:nvSpPr>
        <p:spPr bwMode="auto">
          <a:xfrm>
            <a:off x="3915260" y="4268763"/>
            <a:ext cx="4474404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5. </a:t>
            </a:r>
            <a:r>
              <a:rPr lang="ja-JP" altLang="en-US" sz="200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既存</a:t>
            </a:r>
            <a:r>
              <a:rPr lang="ja-JP" altLang="en-US" sz="2000" dirty="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オントロジーからの要素抽出</a:t>
            </a:r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5ECDA5A7-13EA-1BF2-46E4-5667B98E4EA0}"/>
              </a:ext>
            </a:extLst>
          </p:cNvPr>
          <p:cNvSpPr/>
          <p:nvPr/>
        </p:nvSpPr>
        <p:spPr bwMode="auto">
          <a:xfrm>
            <a:off x="3906044" y="5096543"/>
            <a:ext cx="4474404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6. </a:t>
            </a:r>
            <a:r>
              <a:rPr lang="ja-JP" altLang="en-US" sz="200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不要</a:t>
            </a:r>
            <a:r>
              <a:rPr lang="ja-JP" altLang="en-US" sz="2000" dirty="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プロパティの除去</a:t>
            </a:r>
          </a:p>
        </p:txBody>
      </p:sp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E5A2DA6A-0501-6C39-87D0-D6C5DBCF0D72}"/>
              </a:ext>
            </a:extLst>
          </p:cNvPr>
          <p:cNvSpPr/>
          <p:nvPr/>
        </p:nvSpPr>
        <p:spPr bwMode="auto">
          <a:xfrm>
            <a:off x="3915260" y="5924323"/>
            <a:ext cx="4452488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7. </a:t>
            </a:r>
            <a:r>
              <a:rPr lang="ja-JP" altLang="en-US" sz="200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既存</a:t>
            </a:r>
            <a:r>
              <a:rPr lang="ja-JP" altLang="en-US" sz="2000" dirty="0">
                <a:solidFill>
                  <a:schemeClr val="tx2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オントロジーのランキング</a:t>
            </a:r>
          </a:p>
        </p:txBody>
      </p:sp>
      <p:cxnSp>
        <p:nvCxnSpPr>
          <p:cNvPr id="154" name="直線矢印コネクタ 153">
            <a:extLst>
              <a:ext uri="{FF2B5EF4-FFF2-40B4-BE49-F238E27FC236}">
                <a16:creationId xmlns:a16="http://schemas.microsoft.com/office/drawing/2014/main" id="{48080034-6165-CC4C-F30C-6EA6977D122B}"/>
              </a:ext>
            </a:extLst>
          </p:cNvPr>
          <p:cNvCxnSpPr>
            <a:cxnSpLocks/>
            <a:stCxn id="6" idx="0"/>
            <a:endCxn id="35" idx="2"/>
          </p:cNvCxnSpPr>
          <p:nvPr/>
        </p:nvCxnSpPr>
        <p:spPr bwMode="auto">
          <a:xfrm flipH="1" flipV="1">
            <a:off x="6150372" y="3305946"/>
            <a:ext cx="3832" cy="274927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" name="Text Box 13">
            <a:extLst>
              <a:ext uri="{FF2B5EF4-FFF2-40B4-BE49-F238E27FC236}">
                <a16:creationId xmlns:a16="http://schemas.microsoft.com/office/drawing/2014/main" id="{53129D44-49A7-9543-C185-5B5849697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260" y="6781800"/>
            <a:ext cx="4452488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  <a:cs typeface="Arial" pitchFamily="34" charset="0"/>
              </a:rPr>
              <a:t>既存オントロジーのランキング結果</a:t>
            </a:r>
            <a:endParaRPr lang="ja-JP" altLang="en-US" sz="2000" dirty="0">
              <a:latin typeface="Meiryo" panose="020B0604030504040204" pitchFamily="34" charset="-128"/>
              <a:ea typeface="Meiryo" panose="020B0604030504040204" pitchFamily="34" charset="-128"/>
              <a:cs typeface="Arial" pitchFamily="34" charset="0"/>
            </a:endParaRPr>
          </a:p>
        </p:txBody>
      </p:sp>
      <p:cxnSp>
        <p:nvCxnSpPr>
          <p:cNvPr id="208" name="直線矢印コネクタ 207">
            <a:extLst>
              <a:ext uri="{FF2B5EF4-FFF2-40B4-BE49-F238E27FC236}">
                <a16:creationId xmlns:a16="http://schemas.microsoft.com/office/drawing/2014/main" id="{49E2491F-12B7-04EE-0000-3C69318401A1}"/>
              </a:ext>
            </a:extLst>
          </p:cNvPr>
          <p:cNvCxnSpPr>
            <a:cxnSpLocks/>
            <a:stCxn id="207" idx="0"/>
            <a:endCxn id="38" idx="2"/>
          </p:cNvCxnSpPr>
          <p:nvPr/>
        </p:nvCxnSpPr>
        <p:spPr bwMode="auto">
          <a:xfrm flipV="1">
            <a:off x="6141504" y="6464323"/>
            <a:ext cx="0" cy="317477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96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グループ化 41"/>
          <p:cNvGrpSpPr>
            <a:grpSpLocks/>
          </p:cNvGrpSpPr>
          <p:nvPr/>
        </p:nvGrpSpPr>
        <p:grpSpPr bwMode="auto">
          <a:xfrm>
            <a:off x="1600200" y="1752600"/>
            <a:ext cx="8915400" cy="4267200"/>
            <a:chOff x="76200" y="2133600"/>
            <a:chExt cx="8915400" cy="4267200"/>
          </a:xfrm>
        </p:grpSpPr>
        <p:sp>
          <p:nvSpPr>
            <p:cNvPr id="120" name="正方形/長方形 119"/>
            <p:cNvSpPr/>
            <p:nvPr/>
          </p:nvSpPr>
          <p:spPr>
            <a:xfrm>
              <a:off x="76200" y="4343400"/>
              <a:ext cx="8915400" cy="20574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119" name="正方形/長方形 118"/>
            <p:cNvSpPr/>
            <p:nvPr/>
          </p:nvSpPr>
          <p:spPr>
            <a:xfrm>
              <a:off x="4343400" y="2286000"/>
              <a:ext cx="4648200" cy="18288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118" name="正方形/長方形 117"/>
            <p:cNvSpPr/>
            <p:nvPr/>
          </p:nvSpPr>
          <p:spPr>
            <a:xfrm>
              <a:off x="76200" y="2286000"/>
              <a:ext cx="4191000" cy="18288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50182" name="Rectangle 5"/>
            <p:cNvSpPr>
              <a:spLocks noChangeArrowheads="1"/>
            </p:cNvSpPr>
            <p:nvPr/>
          </p:nvSpPr>
          <p:spPr bwMode="auto">
            <a:xfrm>
              <a:off x="1338263" y="4581525"/>
              <a:ext cx="2014537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ja-JP" sz="1600"/>
                <a:t>wn20schema:</a:t>
              </a:r>
            </a:p>
            <a:p>
              <a:pPr algn="ctr" eaLnBrk="1" hangingPunct="1"/>
              <a:r>
                <a:rPr lang="en-US" altLang="ja-JP" sz="1600"/>
                <a:t>containsWordSense</a:t>
              </a:r>
            </a:p>
          </p:txBody>
        </p:sp>
        <p:sp>
          <p:nvSpPr>
            <p:cNvPr id="50183" name="Rectangle 7"/>
            <p:cNvSpPr>
              <a:spLocks noChangeArrowheads="1"/>
            </p:cNvSpPr>
            <p:nvPr/>
          </p:nvSpPr>
          <p:spPr bwMode="auto">
            <a:xfrm>
              <a:off x="4418013" y="4648200"/>
              <a:ext cx="1449387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ja-JP" sz="1600"/>
                <a:t>wn20schema:</a:t>
              </a:r>
            </a:p>
            <a:p>
              <a:pPr algn="ctr" eaLnBrk="1" hangingPunct="1"/>
              <a:r>
                <a:rPr lang="en-US" altLang="ja-JP" sz="1600"/>
                <a:t>word</a:t>
              </a:r>
            </a:p>
          </p:txBody>
        </p:sp>
        <p:sp>
          <p:nvSpPr>
            <p:cNvPr id="50184" name="Rectangle 9"/>
            <p:cNvSpPr>
              <a:spLocks noChangeArrowheads="1"/>
            </p:cNvSpPr>
            <p:nvPr/>
          </p:nvSpPr>
          <p:spPr bwMode="auto">
            <a:xfrm>
              <a:off x="6172200" y="4572000"/>
              <a:ext cx="1449388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ja-JP" sz="1600"/>
                <a:t>wn20schema:</a:t>
              </a:r>
            </a:p>
            <a:p>
              <a:pPr algn="ctr" eaLnBrk="1" hangingPunct="1"/>
              <a:r>
                <a:rPr lang="en-US" altLang="ja-JP" sz="1600"/>
                <a:t>lexicalForm</a:t>
              </a:r>
            </a:p>
          </p:txBody>
        </p:sp>
        <p:cxnSp>
          <p:nvCxnSpPr>
            <p:cNvPr id="50185" name="AutoShape 11"/>
            <p:cNvCxnSpPr>
              <a:cxnSpLocks noChangeShapeType="1"/>
              <a:stCxn id="51" idx="6"/>
              <a:endCxn id="52" idx="2"/>
            </p:cNvCxnSpPr>
            <p:nvPr/>
          </p:nvCxnSpPr>
          <p:spPr bwMode="auto">
            <a:xfrm>
              <a:off x="1981200" y="5295900"/>
              <a:ext cx="5334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86" name="AutoShape 12"/>
            <p:cNvCxnSpPr>
              <a:cxnSpLocks noChangeShapeType="1"/>
              <a:stCxn id="52" idx="6"/>
              <a:endCxn id="53" idx="2"/>
            </p:cNvCxnSpPr>
            <p:nvPr/>
          </p:nvCxnSpPr>
          <p:spPr bwMode="auto">
            <a:xfrm>
              <a:off x="4876800" y="5295900"/>
              <a:ext cx="6096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87" name="AutoShape 13"/>
            <p:cNvCxnSpPr>
              <a:cxnSpLocks noChangeShapeType="1"/>
              <a:stCxn id="53" idx="6"/>
              <a:endCxn id="55" idx="1"/>
            </p:cNvCxnSpPr>
            <p:nvPr/>
          </p:nvCxnSpPr>
          <p:spPr bwMode="auto">
            <a:xfrm>
              <a:off x="6858000" y="5295900"/>
              <a:ext cx="3810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88" name="AutoShape 17"/>
            <p:cNvCxnSpPr>
              <a:cxnSpLocks noChangeShapeType="1"/>
              <a:stCxn id="25" idx="6"/>
              <a:endCxn id="26" idx="1"/>
            </p:cNvCxnSpPr>
            <p:nvPr/>
          </p:nvCxnSpPr>
          <p:spPr bwMode="auto">
            <a:xfrm>
              <a:off x="1981200" y="3314700"/>
              <a:ext cx="457200" cy="1524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189" name="Rectangle 18"/>
            <p:cNvSpPr>
              <a:spLocks noChangeArrowheads="1"/>
            </p:cNvSpPr>
            <p:nvPr/>
          </p:nvSpPr>
          <p:spPr bwMode="auto">
            <a:xfrm>
              <a:off x="1447800" y="3505200"/>
              <a:ext cx="10160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rdfs:label</a:t>
              </a:r>
            </a:p>
          </p:txBody>
        </p:sp>
        <p:sp>
          <p:nvSpPr>
            <p:cNvPr id="25" name="円/楕円 24"/>
            <p:cNvSpPr/>
            <p:nvPr/>
          </p:nvSpPr>
          <p:spPr>
            <a:xfrm>
              <a:off x="152400" y="3124200"/>
              <a:ext cx="18288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aConcept</a:t>
              </a:r>
              <a:endParaRPr lang="ja-JP" altLang="en-US" sz="2000" dirty="0"/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2438400" y="3276600"/>
              <a:ext cx="1676400" cy="38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2000" dirty="0"/>
                <a:t>概念の見出し</a:t>
              </a:r>
            </a:p>
          </p:txBody>
        </p:sp>
        <p:sp>
          <p:nvSpPr>
            <p:cNvPr id="31" name="円/楕円 30"/>
            <p:cNvSpPr/>
            <p:nvPr/>
          </p:nvSpPr>
          <p:spPr>
            <a:xfrm>
              <a:off x="2438400" y="2743200"/>
              <a:ext cx="18288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owl:Class</a:t>
              </a:r>
              <a:endParaRPr lang="ja-JP" altLang="en-US" sz="2000" dirty="0"/>
            </a:p>
          </p:txBody>
        </p:sp>
        <p:cxnSp>
          <p:nvCxnSpPr>
            <p:cNvPr id="50193" name="AutoShape 17"/>
            <p:cNvCxnSpPr>
              <a:cxnSpLocks noChangeShapeType="1"/>
              <a:stCxn id="25" idx="6"/>
              <a:endCxn id="31" idx="2"/>
            </p:cNvCxnSpPr>
            <p:nvPr/>
          </p:nvCxnSpPr>
          <p:spPr bwMode="auto">
            <a:xfrm flipV="1">
              <a:off x="1981200" y="2933700"/>
              <a:ext cx="457200" cy="3810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194" name="Rectangle 18"/>
            <p:cNvSpPr>
              <a:spLocks noChangeArrowheads="1"/>
            </p:cNvSpPr>
            <p:nvPr/>
          </p:nvSpPr>
          <p:spPr bwMode="auto">
            <a:xfrm>
              <a:off x="1447800" y="27432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cxnSp>
          <p:nvCxnSpPr>
            <p:cNvPr id="50195" name="AutoShape 17"/>
            <p:cNvCxnSpPr>
              <a:cxnSpLocks noChangeShapeType="1"/>
              <a:stCxn id="39" idx="6"/>
              <a:endCxn id="40" idx="1"/>
            </p:cNvCxnSpPr>
            <p:nvPr/>
          </p:nvCxnSpPr>
          <p:spPr bwMode="auto">
            <a:xfrm>
              <a:off x="6248400" y="3322638"/>
              <a:ext cx="533400" cy="2206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196" name="Rectangle 18"/>
            <p:cNvSpPr>
              <a:spLocks noChangeArrowheads="1"/>
            </p:cNvSpPr>
            <p:nvPr/>
          </p:nvSpPr>
          <p:spPr bwMode="auto">
            <a:xfrm>
              <a:off x="5187950" y="3548063"/>
              <a:ext cx="15176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skos:prefLabel</a:t>
              </a:r>
            </a:p>
          </p:txBody>
        </p:sp>
        <p:sp>
          <p:nvSpPr>
            <p:cNvPr id="39" name="円/楕円 38"/>
            <p:cNvSpPr/>
            <p:nvPr/>
          </p:nvSpPr>
          <p:spPr>
            <a:xfrm>
              <a:off x="4419600" y="3132138"/>
              <a:ext cx="18288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aConcept</a:t>
              </a:r>
              <a:endParaRPr lang="ja-JP" altLang="en-US" sz="2000" dirty="0"/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6781800" y="3352800"/>
              <a:ext cx="1676400" cy="38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2000" dirty="0"/>
                <a:t>概念の見出し</a:t>
              </a:r>
            </a:p>
          </p:txBody>
        </p:sp>
        <p:sp>
          <p:nvSpPr>
            <p:cNvPr id="41" name="円/楕円 40"/>
            <p:cNvSpPr/>
            <p:nvPr/>
          </p:nvSpPr>
          <p:spPr>
            <a:xfrm>
              <a:off x="6477000" y="2663825"/>
              <a:ext cx="24384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skos:Concept</a:t>
              </a:r>
              <a:endParaRPr lang="ja-JP" altLang="en-US" sz="2000" dirty="0"/>
            </a:p>
          </p:txBody>
        </p:sp>
        <p:cxnSp>
          <p:nvCxnSpPr>
            <p:cNvPr id="50200" name="AutoShape 17"/>
            <p:cNvCxnSpPr>
              <a:cxnSpLocks noChangeShapeType="1"/>
              <a:stCxn id="39" idx="6"/>
              <a:endCxn id="41" idx="2"/>
            </p:cNvCxnSpPr>
            <p:nvPr/>
          </p:nvCxnSpPr>
          <p:spPr bwMode="auto">
            <a:xfrm flipV="1">
              <a:off x="6248400" y="2854325"/>
              <a:ext cx="228600" cy="46831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1" name="Rectangle 18"/>
            <p:cNvSpPr>
              <a:spLocks noChangeArrowheads="1"/>
            </p:cNvSpPr>
            <p:nvPr/>
          </p:nvSpPr>
          <p:spPr bwMode="auto">
            <a:xfrm>
              <a:off x="5562600" y="26670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51" name="円/楕円 50"/>
            <p:cNvSpPr/>
            <p:nvPr/>
          </p:nvSpPr>
          <p:spPr>
            <a:xfrm>
              <a:off x="304800" y="5105400"/>
              <a:ext cx="16764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aSynset</a:t>
              </a:r>
              <a:endParaRPr lang="ja-JP" altLang="en-US" sz="2000" dirty="0"/>
            </a:p>
          </p:txBody>
        </p:sp>
        <p:sp>
          <p:nvSpPr>
            <p:cNvPr id="52" name="円/楕円 51"/>
            <p:cNvSpPr/>
            <p:nvPr/>
          </p:nvSpPr>
          <p:spPr>
            <a:xfrm>
              <a:off x="2514600" y="5105400"/>
              <a:ext cx="23622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aWordSense</a:t>
              </a:r>
              <a:endParaRPr lang="ja-JP" altLang="en-US" sz="2000" dirty="0"/>
            </a:p>
          </p:txBody>
        </p:sp>
        <p:sp>
          <p:nvSpPr>
            <p:cNvPr id="53" name="円/楕円 52"/>
            <p:cNvSpPr/>
            <p:nvPr/>
          </p:nvSpPr>
          <p:spPr>
            <a:xfrm>
              <a:off x="5486400" y="5105400"/>
              <a:ext cx="13716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aWord</a:t>
              </a:r>
              <a:endParaRPr lang="ja-JP" altLang="en-US" sz="2000" dirty="0"/>
            </a:p>
          </p:txBody>
        </p:sp>
        <p:sp>
          <p:nvSpPr>
            <p:cNvPr id="55" name="正方形/長方形 54"/>
            <p:cNvSpPr/>
            <p:nvPr/>
          </p:nvSpPr>
          <p:spPr>
            <a:xfrm>
              <a:off x="7239000" y="5105400"/>
              <a:ext cx="1676400" cy="38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2000" dirty="0"/>
                <a:t>概念の見出し</a:t>
              </a:r>
            </a:p>
          </p:txBody>
        </p:sp>
        <p:sp>
          <p:nvSpPr>
            <p:cNvPr id="68" name="円/楕円 67"/>
            <p:cNvSpPr/>
            <p:nvPr/>
          </p:nvSpPr>
          <p:spPr>
            <a:xfrm>
              <a:off x="76200" y="5791200"/>
              <a:ext cx="2133600" cy="5334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1600" dirty="0"/>
                <a:t>wn20schema:</a:t>
              </a:r>
            </a:p>
            <a:p>
              <a:pPr algn="ctr">
                <a:defRPr/>
              </a:pPr>
              <a:r>
                <a:rPr lang="en-US" altLang="ja-JP" sz="1600" dirty="0" err="1"/>
                <a:t>NounSynset</a:t>
              </a:r>
              <a:endParaRPr lang="en-US" altLang="ja-JP" sz="1600" dirty="0"/>
            </a:p>
          </p:txBody>
        </p:sp>
        <p:sp>
          <p:nvSpPr>
            <p:cNvPr id="70" name="円/楕円 69"/>
            <p:cNvSpPr/>
            <p:nvPr/>
          </p:nvSpPr>
          <p:spPr>
            <a:xfrm>
              <a:off x="2438400" y="5791200"/>
              <a:ext cx="2514600" cy="5334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1600" dirty="0"/>
                <a:t>wn20schema:</a:t>
              </a:r>
            </a:p>
            <a:p>
              <a:pPr algn="ctr">
                <a:defRPr/>
              </a:pPr>
              <a:r>
                <a:rPr lang="en-US" altLang="ja-JP" sz="1600" dirty="0" err="1"/>
                <a:t>NounWordSense</a:t>
              </a:r>
              <a:endParaRPr lang="en-US" altLang="ja-JP" sz="1600" dirty="0"/>
            </a:p>
          </p:txBody>
        </p:sp>
        <p:sp>
          <p:nvSpPr>
            <p:cNvPr id="71" name="円/楕円 70"/>
            <p:cNvSpPr/>
            <p:nvPr/>
          </p:nvSpPr>
          <p:spPr>
            <a:xfrm>
              <a:off x="5105400" y="5791200"/>
              <a:ext cx="2133600" cy="5334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1600" dirty="0"/>
                <a:t>wn20schema:</a:t>
              </a:r>
            </a:p>
            <a:p>
              <a:pPr algn="ctr">
                <a:defRPr/>
              </a:pPr>
              <a:r>
                <a:rPr lang="en-US" altLang="ja-JP" sz="1600" dirty="0"/>
                <a:t>Word</a:t>
              </a:r>
            </a:p>
          </p:txBody>
        </p:sp>
        <p:cxnSp>
          <p:nvCxnSpPr>
            <p:cNvPr id="50209" name="AutoShape 11"/>
            <p:cNvCxnSpPr>
              <a:cxnSpLocks noChangeShapeType="1"/>
              <a:stCxn id="51" idx="4"/>
              <a:endCxn id="68" idx="0"/>
            </p:cNvCxnSpPr>
            <p:nvPr/>
          </p:nvCxnSpPr>
          <p:spPr bwMode="auto">
            <a:xfrm rot="5400000">
              <a:off x="990601" y="5638800"/>
              <a:ext cx="304800" cy="31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10" name="AutoShape 11"/>
            <p:cNvCxnSpPr>
              <a:cxnSpLocks noChangeShapeType="1"/>
              <a:stCxn id="52" idx="4"/>
              <a:endCxn id="70" idx="0"/>
            </p:cNvCxnSpPr>
            <p:nvPr/>
          </p:nvCxnSpPr>
          <p:spPr bwMode="auto">
            <a:xfrm rot="5400000">
              <a:off x="3543301" y="5638800"/>
              <a:ext cx="304800" cy="31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11" name="AutoShape 11"/>
            <p:cNvCxnSpPr>
              <a:cxnSpLocks noChangeShapeType="1"/>
              <a:stCxn id="53" idx="4"/>
              <a:endCxn id="71" idx="0"/>
            </p:cNvCxnSpPr>
            <p:nvPr/>
          </p:nvCxnSpPr>
          <p:spPr bwMode="auto">
            <a:xfrm rot="5400000">
              <a:off x="6019801" y="5638800"/>
              <a:ext cx="304800" cy="31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12" name="Rectangle 18"/>
            <p:cNvSpPr>
              <a:spLocks noChangeArrowheads="1"/>
            </p:cNvSpPr>
            <p:nvPr/>
          </p:nvSpPr>
          <p:spPr bwMode="auto">
            <a:xfrm>
              <a:off x="1143000" y="54864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50213" name="Rectangle 18"/>
            <p:cNvSpPr>
              <a:spLocks noChangeArrowheads="1"/>
            </p:cNvSpPr>
            <p:nvPr/>
          </p:nvSpPr>
          <p:spPr bwMode="auto">
            <a:xfrm>
              <a:off x="3733800" y="54864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50214" name="Rectangle 18"/>
            <p:cNvSpPr>
              <a:spLocks noChangeArrowheads="1"/>
            </p:cNvSpPr>
            <p:nvPr/>
          </p:nvSpPr>
          <p:spPr bwMode="auto">
            <a:xfrm>
              <a:off x="6248400" y="54864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88" name="Text Box 21"/>
            <p:cNvSpPr txBox="1">
              <a:spLocks noChangeArrowheads="1"/>
            </p:cNvSpPr>
            <p:nvPr/>
          </p:nvSpPr>
          <p:spPr bwMode="auto">
            <a:xfrm>
              <a:off x="4419600" y="2133600"/>
              <a:ext cx="2743200" cy="4000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ja-JP" sz="2000" b="1" dirty="0"/>
                <a:t>SKOS</a:t>
              </a:r>
            </a:p>
          </p:txBody>
        </p:sp>
        <p:sp>
          <p:nvSpPr>
            <p:cNvPr id="17428" name="Text Box 20"/>
            <p:cNvSpPr txBox="1">
              <a:spLocks noChangeArrowheads="1"/>
            </p:cNvSpPr>
            <p:nvPr/>
          </p:nvSpPr>
          <p:spPr bwMode="auto">
            <a:xfrm>
              <a:off x="152400" y="2133600"/>
              <a:ext cx="3048000" cy="4000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ja-JP" sz="2000" b="1" dirty="0"/>
                <a:t>OWL</a:t>
              </a:r>
              <a:r>
                <a:rPr lang="ja-JP" altLang="en-US" sz="2000" b="1" dirty="0"/>
                <a:t>基本語彙</a:t>
              </a:r>
              <a:endParaRPr lang="en-US" altLang="ja-JP" sz="2000" b="1" dirty="0"/>
            </a:p>
          </p:txBody>
        </p:sp>
        <p:sp>
          <p:nvSpPr>
            <p:cNvPr id="17429" name="Text Box 21"/>
            <p:cNvSpPr txBox="1">
              <a:spLocks noChangeArrowheads="1"/>
            </p:cNvSpPr>
            <p:nvPr/>
          </p:nvSpPr>
          <p:spPr bwMode="auto">
            <a:xfrm>
              <a:off x="152400" y="4191000"/>
              <a:ext cx="2743200" cy="4000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ja-JP" sz="2000" b="1" dirty="0" err="1"/>
                <a:t>WordNet</a:t>
              </a:r>
              <a:r>
                <a:rPr lang="en-US" altLang="ja-JP" sz="2000" b="1" dirty="0"/>
                <a:t> RDF/OWL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6" name="AutoShape 52"/>
          <p:cNvSpPr>
            <a:spLocks noChangeArrowheads="1"/>
          </p:cNvSpPr>
          <p:nvPr/>
        </p:nvSpPr>
        <p:spPr bwMode="auto">
          <a:xfrm>
            <a:off x="3429000" y="2667000"/>
            <a:ext cx="5181600" cy="1143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endParaRPr lang="ja-JP" altLang="ja-JP" sz="1000" b="1">
              <a:solidFill>
                <a:srgbClr val="000066"/>
              </a:solidFill>
            </a:endParaRPr>
          </a:p>
        </p:txBody>
      </p:sp>
      <p:sp>
        <p:nvSpPr>
          <p:cNvPr id="43044" name="AutoShape 85"/>
          <p:cNvSpPr>
            <a:spLocks noChangeArrowheads="1"/>
          </p:cNvSpPr>
          <p:nvPr/>
        </p:nvSpPr>
        <p:spPr bwMode="auto">
          <a:xfrm>
            <a:off x="4343400" y="914400"/>
            <a:ext cx="32004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endParaRPr lang="ja-JP" altLang="ja-JP" sz="1000" b="1">
              <a:solidFill>
                <a:srgbClr val="000066"/>
              </a:solidFill>
            </a:endParaRPr>
          </a:p>
        </p:txBody>
      </p:sp>
      <p:sp>
        <p:nvSpPr>
          <p:cNvPr id="43048" name="AutoShape 89"/>
          <p:cNvSpPr>
            <a:spLocks noChangeArrowheads="1"/>
          </p:cNvSpPr>
          <p:nvPr/>
        </p:nvSpPr>
        <p:spPr bwMode="auto">
          <a:xfrm>
            <a:off x="4343400" y="4876800"/>
            <a:ext cx="3200400" cy="13716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endParaRPr lang="ja-JP" altLang="ja-JP" sz="1000" b="1">
              <a:solidFill>
                <a:srgbClr val="000066"/>
              </a:solidFill>
            </a:endParaRPr>
          </a:p>
        </p:txBody>
      </p:sp>
      <p:sp>
        <p:nvSpPr>
          <p:cNvPr id="43012" name="AutoShape 4"/>
          <p:cNvSpPr>
            <a:spLocks noChangeArrowheads="1"/>
          </p:cNvSpPr>
          <p:nvPr/>
        </p:nvSpPr>
        <p:spPr bwMode="auto">
          <a:xfrm>
            <a:off x="7924800" y="5029200"/>
            <a:ext cx="1295400" cy="1143000"/>
          </a:xfrm>
          <a:prstGeom prst="can">
            <a:avLst>
              <a:gd name="adj" fmla="val 25000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1600" b="1" dirty="0">
                <a:solidFill>
                  <a:srgbClr val="006600"/>
                </a:solidFill>
              </a:rPr>
              <a:t>参照</a:t>
            </a:r>
            <a:endParaRPr lang="en-US" altLang="ja-JP" sz="1600" b="1" dirty="0">
              <a:solidFill>
                <a:srgbClr val="006600"/>
              </a:solidFill>
            </a:endParaRPr>
          </a:p>
          <a:p>
            <a:pPr algn="ctr">
              <a:defRPr/>
            </a:pPr>
            <a:r>
              <a:rPr lang="ja-JP" altLang="en-US" sz="1600" b="1" dirty="0">
                <a:solidFill>
                  <a:srgbClr val="006600"/>
                </a:solidFill>
              </a:rPr>
              <a:t>オントロジー</a:t>
            </a:r>
            <a:endParaRPr lang="en-US" altLang="ja-JP" sz="1600" b="1" dirty="0">
              <a:solidFill>
                <a:srgbClr val="006600"/>
              </a:solidFill>
            </a:endParaRPr>
          </a:p>
        </p:txBody>
      </p:sp>
      <p:grpSp>
        <p:nvGrpSpPr>
          <p:cNvPr id="51206" name="グループ化 93"/>
          <p:cNvGrpSpPr>
            <a:grpSpLocks/>
          </p:cNvGrpSpPr>
          <p:nvPr/>
        </p:nvGrpSpPr>
        <p:grpSpPr bwMode="auto">
          <a:xfrm>
            <a:off x="5257800" y="-609600"/>
            <a:ext cx="1447800" cy="990600"/>
            <a:chOff x="3733800" y="-609600"/>
            <a:chExt cx="1447800" cy="990600"/>
          </a:xfrm>
        </p:grpSpPr>
        <p:grpSp>
          <p:nvGrpSpPr>
            <p:cNvPr id="51259" name="グループ化 89"/>
            <p:cNvGrpSpPr>
              <a:grpSpLocks/>
            </p:cNvGrpSpPr>
            <p:nvPr/>
          </p:nvGrpSpPr>
          <p:grpSpPr bwMode="auto">
            <a:xfrm>
              <a:off x="3733800" y="-609600"/>
              <a:ext cx="1197926" cy="836507"/>
              <a:chOff x="3733800" y="-609600"/>
              <a:chExt cx="1197926" cy="836507"/>
            </a:xfrm>
          </p:grpSpPr>
          <p:sp>
            <p:nvSpPr>
              <p:cNvPr id="51290" name="Rectangle 11"/>
              <p:cNvSpPr>
                <a:spLocks noChangeArrowheads="1"/>
              </p:cNvSpPr>
              <p:nvPr/>
            </p:nvSpPr>
            <p:spPr bwMode="auto">
              <a:xfrm>
                <a:off x="3825746" y="-545394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1291" name="Rectangle 12"/>
              <p:cNvSpPr>
                <a:spLocks noChangeArrowheads="1"/>
              </p:cNvSpPr>
              <p:nvPr/>
            </p:nvSpPr>
            <p:spPr bwMode="auto">
              <a:xfrm>
                <a:off x="3733800" y="-609600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ＭＳ Ｐゴシック" charset="-128"/>
                </a:endParaRPr>
              </a:p>
            </p:txBody>
          </p:sp>
          <p:sp>
            <p:nvSpPr>
              <p:cNvPr id="51292" name="Line 13"/>
              <p:cNvSpPr>
                <a:spLocks noChangeShapeType="1"/>
              </p:cNvSpPr>
              <p:nvPr/>
            </p:nvSpPr>
            <p:spPr bwMode="auto">
              <a:xfrm>
                <a:off x="3825746" y="-15924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3" name="Line 14"/>
              <p:cNvSpPr>
                <a:spLocks noChangeShapeType="1"/>
              </p:cNvSpPr>
              <p:nvPr/>
            </p:nvSpPr>
            <p:spPr bwMode="auto">
              <a:xfrm>
                <a:off x="3825746" y="-95038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4" name="Line 15"/>
              <p:cNvSpPr>
                <a:spLocks noChangeShapeType="1"/>
              </p:cNvSpPr>
              <p:nvPr/>
            </p:nvSpPr>
            <p:spPr bwMode="auto">
              <a:xfrm>
                <a:off x="3825746" y="-30833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5" name="Line 16"/>
              <p:cNvSpPr>
                <a:spLocks noChangeShapeType="1"/>
              </p:cNvSpPr>
              <p:nvPr/>
            </p:nvSpPr>
            <p:spPr bwMode="auto">
              <a:xfrm>
                <a:off x="3825746" y="3429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6" name="Line 17"/>
              <p:cNvSpPr>
                <a:spLocks noChangeShapeType="1"/>
              </p:cNvSpPr>
              <p:nvPr/>
            </p:nvSpPr>
            <p:spPr bwMode="auto">
              <a:xfrm>
                <a:off x="3825746" y="98496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7" name="Line 18"/>
              <p:cNvSpPr>
                <a:spLocks noChangeShapeType="1"/>
              </p:cNvSpPr>
              <p:nvPr/>
            </p:nvSpPr>
            <p:spPr bwMode="auto">
              <a:xfrm>
                <a:off x="3825746" y="-223449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8" name="Line 19"/>
              <p:cNvSpPr>
                <a:spLocks noChangeShapeType="1"/>
              </p:cNvSpPr>
              <p:nvPr/>
            </p:nvSpPr>
            <p:spPr bwMode="auto">
              <a:xfrm>
                <a:off x="3825746" y="-28765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1260" name="グループ化 90"/>
            <p:cNvGrpSpPr>
              <a:grpSpLocks/>
            </p:cNvGrpSpPr>
            <p:nvPr/>
          </p:nvGrpSpPr>
          <p:grpSpPr bwMode="auto">
            <a:xfrm>
              <a:off x="3816479" y="-556305"/>
              <a:ext cx="1197926" cy="836507"/>
              <a:chOff x="3816479" y="-556305"/>
              <a:chExt cx="1197926" cy="836507"/>
            </a:xfrm>
          </p:grpSpPr>
          <p:sp>
            <p:nvSpPr>
              <p:cNvPr id="51281" name="Rectangle 21"/>
              <p:cNvSpPr>
                <a:spLocks noChangeArrowheads="1"/>
              </p:cNvSpPr>
              <p:nvPr/>
            </p:nvSpPr>
            <p:spPr bwMode="auto">
              <a:xfrm>
                <a:off x="3908425" y="-492099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1282" name="Rectangle 22"/>
              <p:cNvSpPr>
                <a:spLocks noChangeArrowheads="1"/>
              </p:cNvSpPr>
              <p:nvPr/>
            </p:nvSpPr>
            <p:spPr bwMode="auto">
              <a:xfrm>
                <a:off x="3816479" y="-556305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ＭＳ Ｐゴシック" charset="-128"/>
                </a:endParaRPr>
              </a:p>
            </p:txBody>
          </p:sp>
          <p:sp>
            <p:nvSpPr>
              <p:cNvPr id="51283" name="Line 23"/>
              <p:cNvSpPr>
                <a:spLocks noChangeShapeType="1"/>
              </p:cNvSpPr>
              <p:nvPr/>
            </p:nvSpPr>
            <p:spPr bwMode="auto">
              <a:xfrm>
                <a:off x="3908425" y="-105949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4" name="Line 24"/>
              <p:cNvSpPr>
                <a:spLocks noChangeShapeType="1"/>
              </p:cNvSpPr>
              <p:nvPr/>
            </p:nvSpPr>
            <p:spPr bwMode="auto">
              <a:xfrm>
                <a:off x="3908425" y="-41743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5" name="Line 25"/>
              <p:cNvSpPr>
                <a:spLocks noChangeShapeType="1"/>
              </p:cNvSpPr>
              <p:nvPr/>
            </p:nvSpPr>
            <p:spPr bwMode="auto">
              <a:xfrm>
                <a:off x="3908425" y="22462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6" name="Line 26"/>
              <p:cNvSpPr>
                <a:spLocks noChangeShapeType="1"/>
              </p:cNvSpPr>
              <p:nvPr/>
            </p:nvSpPr>
            <p:spPr bwMode="auto">
              <a:xfrm>
                <a:off x="3908425" y="8758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7" name="Line 27"/>
              <p:cNvSpPr>
                <a:spLocks noChangeShapeType="1"/>
              </p:cNvSpPr>
              <p:nvPr/>
            </p:nvSpPr>
            <p:spPr bwMode="auto">
              <a:xfrm>
                <a:off x="3908425" y="151791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8" name="Line 28"/>
              <p:cNvSpPr>
                <a:spLocks noChangeShapeType="1"/>
              </p:cNvSpPr>
              <p:nvPr/>
            </p:nvSpPr>
            <p:spPr bwMode="auto">
              <a:xfrm>
                <a:off x="3908425" y="-17015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9" name="Line 29"/>
              <p:cNvSpPr>
                <a:spLocks noChangeShapeType="1"/>
              </p:cNvSpPr>
              <p:nvPr/>
            </p:nvSpPr>
            <p:spPr bwMode="auto">
              <a:xfrm>
                <a:off x="3908425" y="-23436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1261" name="グループ化 91"/>
            <p:cNvGrpSpPr>
              <a:grpSpLocks/>
            </p:cNvGrpSpPr>
            <p:nvPr/>
          </p:nvGrpSpPr>
          <p:grpSpPr bwMode="auto">
            <a:xfrm>
              <a:off x="3900995" y="-508802"/>
              <a:ext cx="1197926" cy="836507"/>
              <a:chOff x="3900995" y="-508802"/>
              <a:chExt cx="1197926" cy="836507"/>
            </a:xfrm>
          </p:grpSpPr>
          <p:sp>
            <p:nvSpPr>
              <p:cNvPr id="51272" name="Rectangle 31"/>
              <p:cNvSpPr>
                <a:spLocks noChangeArrowheads="1"/>
              </p:cNvSpPr>
              <p:nvPr/>
            </p:nvSpPr>
            <p:spPr bwMode="auto">
              <a:xfrm>
                <a:off x="3992941" y="-444596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1273" name="Rectangle 32"/>
              <p:cNvSpPr>
                <a:spLocks noChangeArrowheads="1"/>
              </p:cNvSpPr>
              <p:nvPr/>
            </p:nvSpPr>
            <p:spPr bwMode="auto">
              <a:xfrm>
                <a:off x="3900995" y="-508802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ＭＳ Ｐゴシック" charset="-128"/>
                </a:endParaRPr>
              </a:p>
            </p:txBody>
          </p:sp>
          <p:sp>
            <p:nvSpPr>
              <p:cNvPr id="51274" name="Line 33"/>
              <p:cNvSpPr>
                <a:spLocks noChangeShapeType="1"/>
              </p:cNvSpPr>
              <p:nvPr/>
            </p:nvSpPr>
            <p:spPr bwMode="auto">
              <a:xfrm>
                <a:off x="3992941" y="-58446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75" name="Line 34"/>
              <p:cNvSpPr>
                <a:spLocks noChangeShapeType="1"/>
              </p:cNvSpPr>
              <p:nvPr/>
            </p:nvSpPr>
            <p:spPr bwMode="auto">
              <a:xfrm>
                <a:off x="3992941" y="576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76" name="Line 35"/>
              <p:cNvSpPr>
                <a:spLocks noChangeShapeType="1"/>
              </p:cNvSpPr>
              <p:nvPr/>
            </p:nvSpPr>
            <p:spPr bwMode="auto">
              <a:xfrm>
                <a:off x="3992941" y="6996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77" name="Line 36"/>
              <p:cNvSpPr>
                <a:spLocks noChangeShapeType="1"/>
              </p:cNvSpPr>
              <p:nvPr/>
            </p:nvSpPr>
            <p:spPr bwMode="auto">
              <a:xfrm>
                <a:off x="3992941" y="135088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78" name="Line 37"/>
              <p:cNvSpPr>
                <a:spLocks noChangeShapeType="1"/>
              </p:cNvSpPr>
              <p:nvPr/>
            </p:nvSpPr>
            <p:spPr bwMode="auto">
              <a:xfrm>
                <a:off x="3992941" y="19929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79" name="Line 38"/>
              <p:cNvSpPr>
                <a:spLocks noChangeShapeType="1"/>
              </p:cNvSpPr>
              <p:nvPr/>
            </p:nvSpPr>
            <p:spPr bwMode="auto">
              <a:xfrm>
                <a:off x="3992941" y="-122651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0" name="Line 39"/>
              <p:cNvSpPr>
                <a:spLocks noChangeShapeType="1"/>
              </p:cNvSpPr>
              <p:nvPr/>
            </p:nvSpPr>
            <p:spPr bwMode="auto">
              <a:xfrm>
                <a:off x="3992941" y="-186857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sp>
          <p:nvSpPr>
            <p:cNvPr id="51262" name="Rectangle 41"/>
            <p:cNvSpPr>
              <a:spLocks noChangeArrowheads="1"/>
            </p:cNvSpPr>
            <p:nvPr/>
          </p:nvSpPr>
          <p:spPr bwMode="auto">
            <a:xfrm>
              <a:off x="4075620" y="-391301"/>
              <a:ext cx="1105980" cy="772301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1263" name="Rectangle 42"/>
            <p:cNvSpPr>
              <a:spLocks noChangeArrowheads="1"/>
            </p:cNvSpPr>
            <p:nvPr/>
          </p:nvSpPr>
          <p:spPr bwMode="auto">
            <a:xfrm>
              <a:off x="3983674" y="-455507"/>
              <a:ext cx="1105980" cy="77230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Ctr="1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ja-JP" altLang="ja-JP" sz="1200">
                <a:latin typeface="ＭＳ Ｐゴシック" charset="-128"/>
              </a:endParaRPr>
            </a:p>
          </p:txBody>
        </p:sp>
        <p:sp>
          <p:nvSpPr>
            <p:cNvPr id="51264" name="Line 43"/>
            <p:cNvSpPr>
              <a:spLocks noChangeShapeType="1"/>
            </p:cNvSpPr>
            <p:nvPr/>
          </p:nvSpPr>
          <p:spPr bwMode="auto">
            <a:xfrm>
              <a:off x="4075620" y="-5151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65" name="Line 44"/>
            <p:cNvSpPr>
              <a:spLocks noChangeShapeType="1"/>
            </p:cNvSpPr>
            <p:nvPr/>
          </p:nvSpPr>
          <p:spPr bwMode="auto">
            <a:xfrm>
              <a:off x="4075620" y="59055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66" name="Line 45"/>
            <p:cNvSpPr>
              <a:spLocks noChangeShapeType="1"/>
            </p:cNvSpPr>
            <p:nvPr/>
          </p:nvSpPr>
          <p:spPr bwMode="auto">
            <a:xfrm>
              <a:off x="4075620" y="123260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67" name="Line 46"/>
            <p:cNvSpPr>
              <a:spLocks noChangeShapeType="1"/>
            </p:cNvSpPr>
            <p:nvPr/>
          </p:nvSpPr>
          <p:spPr bwMode="auto">
            <a:xfrm>
              <a:off x="4075620" y="188383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68" name="Line 47"/>
            <p:cNvSpPr>
              <a:spLocks noChangeShapeType="1"/>
            </p:cNvSpPr>
            <p:nvPr/>
          </p:nvSpPr>
          <p:spPr bwMode="auto">
            <a:xfrm>
              <a:off x="4075620" y="252589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69" name="Line 48"/>
            <p:cNvSpPr>
              <a:spLocks noChangeShapeType="1"/>
            </p:cNvSpPr>
            <p:nvPr/>
          </p:nvSpPr>
          <p:spPr bwMode="auto">
            <a:xfrm>
              <a:off x="4075620" y="-69356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70" name="Line 49"/>
            <p:cNvSpPr>
              <a:spLocks noChangeShapeType="1"/>
            </p:cNvSpPr>
            <p:nvPr/>
          </p:nvSpPr>
          <p:spPr bwMode="auto">
            <a:xfrm>
              <a:off x="4075620" y="-133562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71" name="Text Box 50"/>
            <p:cNvSpPr txBox="1">
              <a:spLocks noChangeArrowheads="1"/>
            </p:cNvSpPr>
            <p:nvPr/>
          </p:nvSpPr>
          <p:spPr bwMode="auto">
            <a:xfrm>
              <a:off x="3962400" y="-457200"/>
              <a:ext cx="1143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ja-JP" altLang="en-US" sz="1200"/>
                <a:t>領域専門文書</a:t>
              </a:r>
              <a:endParaRPr lang="en-US" altLang="ja-JP" sz="1200"/>
            </a:p>
          </p:txBody>
        </p:sp>
      </p:grpSp>
      <p:graphicFrame>
        <p:nvGraphicFramePr>
          <p:cNvPr id="12396" name="Group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113415"/>
              </p:ext>
            </p:extLst>
          </p:nvPr>
        </p:nvGraphicFramePr>
        <p:xfrm>
          <a:off x="3505200" y="2747963"/>
          <a:ext cx="5029200" cy="822960"/>
        </p:xfrm>
        <a:graphic>
          <a:graphicData uri="http://schemas.openxmlformats.org/drawingml/2006/table">
            <a:tbl>
              <a:tblPr/>
              <a:tblGrid>
                <a:gridCol w="63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7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用語</a:t>
                      </a:r>
                      <a:endParaRPr kumimoji="1" lang="en-US" altLang="ja-JP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品詞</a:t>
                      </a:r>
                      <a:endParaRPr kumimoji="1" lang="en-US" altLang="ja-JP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IDF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TF-IDF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上位概念</a:t>
                      </a:r>
                      <a:endParaRPr kumimoji="1" lang="en-US" altLang="ja-JP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名詞－一般</a:t>
                      </a:r>
                      <a:endParaRPr kumimoji="1" lang="en-US" altLang="ja-JP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30.11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[</a:t>
                      </a:r>
                      <a:r>
                        <a:rPr kumimoji="1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職業，肩書</a:t>
                      </a: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名詞－一般</a:t>
                      </a:r>
                      <a:endParaRPr kumimoji="1" lang="en-US" altLang="ja-JP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5.68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[</a:t>
                      </a:r>
                      <a:r>
                        <a:rPr kumimoji="1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抽象物</a:t>
                      </a: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236" name="Text Box 84"/>
          <p:cNvSpPr txBox="1">
            <a:spLocks noChangeArrowheads="1"/>
          </p:cNvSpPr>
          <p:nvPr/>
        </p:nvSpPr>
        <p:spPr bwMode="auto">
          <a:xfrm>
            <a:off x="4684714" y="1066801"/>
            <a:ext cx="247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形態素解析および複合語抽出</a:t>
            </a:r>
            <a:endParaRPr lang="en-US" altLang="ja-JP" sz="1400"/>
          </a:p>
        </p:txBody>
      </p:sp>
      <p:sp>
        <p:nvSpPr>
          <p:cNvPr id="43045" name="AutoShape 86"/>
          <p:cNvSpPr>
            <a:spLocks noChangeArrowheads="1"/>
          </p:cNvSpPr>
          <p:nvPr/>
        </p:nvSpPr>
        <p:spPr bwMode="auto">
          <a:xfrm>
            <a:off x="5029200" y="685800"/>
            <a:ext cx="17526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1600" b="1" dirty="0">
                <a:solidFill>
                  <a:srgbClr val="006600"/>
                </a:solidFill>
              </a:rPr>
              <a:t>入力文書選択</a:t>
            </a:r>
            <a:endParaRPr lang="en-US" altLang="ja-JP" sz="1600" b="1" dirty="0">
              <a:solidFill>
                <a:srgbClr val="006600"/>
              </a:solidFill>
            </a:endParaRPr>
          </a:p>
        </p:txBody>
      </p:sp>
      <p:sp>
        <p:nvSpPr>
          <p:cNvPr id="51238" name="Text Box 87"/>
          <p:cNvSpPr txBox="1">
            <a:spLocks noChangeArrowheads="1"/>
          </p:cNvSpPr>
          <p:nvPr/>
        </p:nvSpPr>
        <p:spPr bwMode="auto">
          <a:xfrm>
            <a:off x="4495801" y="3505201"/>
            <a:ext cx="3470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………………………………………..</a:t>
            </a:r>
          </a:p>
        </p:txBody>
      </p:sp>
      <p:sp>
        <p:nvSpPr>
          <p:cNvPr id="51239" name="Line 95"/>
          <p:cNvSpPr>
            <a:spLocks noChangeShapeType="1"/>
          </p:cNvSpPr>
          <p:nvPr/>
        </p:nvSpPr>
        <p:spPr bwMode="auto">
          <a:xfrm>
            <a:off x="5181600" y="5410200"/>
            <a:ext cx="7620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1240" name="Line 96"/>
          <p:cNvSpPr>
            <a:spLocks noChangeShapeType="1"/>
          </p:cNvSpPr>
          <p:nvPr/>
        </p:nvSpPr>
        <p:spPr bwMode="auto">
          <a:xfrm>
            <a:off x="5181600" y="5638800"/>
            <a:ext cx="7620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1241" name="Line 97"/>
          <p:cNvSpPr>
            <a:spLocks noChangeShapeType="1"/>
          </p:cNvSpPr>
          <p:nvPr/>
        </p:nvSpPr>
        <p:spPr bwMode="auto">
          <a:xfrm>
            <a:off x="5181600" y="5867400"/>
            <a:ext cx="7620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1242" name="Rectangle 98"/>
          <p:cNvSpPr>
            <a:spLocks noChangeArrowheads="1"/>
          </p:cNvSpPr>
          <p:nvPr/>
        </p:nvSpPr>
        <p:spPr bwMode="auto">
          <a:xfrm>
            <a:off x="4572000" y="5257800"/>
            <a:ext cx="762000" cy="762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/>
              <a:t>T1</a:t>
            </a:r>
          </a:p>
          <a:p>
            <a:pPr algn="ctr" eaLnBrk="1" hangingPunct="1"/>
            <a:r>
              <a:rPr lang="en-US" altLang="ja-JP" sz="1600"/>
              <a:t>T2</a:t>
            </a:r>
          </a:p>
          <a:p>
            <a:pPr algn="ctr" eaLnBrk="1" hangingPunct="1"/>
            <a:r>
              <a:rPr lang="en-US" altLang="ja-JP" sz="1600"/>
              <a:t>T3</a:t>
            </a:r>
          </a:p>
        </p:txBody>
      </p:sp>
      <p:sp>
        <p:nvSpPr>
          <p:cNvPr id="51243" name="Rectangle 99"/>
          <p:cNvSpPr>
            <a:spLocks noChangeArrowheads="1"/>
          </p:cNvSpPr>
          <p:nvPr/>
        </p:nvSpPr>
        <p:spPr bwMode="auto">
          <a:xfrm>
            <a:off x="5791200" y="5257800"/>
            <a:ext cx="1371600" cy="762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400"/>
              <a:t>  EDR : Ci</a:t>
            </a:r>
          </a:p>
          <a:p>
            <a:pPr eaLnBrk="1" hangingPunct="1"/>
            <a:r>
              <a:rPr lang="en-US" altLang="ja-JP" sz="1400"/>
              <a:t>  WordNet: Cj</a:t>
            </a:r>
          </a:p>
          <a:p>
            <a:pPr eaLnBrk="1" hangingPunct="1"/>
            <a:r>
              <a:rPr lang="en-US" altLang="ja-JP" sz="1400"/>
              <a:t>  EDR : Ck</a:t>
            </a:r>
          </a:p>
        </p:txBody>
      </p:sp>
      <p:sp>
        <p:nvSpPr>
          <p:cNvPr id="51244" name="Text Box 100"/>
          <p:cNvSpPr txBox="1">
            <a:spLocks noChangeArrowheads="1"/>
          </p:cNvSpPr>
          <p:nvPr/>
        </p:nvSpPr>
        <p:spPr bwMode="auto">
          <a:xfrm>
            <a:off x="4513264" y="5943600"/>
            <a:ext cx="3106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400"/>
              <a:t>………………………………………..</a:t>
            </a:r>
          </a:p>
        </p:txBody>
      </p:sp>
      <p:sp>
        <p:nvSpPr>
          <p:cNvPr id="51245" name="Text Box 101"/>
          <p:cNvSpPr txBox="1">
            <a:spLocks noChangeArrowheads="1"/>
          </p:cNvSpPr>
          <p:nvPr/>
        </p:nvSpPr>
        <p:spPr bwMode="auto">
          <a:xfrm>
            <a:off x="4495800" y="5029201"/>
            <a:ext cx="954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b="1"/>
              <a:t>入力語集合</a:t>
            </a:r>
            <a:endParaRPr lang="en-US" altLang="ja-JP" sz="1200" b="1"/>
          </a:p>
        </p:txBody>
      </p:sp>
      <p:sp>
        <p:nvSpPr>
          <p:cNvPr id="51246" name="Text Box 102"/>
          <p:cNvSpPr txBox="1">
            <a:spLocks noChangeArrowheads="1"/>
          </p:cNvSpPr>
          <p:nvPr/>
        </p:nvSpPr>
        <p:spPr bwMode="auto">
          <a:xfrm>
            <a:off x="5867401" y="5029201"/>
            <a:ext cx="1108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b="1"/>
              <a:t>入力概念集合</a:t>
            </a:r>
            <a:endParaRPr lang="en-US" altLang="ja-JP" sz="1200" b="1"/>
          </a:p>
        </p:txBody>
      </p:sp>
      <p:sp>
        <p:nvSpPr>
          <p:cNvPr id="78" name="左右矢印 77"/>
          <p:cNvSpPr/>
          <p:nvPr/>
        </p:nvSpPr>
        <p:spPr>
          <a:xfrm>
            <a:off x="7162800" y="5486400"/>
            <a:ext cx="762000" cy="304800"/>
          </a:xfrm>
          <a:prstGeom prst="left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79" name="AutoShape 51"/>
          <p:cNvSpPr>
            <a:spLocks noChangeArrowheads="1"/>
          </p:cNvSpPr>
          <p:nvPr/>
        </p:nvSpPr>
        <p:spPr bwMode="auto">
          <a:xfrm>
            <a:off x="5791200" y="3556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80" name="正方形/長方形 79"/>
          <p:cNvSpPr/>
          <p:nvPr/>
        </p:nvSpPr>
        <p:spPr>
          <a:xfrm>
            <a:off x="5105400" y="1752600"/>
            <a:ext cx="17526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600" dirty="0"/>
              <a:t>用語集合</a:t>
            </a:r>
          </a:p>
        </p:txBody>
      </p:sp>
      <p:sp>
        <p:nvSpPr>
          <p:cNvPr id="81" name="正方形/長方形 80"/>
          <p:cNvSpPr/>
          <p:nvPr/>
        </p:nvSpPr>
        <p:spPr>
          <a:xfrm>
            <a:off x="5105400" y="4038600"/>
            <a:ext cx="17526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600" dirty="0"/>
              <a:t>入力語集合</a:t>
            </a:r>
          </a:p>
        </p:txBody>
      </p:sp>
      <p:sp>
        <p:nvSpPr>
          <p:cNvPr id="82" name="正方形/長方形 81"/>
          <p:cNvSpPr/>
          <p:nvPr/>
        </p:nvSpPr>
        <p:spPr>
          <a:xfrm>
            <a:off x="5105400" y="6553200"/>
            <a:ext cx="17526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600" dirty="0"/>
              <a:t>入力概念集合</a:t>
            </a:r>
          </a:p>
        </p:txBody>
      </p:sp>
      <p:sp>
        <p:nvSpPr>
          <p:cNvPr id="83" name="AutoShape 86"/>
          <p:cNvSpPr>
            <a:spLocks noChangeArrowheads="1"/>
          </p:cNvSpPr>
          <p:nvPr/>
        </p:nvSpPr>
        <p:spPr bwMode="auto">
          <a:xfrm>
            <a:off x="5105400" y="2362200"/>
            <a:ext cx="17526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1600" b="1" dirty="0">
                <a:solidFill>
                  <a:srgbClr val="006600"/>
                </a:solidFill>
              </a:rPr>
              <a:t>入力語選択</a:t>
            </a:r>
            <a:endParaRPr lang="en-US" altLang="ja-JP" sz="1600" b="1" dirty="0">
              <a:solidFill>
                <a:srgbClr val="006600"/>
              </a:solidFill>
            </a:endParaRPr>
          </a:p>
        </p:txBody>
      </p:sp>
      <p:sp>
        <p:nvSpPr>
          <p:cNvPr id="84" name="AutoShape 51"/>
          <p:cNvSpPr>
            <a:spLocks noChangeArrowheads="1"/>
          </p:cNvSpPr>
          <p:nvPr/>
        </p:nvSpPr>
        <p:spPr bwMode="auto">
          <a:xfrm>
            <a:off x="5791200" y="14224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85" name="AutoShape 51"/>
          <p:cNvSpPr>
            <a:spLocks noChangeArrowheads="1"/>
          </p:cNvSpPr>
          <p:nvPr/>
        </p:nvSpPr>
        <p:spPr bwMode="auto">
          <a:xfrm>
            <a:off x="5791200" y="20574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87" name="AutoShape 51"/>
          <p:cNvSpPr>
            <a:spLocks noChangeArrowheads="1"/>
          </p:cNvSpPr>
          <p:nvPr/>
        </p:nvSpPr>
        <p:spPr bwMode="auto">
          <a:xfrm>
            <a:off x="5791200" y="37338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88" name="AutoShape 86"/>
          <p:cNvSpPr>
            <a:spLocks noChangeArrowheads="1"/>
          </p:cNvSpPr>
          <p:nvPr/>
        </p:nvSpPr>
        <p:spPr bwMode="auto">
          <a:xfrm>
            <a:off x="5105400" y="4648200"/>
            <a:ext cx="17526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1600" b="1" dirty="0">
                <a:solidFill>
                  <a:srgbClr val="006600"/>
                </a:solidFill>
              </a:rPr>
              <a:t>入力概念選択</a:t>
            </a:r>
            <a:endParaRPr lang="en-US" altLang="ja-JP" sz="1600" b="1" dirty="0">
              <a:solidFill>
                <a:srgbClr val="006600"/>
              </a:solidFill>
            </a:endParaRPr>
          </a:p>
        </p:txBody>
      </p:sp>
      <p:sp>
        <p:nvSpPr>
          <p:cNvPr id="89" name="AutoShape 51"/>
          <p:cNvSpPr>
            <a:spLocks noChangeArrowheads="1"/>
          </p:cNvSpPr>
          <p:nvPr/>
        </p:nvSpPr>
        <p:spPr bwMode="auto">
          <a:xfrm>
            <a:off x="5791200" y="62230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86" name="AutoShape 51"/>
          <p:cNvSpPr>
            <a:spLocks noChangeArrowheads="1"/>
          </p:cNvSpPr>
          <p:nvPr/>
        </p:nvSpPr>
        <p:spPr bwMode="auto">
          <a:xfrm>
            <a:off x="5791200" y="43434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>
            <a:extLst>
              <a:ext uri="{FF2B5EF4-FFF2-40B4-BE49-F238E27FC236}">
                <a16:creationId xmlns:a16="http://schemas.microsoft.com/office/drawing/2014/main" id="{7C53F480-6D23-7B64-8BF3-6F2FAD33B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276" y="5200523"/>
            <a:ext cx="2091112" cy="1406552"/>
          </a:xfrm>
          <a:prstGeom prst="can">
            <a:avLst>
              <a:gd name="adj" fmla="val 25000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参照</a:t>
            </a:r>
            <a:endParaRPr lang="en-US" altLang="ja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>
              <a:defRPr/>
            </a:pPr>
            <a:r>
              <a:rPr lang="ja-JP" alt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オントロジー</a:t>
            </a:r>
            <a:endParaRPr lang="en-US" altLang="ja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3" name="グループ化 93">
            <a:extLst>
              <a:ext uri="{FF2B5EF4-FFF2-40B4-BE49-F238E27FC236}">
                <a16:creationId xmlns:a16="http://schemas.microsoft.com/office/drawing/2014/main" id="{BA596D1E-7775-9D8A-C377-CFEF8DDA62F3}"/>
              </a:ext>
            </a:extLst>
          </p:cNvPr>
          <p:cNvGrpSpPr>
            <a:grpSpLocks/>
          </p:cNvGrpSpPr>
          <p:nvPr/>
        </p:nvGrpSpPr>
        <p:grpSpPr bwMode="auto">
          <a:xfrm>
            <a:off x="173462" y="3108183"/>
            <a:ext cx="1936519" cy="2006674"/>
            <a:chOff x="3733800" y="-609600"/>
            <a:chExt cx="1447800" cy="1345902"/>
          </a:xfrm>
        </p:grpSpPr>
        <p:grpSp>
          <p:nvGrpSpPr>
            <p:cNvPr id="4" name="グループ化 89">
              <a:extLst>
                <a:ext uri="{FF2B5EF4-FFF2-40B4-BE49-F238E27FC236}">
                  <a16:creationId xmlns:a16="http://schemas.microsoft.com/office/drawing/2014/main" id="{539263B1-CC68-9703-6356-E4F3973869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3800" y="-609600"/>
              <a:ext cx="1197926" cy="836507"/>
              <a:chOff x="3733800" y="-609600"/>
              <a:chExt cx="1197926" cy="836507"/>
            </a:xfrm>
          </p:grpSpPr>
          <p:sp>
            <p:nvSpPr>
              <p:cNvPr id="35" name="Rectangle 11">
                <a:extLst>
                  <a:ext uri="{FF2B5EF4-FFF2-40B4-BE49-F238E27FC236}">
                    <a16:creationId xmlns:a16="http://schemas.microsoft.com/office/drawing/2014/main" id="{3F5EC962-6F5A-3ECB-1D1C-6C8F72681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5746" y="-545394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6" name="Rectangle 12">
                <a:extLst>
                  <a:ext uri="{FF2B5EF4-FFF2-40B4-BE49-F238E27FC236}">
                    <a16:creationId xmlns:a16="http://schemas.microsoft.com/office/drawing/2014/main" id="{12654EFD-080A-669A-75BD-FCED91ACB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3800" y="-609600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7" name="Line 13">
                <a:extLst>
                  <a:ext uri="{FF2B5EF4-FFF2-40B4-BE49-F238E27FC236}">
                    <a16:creationId xmlns:a16="http://schemas.microsoft.com/office/drawing/2014/main" id="{E8EFE2FD-99BA-211A-FFAB-5ED0C30F1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-15924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8" name="Line 14">
                <a:extLst>
                  <a:ext uri="{FF2B5EF4-FFF2-40B4-BE49-F238E27FC236}">
                    <a16:creationId xmlns:a16="http://schemas.microsoft.com/office/drawing/2014/main" id="{C73FEEC0-D1BB-A341-A872-809C21ABC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-95038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9" name="Line 15">
                <a:extLst>
                  <a:ext uri="{FF2B5EF4-FFF2-40B4-BE49-F238E27FC236}">
                    <a16:creationId xmlns:a16="http://schemas.microsoft.com/office/drawing/2014/main" id="{6B56DB9B-0E80-2BC7-AF43-676135118C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-30833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0" name="Line 16">
                <a:extLst>
                  <a:ext uri="{FF2B5EF4-FFF2-40B4-BE49-F238E27FC236}">
                    <a16:creationId xmlns:a16="http://schemas.microsoft.com/office/drawing/2014/main" id="{7FBA8A19-F292-1D40-7199-C68E027BB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3429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1" name="Line 17">
                <a:extLst>
                  <a:ext uri="{FF2B5EF4-FFF2-40B4-BE49-F238E27FC236}">
                    <a16:creationId xmlns:a16="http://schemas.microsoft.com/office/drawing/2014/main" id="{39377C77-1FF0-1652-5683-28FD6ABB4B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98496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2" name="Line 18">
                <a:extLst>
                  <a:ext uri="{FF2B5EF4-FFF2-40B4-BE49-F238E27FC236}">
                    <a16:creationId xmlns:a16="http://schemas.microsoft.com/office/drawing/2014/main" id="{8F36CCAD-596F-0E24-3FB4-77A038638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-223449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3" name="Line 19">
                <a:extLst>
                  <a:ext uri="{FF2B5EF4-FFF2-40B4-BE49-F238E27FC236}">
                    <a16:creationId xmlns:a16="http://schemas.microsoft.com/office/drawing/2014/main" id="{B338A51E-274C-4B40-0BDF-1E54C3B5FB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5746" y="-28765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5" name="グループ化 90">
              <a:extLst>
                <a:ext uri="{FF2B5EF4-FFF2-40B4-BE49-F238E27FC236}">
                  <a16:creationId xmlns:a16="http://schemas.microsoft.com/office/drawing/2014/main" id="{715E06CF-349A-681E-1DBF-608FAC29E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6479" y="-556305"/>
              <a:ext cx="1197926" cy="836507"/>
              <a:chOff x="3816479" y="-556305"/>
              <a:chExt cx="1197926" cy="836507"/>
            </a:xfrm>
          </p:grpSpPr>
          <p:sp>
            <p:nvSpPr>
              <p:cNvPr id="26" name="Rectangle 21">
                <a:extLst>
                  <a:ext uri="{FF2B5EF4-FFF2-40B4-BE49-F238E27FC236}">
                    <a16:creationId xmlns:a16="http://schemas.microsoft.com/office/drawing/2014/main" id="{98129E61-D43B-C184-EA84-1D40C55EA6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25" y="-492099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7" name="Rectangle 22">
                <a:extLst>
                  <a:ext uri="{FF2B5EF4-FFF2-40B4-BE49-F238E27FC236}">
                    <a16:creationId xmlns:a16="http://schemas.microsoft.com/office/drawing/2014/main" id="{01ACC94A-1569-8F4A-638B-AD1F9D1F7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6479" y="-556305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" name="Line 23">
                <a:extLst>
                  <a:ext uri="{FF2B5EF4-FFF2-40B4-BE49-F238E27FC236}">
                    <a16:creationId xmlns:a16="http://schemas.microsoft.com/office/drawing/2014/main" id="{8D560FDE-1AAB-E460-2628-F78814C6EB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-105949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9" name="Line 24">
                <a:extLst>
                  <a:ext uri="{FF2B5EF4-FFF2-40B4-BE49-F238E27FC236}">
                    <a16:creationId xmlns:a16="http://schemas.microsoft.com/office/drawing/2014/main" id="{601FA543-0544-B7C4-54A6-80142C85B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-41743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0" name="Line 25">
                <a:extLst>
                  <a:ext uri="{FF2B5EF4-FFF2-40B4-BE49-F238E27FC236}">
                    <a16:creationId xmlns:a16="http://schemas.microsoft.com/office/drawing/2014/main" id="{61C67C00-B936-FE16-B2AA-D9A63B796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22462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1" name="Line 26">
                <a:extLst>
                  <a:ext uri="{FF2B5EF4-FFF2-40B4-BE49-F238E27FC236}">
                    <a16:creationId xmlns:a16="http://schemas.microsoft.com/office/drawing/2014/main" id="{13BBC53F-3E0A-A98F-1429-4593C435F4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8758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2" name="Line 27">
                <a:extLst>
                  <a:ext uri="{FF2B5EF4-FFF2-40B4-BE49-F238E27FC236}">
                    <a16:creationId xmlns:a16="http://schemas.microsoft.com/office/drawing/2014/main" id="{42FADABF-7442-70A0-9243-5F307DF382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151791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3" name="Line 28">
                <a:extLst>
                  <a:ext uri="{FF2B5EF4-FFF2-40B4-BE49-F238E27FC236}">
                    <a16:creationId xmlns:a16="http://schemas.microsoft.com/office/drawing/2014/main" id="{D75D6F96-FA65-BE6E-CFC6-9689692AE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-17015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4" name="Line 29">
                <a:extLst>
                  <a:ext uri="{FF2B5EF4-FFF2-40B4-BE49-F238E27FC236}">
                    <a16:creationId xmlns:a16="http://schemas.microsoft.com/office/drawing/2014/main" id="{2DE27E5E-4566-7505-0629-534CAD2C4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-23436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6" name="グループ化 91">
              <a:extLst>
                <a:ext uri="{FF2B5EF4-FFF2-40B4-BE49-F238E27FC236}">
                  <a16:creationId xmlns:a16="http://schemas.microsoft.com/office/drawing/2014/main" id="{79BD875B-348E-84CC-8ABA-C373D07145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0995" y="-508802"/>
              <a:ext cx="1197926" cy="836507"/>
              <a:chOff x="3900995" y="-508802"/>
              <a:chExt cx="1197926" cy="836507"/>
            </a:xfrm>
          </p:grpSpPr>
          <p:sp>
            <p:nvSpPr>
              <p:cNvPr id="17" name="Rectangle 31">
                <a:extLst>
                  <a:ext uri="{FF2B5EF4-FFF2-40B4-BE49-F238E27FC236}">
                    <a16:creationId xmlns:a16="http://schemas.microsoft.com/office/drawing/2014/main" id="{BE67B046-AE5F-6712-9684-9091AC8994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941" y="-444596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" name="Rectangle 32">
                <a:extLst>
                  <a:ext uri="{FF2B5EF4-FFF2-40B4-BE49-F238E27FC236}">
                    <a16:creationId xmlns:a16="http://schemas.microsoft.com/office/drawing/2014/main" id="{4D3443D9-D27B-D8C0-A79B-7A5B03E0D7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0995" y="-508802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" name="Line 33">
                <a:extLst>
                  <a:ext uri="{FF2B5EF4-FFF2-40B4-BE49-F238E27FC236}">
                    <a16:creationId xmlns:a16="http://schemas.microsoft.com/office/drawing/2014/main" id="{9CAB7A39-3C74-C59E-C599-8043B75B0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-58446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0" name="Line 34">
                <a:extLst>
                  <a:ext uri="{FF2B5EF4-FFF2-40B4-BE49-F238E27FC236}">
                    <a16:creationId xmlns:a16="http://schemas.microsoft.com/office/drawing/2014/main" id="{530F9F5A-F6E4-5C1B-B5E6-4CC1A3DEB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576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1" name="Line 35">
                <a:extLst>
                  <a:ext uri="{FF2B5EF4-FFF2-40B4-BE49-F238E27FC236}">
                    <a16:creationId xmlns:a16="http://schemas.microsoft.com/office/drawing/2014/main" id="{0942431C-5DC9-4C29-7C16-83FFC581E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6996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2" name="Line 36">
                <a:extLst>
                  <a:ext uri="{FF2B5EF4-FFF2-40B4-BE49-F238E27FC236}">
                    <a16:creationId xmlns:a16="http://schemas.microsoft.com/office/drawing/2014/main" id="{50AA9306-0C0D-9A71-47A6-9F583E024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135088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3" name="Line 37">
                <a:extLst>
                  <a:ext uri="{FF2B5EF4-FFF2-40B4-BE49-F238E27FC236}">
                    <a16:creationId xmlns:a16="http://schemas.microsoft.com/office/drawing/2014/main" id="{1BA6AFDB-D3C4-B268-D8C9-A4F96E38D1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19929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4" name="Line 38">
                <a:extLst>
                  <a:ext uri="{FF2B5EF4-FFF2-40B4-BE49-F238E27FC236}">
                    <a16:creationId xmlns:a16="http://schemas.microsoft.com/office/drawing/2014/main" id="{8F6C6F8A-CB1D-A432-1E12-ECA103703A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-122651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5" name="Line 39">
                <a:extLst>
                  <a:ext uri="{FF2B5EF4-FFF2-40B4-BE49-F238E27FC236}">
                    <a16:creationId xmlns:a16="http://schemas.microsoft.com/office/drawing/2014/main" id="{DC96A975-D24E-2544-48D1-EFBC2A649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941" y="-186857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7" name="Rectangle 41">
              <a:extLst>
                <a:ext uri="{FF2B5EF4-FFF2-40B4-BE49-F238E27FC236}">
                  <a16:creationId xmlns:a16="http://schemas.microsoft.com/office/drawing/2014/main" id="{A48EB697-5DEA-F736-42BD-DEDA2D0BC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5620" y="-391301"/>
              <a:ext cx="1105980" cy="772301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Rectangle 42">
              <a:extLst>
                <a:ext uri="{FF2B5EF4-FFF2-40B4-BE49-F238E27FC236}">
                  <a16:creationId xmlns:a16="http://schemas.microsoft.com/office/drawing/2014/main" id="{1E2A185C-D3DE-023A-81DA-762F53D45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674" y="-455507"/>
              <a:ext cx="1105980" cy="77230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Ctr="1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ja-JP" altLang="ja-JP" sz="12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Line 43">
              <a:extLst>
                <a:ext uri="{FF2B5EF4-FFF2-40B4-BE49-F238E27FC236}">
                  <a16:creationId xmlns:a16="http://schemas.microsoft.com/office/drawing/2014/main" id="{A2787B13-4308-A63F-7179-E62C209CF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-5151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Line 44">
              <a:extLst>
                <a:ext uri="{FF2B5EF4-FFF2-40B4-BE49-F238E27FC236}">
                  <a16:creationId xmlns:a16="http://schemas.microsoft.com/office/drawing/2014/main" id="{6E8E2344-DB6B-24AC-C3A3-9BA865982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59055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" name="Line 45">
              <a:extLst>
                <a:ext uri="{FF2B5EF4-FFF2-40B4-BE49-F238E27FC236}">
                  <a16:creationId xmlns:a16="http://schemas.microsoft.com/office/drawing/2014/main" id="{B73EC299-C925-EADC-C38D-85BB5AA96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123260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" name="Line 46">
              <a:extLst>
                <a:ext uri="{FF2B5EF4-FFF2-40B4-BE49-F238E27FC236}">
                  <a16:creationId xmlns:a16="http://schemas.microsoft.com/office/drawing/2014/main" id="{3DFD369D-4DF3-D0F3-4B38-F6AEBA0E4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188383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Line 47">
              <a:extLst>
                <a:ext uri="{FF2B5EF4-FFF2-40B4-BE49-F238E27FC236}">
                  <a16:creationId xmlns:a16="http://schemas.microsoft.com/office/drawing/2014/main" id="{3566456D-6C3A-AF68-F1AD-7B9E5A29D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252589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Line 48">
              <a:extLst>
                <a:ext uri="{FF2B5EF4-FFF2-40B4-BE49-F238E27FC236}">
                  <a16:creationId xmlns:a16="http://schemas.microsoft.com/office/drawing/2014/main" id="{530C5145-06DB-7150-D724-F04D691FC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-69356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Line 49">
              <a:extLst>
                <a:ext uri="{FF2B5EF4-FFF2-40B4-BE49-F238E27FC236}">
                  <a16:creationId xmlns:a16="http://schemas.microsoft.com/office/drawing/2014/main" id="{46EC6EDA-195F-C17A-4295-09AA060D4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620" y="-133562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Text Box 50">
              <a:extLst>
                <a:ext uri="{FF2B5EF4-FFF2-40B4-BE49-F238E27FC236}">
                  <a16:creationId xmlns:a16="http://schemas.microsoft.com/office/drawing/2014/main" id="{201FBE0A-2A09-BB53-9E3A-7AADE8EC1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6266" y="467943"/>
              <a:ext cx="1310297" cy="268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ja-JP" altLang="en-US" sz="2000">
                  <a:latin typeface="Meiryo" panose="020B0604030504040204" pitchFamily="34" charset="-128"/>
                  <a:ea typeface="Meiryo" panose="020B0604030504040204" pitchFamily="34" charset="-128"/>
                </a:rPr>
                <a:t>領域専門文書</a:t>
              </a:r>
              <a:endPara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45" name="AutoShape 86">
            <a:extLst>
              <a:ext uri="{FF2B5EF4-FFF2-40B4-BE49-F238E27FC236}">
                <a16:creationId xmlns:a16="http://schemas.microsoft.com/office/drawing/2014/main" id="{D110BCD6-0788-BE50-8EBC-81A4225EA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135" y="3316725"/>
            <a:ext cx="1688798" cy="1105656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入力文書</a:t>
            </a:r>
            <a:endParaRPr lang="en-US" altLang="ja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>
              <a:defRPr/>
            </a:pP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選択</a:t>
            </a:r>
            <a:endParaRPr lang="en-US" altLang="ja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32276FA5-C956-946F-5AAC-4294C56F4E0F}"/>
              </a:ext>
            </a:extLst>
          </p:cNvPr>
          <p:cNvSpPr/>
          <p:nvPr/>
        </p:nvSpPr>
        <p:spPr>
          <a:xfrm>
            <a:off x="10128456" y="3404746"/>
            <a:ext cx="1752600" cy="10011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入力概念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>
              <a:defRPr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集合</a:t>
            </a:r>
            <a:endParaRPr lang="ja-JP" alt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" name="AutoShape 86">
            <a:extLst>
              <a:ext uri="{FF2B5EF4-FFF2-40B4-BE49-F238E27FC236}">
                <a16:creationId xmlns:a16="http://schemas.microsoft.com/office/drawing/2014/main" id="{253BE849-0FA4-BC1E-1C49-E40700ED0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043" y="3341628"/>
            <a:ext cx="1752600" cy="108075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入力語</a:t>
            </a:r>
            <a:endParaRPr lang="en-US" altLang="ja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>
              <a:defRPr/>
            </a:pP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選択</a:t>
            </a:r>
            <a:endParaRPr lang="en-US" altLang="ja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0" name="AutoShape 86">
            <a:extLst>
              <a:ext uri="{FF2B5EF4-FFF2-40B4-BE49-F238E27FC236}">
                <a16:creationId xmlns:a16="http://schemas.microsoft.com/office/drawing/2014/main" id="{AAF570E5-97FA-F639-60CE-EA94CA970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532" y="3365208"/>
            <a:ext cx="1752600" cy="105573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入力概念</a:t>
            </a:r>
            <a:endParaRPr lang="en-US" altLang="ja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>
              <a:defRPr/>
            </a:pP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選択</a:t>
            </a:r>
            <a:endParaRPr lang="en-US" altLang="ja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右矢印 50">
            <a:extLst>
              <a:ext uri="{FF2B5EF4-FFF2-40B4-BE49-F238E27FC236}">
                <a16:creationId xmlns:a16="http://schemas.microsoft.com/office/drawing/2014/main" id="{91C4228C-0200-D9A8-1D4B-0F40601CF530}"/>
              </a:ext>
            </a:extLst>
          </p:cNvPr>
          <p:cNvSpPr/>
          <p:nvPr/>
        </p:nvSpPr>
        <p:spPr bwMode="auto">
          <a:xfrm>
            <a:off x="2132235" y="3663019"/>
            <a:ext cx="591568" cy="48463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右矢印 51">
            <a:extLst>
              <a:ext uri="{FF2B5EF4-FFF2-40B4-BE49-F238E27FC236}">
                <a16:creationId xmlns:a16="http://schemas.microsoft.com/office/drawing/2014/main" id="{0E508E25-6FE5-4D7C-3D14-CA62FB1C44B8}"/>
              </a:ext>
            </a:extLst>
          </p:cNvPr>
          <p:cNvSpPr/>
          <p:nvPr/>
        </p:nvSpPr>
        <p:spPr bwMode="auto">
          <a:xfrm>
            <a:off x="4479704" y="3640511"/>
            <a:ext cx="591568" cy="48463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右矢印 52">
            <a:extLst>
              <a:ext uri="{FF2B5EF4-FFF2-40B4-BE49-F238E27FC236}">
                <a16:creationId xmlns:a16="http://schemas.microsoft.com/office/drawing/2014/main" id="{CE90E1FF-839B-7BBC-5BAE-315F71DE5454}"/>
              </a:ext>
            </a:extLst>
          </p:cNvPr>
          <p:cNvSpPr/>
          <p:nvPr/>
        </p:nvSpPr>
        <p:spPr bwMode="auto">
          <a:xfrm>
            <a:off x="6945414" y="3616786"/>
            <a:ext cx="591568" cy="48463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右矢印 53">
            <a:extLst>
              <a:ext uri="{FF2B5EF4-FFF2-40B4-BE49-F238E27FC236}">
                <a16:creationId xmlns:a16="http://schemas.microsoft.com/office/drawing/2014/main" id="{58035680-3EC0-F87D-247F-5DD277FD0293}"/>
              </a:ext>
            </a:extLst>
          </p:cNvPr>
          <p:cNvSpPr/>
          <p:nvPr/>
        </p:nvSpPr>
        <p:spPr bwMode="auto">
          <a:xfrm>
            <a:off x="9461865" y="3679287"/>
            <a:ext cx="591568" cy="48463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右矢印 54">
            <a:extLst>
              <a:ext uri="{FF2B5EF4-FFF2-40B4-BE49-F238E27FC236}">
                <a16:creationId xmlns:a16="http://schemas.microsoft.com/office/drawing/2014/main" id="{8A922E8D-BEE2-03D7-E886-A116CDF63846}"/>
              </a:ext>
            </a:extLst>
          </p:cNvPr>
          <p:cNvSpPr/>
          <p:nvPr/>
        </p:nvSpPr>
        <p:spPr bwMode="auto">
          <a:xfrm rot="16200000">
            <a:off x="8164048" y="4547102"/>
            <a:ext cx="591568" cy="48463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Text Box 50">
            <a:extLst>
              <a:ext uri="{FF2B5EF4-FFF2-40B4-BE49-F238E27FC236}">
                <a16:creationId xmlns:a16="http://schemas.microsoft.com/office/drawing/2014/main" id="{62235236-F385-2FD4-4821-08F20F624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9187" y="2883261"/>
            <a:ext cx="17526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用語集合</a:t>
            </a: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Text Box 50">
            <a:extLst>
              <a:ext uri="{FF2B5EF4-FFF2-40B4-BE49-F238E27FC236}">
                <a16:creationId xmlns:a16="http://schemas.microsoft.com/office/drawing/2014/main" id="{D39DB508-AF69-C13E-B273-6D4C496B9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4897" y="2883261"/>
            <a:ext cx="17526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入力語集合</a:t>
            </a: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1949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2815095" y="3057896"/>
            <a:ext cx="2590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1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参照オントロジー</a:t>
            </a:r>
          </a:p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概念階層</a:t>
            </a:r>
          </a:p>
        </p:txBody>
      </p:sp>
      <p:sp>
        <p:nvSpPr>
          <p:cNvPr id="52229" name="Text Box 4"/>
          <p:cNvSpPr txBox="1">
            <a:spLocks noChangeArrowheads="1"/>
          </p:cNvSpPr>
          <p:nvPr/>
        </p:nvSpPr>
        <p:spPr bwMode="auto">
          <a:xfrm>
            <a:off x="2836383" y="1659528"/>
            <a:ext cx="8001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照合</a:t>
            </a:r>
          </a:p>
        </p:txBody>
      </p:sp>
      <p:sp>
        <p:nvSpPr>
          <p:cNvPr id="52230" name="Text Box 5"/>
          <p:cNvSpPr txBox="1">
            <a:spLocks noChangeArrowheads="1"/>
          </p:cNvSpPr>
          <p:nvPr/>
        </p:nvSpPr>
        <p:spPr bwMode="auto">
          <a:xfrm>
            <a:off x="1595894" y="3063485"/>
            <a:ext cx="121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入力概念</a:t>
            </a:r>
            <a:endParaRPr lang="en-US" altLang="ja-JP" sz="20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集合</a:t>
            </a:r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1676400" y="2111375"/>
            <a:ext cx="1219200" cy="685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88" name="Oval 8"/>
          <p:cNvSpPr>
            <a:spLocks noChangeArrowheads="1"/>
          </p:cNvSpPr>
          <p:nvPr/>
        </p:nvSpPr>
        <p:spPr bwMode="auto">
          <a:xfrm>
            <a:off x="1820864" y="224313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89" name="Oval 9"/>
          <p:cNvSpPr>
            <a:spLocks noChangeArrowheads="1"/>
          </p:cNvSpPr>
          <p:nvPr/>
        </p:nvSpPr>
        <p:spPr bwMode="auto">
          <a:xfrm>
            <a:off x="2036764" y="245903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0" name="Oval 10"/>
          <p:cNvSpPr>
            <a:spLocks noChangeArrowheads="1"/>
          </p:cNvSpPr>
          <p:nvPr/>
        </p:nvSpPr>
        <p:spPr bwMode="auto">
          <a:xfrm>
            <a:off x="2324101" y="2316163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1" name="Oval 11"/>
          <p:cNvSpPr>
            <a:spLocks noChangeArrowheads="1"/>
          </p:cNvSpPr>
          <p:nvPr/>
        </p:nvSpPr>
        <p:spPr bwMode="auto">
          <a:xfrm>
            <a:off x="2613026" y="2316163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2" name="Oval 12"/>
          <p:cNvSpPr>
            <a:spLocks noChangeArrowheads="1"/>
          </p:cNvSpPr>
          <p:nvPr/>
        </p:nvSpPr>
        <p:spPr bwMode="auto">
          <a:xfrm>
            <a:off x="2397126" y="2532063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3" name="Oval 13"/>
          <p:cNvSpPr>
            <a:spLocks noChangeArrowheads="1"/>
          </p:cNvSpPr>
          <p:nvPr/>
        </p:nvSpPr>
        <p:spPr bwMode="auto">
          <a:xfrm>
            <a:off x="2108201" y="224313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4" name="Oval 14"/>
          <p:cNvSpPr>
            <a:spLocks noChangeArrowheads="1"/>
          </p:cNvSpPr>
          <p:nvPr/>
        </p:nvSpPr>
        <p:spPr bwMode="auto">
          <a:xfrm>
            <a:off x="1820864" y="2606676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5" name="Oval 15"/>
          <p:cNvSpPr>
            <a:spLocks noChangeArrowheads="1"/>
          </p:cNvSpPr>
          <p:nvPr/>
        </p:nvSpPr>
        <p:spPr bwMode="auto">
          <a:xfrm>
            <a:off x="2613026" y="2460626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096" name="Oval 16"/>
          <p:cNvSpPr>
            <a:spLocks noChangeArrowheads="1"/>
          </p:cNvSpPr>
          <p:nvPr/>
        </p:nvSpPr>
        <p:spPr bwMode="auto">
          <a:xfrm>
            <a:off x="2179639" y="2606676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52241" name="Group 17"/>
          <p:cNvGrpSpPr>
            <a:grpSpLocks/>
          </p:cNvGrpSpPr>
          <p:nvPr/>
        </p:nvGrpSpPr>
        <p:grpSpPr bwMode="auto">
          <a:xfrm>
            <a:off x="5592941" y="2068650"/>
            <a:ext cx="990600" cy="762000"/>
            <a:chOff x="249" y="3076"/>
            <a:chExt cx="1036" cy="602"/>
          </a:xfrm>
        </p:grpSpPr>
        <p:grpSp>
          <p:nvGrpSpPr>
            <p:cNvPr id="52393" name="Group 18"/>
            <p:cNvGrpSpPr>
              <a:grpSpLocks/>
            </p:cNvGrpSpPr>
            <p:nvPr/>
          </p:nvGrpSpPr>
          <p:grpSpPr bwMode="auto">
            <a:xfrm>
              <a:off x="983" y="3121"/>
              <a:ext cx="233" cy="467"/>
              <a:chOff x="1380" y="2668"/>
              <a:chExt cx="233" cy="467"/>
            </a:xfrm>
          </p:grpSpPr>
          <p:sp>
            <p:nvSpPr>
              <p:cNvPr id="52408" name="Oval 19"/>
              <p:cNvSpPr>
                <a:spLocks noChangeArrowheads="1"/>
              </p:cNvSpPr>
              <p:nvPr/>
            </p:nvSpPr>
            <p:spPr bwMode="auto">
              <a:xfrm>
                <a:off x="1380" y="2668"/>
                <a:ext cx="117" cy="8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409" name="Oval 22"/>
              <p:cNvSpPr>
                <a:spLocks noChangeArrowheads="1"/>
              </p:cNvSpPr>
              <p:nvPr/>
            </p:nvSpPr>
            <p:spPr bwMode="auto">
              <a:xfrm>
                <a:off x="1392" y="2926"/>
                <a:ext cx="118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cxnSp>
            <p:nvCxnSpPr>
              <p:cNvPr id="52410" name="AutoShape 23"/>
              <p:cNvCxnSpPr>
                <a:cxnSpLocks noChangeShapeType="1"/>
                <a:stCxn id="52408" idx="4"/>
                <a:endCxn id="46259" idx="0"/>
              </p:cNvCxnSpPr>
              <p:nvPr/>
            </p:nvCxnSpPr>
            <p:spPr bwMode="auto">
              <a:xfrm rot="16200000" flipH="1">
                <a:off x="1445" y="2743"/>
                <a:ext cx="162" cy="175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11" name="AutoShape 24"/>
              <p:cNvCxnSpPr>
                <a:cxnSpLocks noChangeShapeType="1"/>
                <a:stCxn id="52409" idx="4"/>
                <a:endCxn id="46258" idx="0"/>
              </p:cNvCxnSpPr>
              <p:nvPr/>
            </p:nvCxnSpPr>
            <p:spPr bwMode="auto">
              <a:xfrm rot="16200000" flipH="1">
                <a:off x="1390" y="3070"/>
                <a:ext cx="126" cy="3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12" name="AutoShape 25"/>
              <p:cNvCxnSpPr>
                <a:cxnSpLocks noChangeShapeType="1"/>
                <a:stCxn id="52409" idx="0"/>
                <a:endCxn id="52408" idx="4"/>
              </p:cNvCxnSpPr>
              <p:nvPr/>
            </p:nvCxnSpPr>
            <p:spPr bwMode="auto">
              <a:xfrm rot="16200000" flipV="1">
                <a:off x="1357" y="2832"/>
                <a:ext cx="176" cy="12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2394" name="Group 26"/>
            <p:cNvGrpSpPr>
              <a:grpSpLocks/>
            </p:cNvGrpSpPr>
            <p:nvPr/>
          </p:nvGrpSpPr>
          <p:grpSpPr bwMode="auto">
            <a:xfrm>
              <a:off x="318" y="3076"/>
              <a:ext cx="350" cy="470"/>
              <a:chOff x="356" y="3171"/>
              <a:chExt cx="350" cy="470"/>
            </a:xfrm>
          </p:grpSpPr>
          <p:sp>
            <p:nvSpPr>
              <p:cNvPr id="52403" name="Oval 27"/>
              <p:cNvSpPr>
                <a:spLocks noChangeArrowheads="1"/>
              </p:cNvSpPr>
              <p:nvPr/>
            </p:nvSpPr>
            <p:spPr bwMode="auto">
              <a:xfrm>
                <a:off x="588" y="3171"/>
                <a:ext cx="118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404" name="Oval 28"/>
              <p:cNvSpPr>
                <a:spLocks noChangeArrowheads="1"/>
              </p:cNvSpPr>
              <p:nvPr/>
            </p:nvSpPr>
            <p:spPr bwMode="auto">
              <a:xfrm>
                <a:off x="471" y="3391"/>
                <a:ext cx="117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cxnSp>
            <p:nvCxnSpPr>
              <p:cNvPr id="52405" name="AutoShape 31"/>
              <p:cNvCxnSpPr>
                <a:cxnSpLocks noChangeShapeType="1"/>
                <a:stCxn id="52403" idx="4"/>
                <a:endCxn id="52404" idx="0"/>
              </p:cNvCxnSpPr>
              <p:nvPr/>
            </p:nvCxnSpPr>
            <p:spPr bwMode="auto">
              <a:xfrm rot="5400000">
                <a:off x="520" y="3264"/>
                <a:ext cx="137" cy="118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06" name="AutoShape 32"/>
              <p:cNvCxnSpPr>
                <a:cxnSpLocks noChangeShapeType="1"/>
                <a:stCxn id="52404" idx="4"/>
                <a:endCxn id="46256" idx="0"/>
              </p:cNvCxnSpPr>
              <p:nvPr/>
            </p:nvCxnSpPr>
            <p:spPr bwMode="auto">
              <a:xfrm rot="5400000">
                <a:off x="360" y="3470"/>
                <a:ext cx="166" cy="174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07" name="AutoShape 33"/>
              <p:cNvCxnSpPr>
                <a:cxnSpLocks noChangeShapeType="1"/>
                <a:stCxn id="52404" idx="4"/>
                <a:endCxn id="46255" idx="0"/>
              </p:cNvCxnSpPr>
              <p:nvPr/>
            </p:nvCxnSpPr>
            <p:spPr bwMode="auto">
              <a:xfrm rot="16200000" flipH="1">
                <a:off x="479" y="3525"/>
                <a:ext cx="166" cy="65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2395" name="Group 34"/>
            <p:cNvGrpSpPr>
              <a:grpSpLocks/>
            </p:cNvGrpSpPr>
            <p:nvPr/>
          </p:nvGrpSpPr>
          <p:grpSpPr bwMode="auto">
            <a:xfrm>
              <a:off x="756" y="3121"/>
              <a:ext cx="119" cy="213"/>
              <a:chOff x="1429" y="2704"/>
              <a:chExt cx="119" cy="213"/>
            </a:xfrm>
          </p:grpSpPr>
          <p:sp>
            <p:nvSpPr>
              <p:cNvPr id="52401" name="Oval 35"/>
              <p:cNvSpPr>
                <a:spLocks noChangeArrowheads="1"/>
              </p:cNvSpPr>
              <p:nvPr/>
            </p:nvSpPr>
            <p:spPr bwMode="auto">
              <a:xfrm>
                <a:off x="1429" y="2704"/>
                <a:ext cx="118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cxnSp>
            <p:nvCxnSpPr>
              <p:cNvPr id="52402" name="AutoShape 37"/>
              <p:cNvCxnSpPr>
                <a:cxnSpLocks noChangeShapeType="1"/>
                <a:stCxn id="52401" idx="4"/>
                <a:endCxn id="46257" idx="0"/>
              </p:cNvCxnSpPr>
              <p:nvPr/>
            </p:nvCxnSpPr>
            <p:spPr bwMode="auto">
              <a:xfrm rot="16200000" flipH="1">
                <a:off x="1453" y="2822"/>
                <a:ext cx="130" cy="6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6255" name="Oval 38"/>
            <p:cNvSpPr>
              <a:spLocks noChangeArrowheads="1"/>
            </p:cNvSpPr>
            <p:nvPr/>
          </p:nvSpPr>
          <p:spPr bwMode="auto">
            <a:xfrm>
              <a:off x="488" y="3545"/>
              <a:ext cx="136" cy="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56" name="Oval 39"/>
            <p:cNvSpPr>
              <a:spLocks noChangeArrowheads="1"/>
            </p:cNvSpPr>
            <p:nvPr/>
          </p:nvSpPr>
          <p:spPr bwMode="auto">
            <a:xfrm>
              <a:off x="249" y="3545"/>
              <a:ext cx="138" cy="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57" name="Oval 40"/>
            <p:cNvSpPr>
              <a:spLocks noChangeArrowheads="1"/>
            </p:cNvSpPr>
            <p:nvPr/>
          </p:nvSpPr>
          <p:spPr bwMode="auto">
            <a:xfrm>
              <a:off x="807" y="3334"/>
              <a:ext cx="138" cy="8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58" name="Oval 41"/>
            <p:cNvSpPr>
              <a:spLocks noChangeArrowheads="1"/>
            </p:cNvSpPr>
            <p:nvPr/>
          </p:nvSpPr>
          <p:spPr bwMode="auto">
            <a:xfrm>
              <a:off x="989" y="3588"/>
              <a:ext cx="136" cy="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59" name="Oval 42"/>
            <p:cNvSpPr>
              <a:spLocks noChangeArrowheads="1"/>
            </p:cNvSpPr>
            <p:nvPr/>
          </p:nvSpPr>
          <p:spPr bwMode="auto">
            <a:xfrm>
              <a:off x="1147" y="3364"/>
              <a:ext cx="138" cy="8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52242" name="Group 44"/>
          <p:cNvGrpSpPr>
            <a:grpSpLocks/>
          </p:cNvGrpSpPr>
          <p:nvPr/>
        </p:nvGrpSpPr>
        <p:grpSpPr bwMode="auto">
          <a:xfrm>
            <a:off x="3613166" y="2003425"/>
            <a:ext cx="1060450" cy="825500"/>
            <a:chOff x="612" y="1162"/>
            <a:chExt cx="1160" cy="792"/>
          </a:xfrm>
        </p:grpSpPr>
        <p:grpSp>
          <p:nvGrpSpPr>
            <p:cNvPr id="52361" name="Group 45"/>
            <p:cNvGrpSpPr>
              <a:grpSpLocks/>
            </p:cNvGrpSpPr>
            <p:nvPr/>
          </p:nvGrpSpPr>
          <p:grpSpPr bwMode="auto">
            <a:xfrm>
              <a:off x="868" y="1162"/>
              <a:ext cx="667" cy="701"/>
              <a:chOff x="868" y="1133"/>
              <a:chExt cx="667" cy="701"/>
            </a:xfrm>
          </p:grpSpPr>
          <p:sp>
            <p:nvSpPr>
              <p:cNvPr id="52378" name="Oval 46"/>
              <p:cNvSpPr>
                <a:spLocks noChangeArrowheads="1"/>
              </p:cNvSpPr>
              <p:nvPr/>
            </p:nvSpPr>
            <p:spPr bwMode="auto">
              <a:xfrm>
                <a:off x="1079" y="1133"/>
                <a:ext cx="118" cy="8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79" name="Oval 47"/>
              <p:cNvSpPr>
                <a:spLocks noChangeArrowheads="1"/>
              </p:cNvSpPr>
              <p:nvPr/>
            </p:nvSpPr>
            <p:spPr bwMode="auto">
              <a:xfrm>
                <a:off x="1282" y="1369"/>
                <a:ext cx="117" cy="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80" name="Oval 48"/>
              <p:cNvSpPr>
                <a:spLocks noChangeArrowheads="1"/>
              </p:cNvSpPr>
              <p:nvPr/>
            </p:nvSpPr>
            <p:spPr bwMode="auto">
              <a:xfrm>
                <a:off x="962" y="1353"/>
                <a:ext cx="117" cy="8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81" name="Oval 49"/>
              <p:cNvSpPr>
                <a:spLocks noChangeArrowheads="1"/>
              </p:cNvSpPr>
              <p:nvPr/>
            </p:nvSpPr>
            <p:spPr bwMode="auto">
              <a:xfrm>
                <a:off x="1129" y="1365"/>
                <a:ext cx="117" cy="82"/>
              </a:xfrm>
              <a:prstGeom prst="ellipse">
                <a:avLst/>
              </a:prstGeom>
              <a:solidFill>
                <a:schemeClr val="hlink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82" name="Oval 54"/>
              <p:cNvSpPr>
                <a:spLocks noChangeArrowheads="1"/>
              </p:cNvSpPr>
              <p:nvPr/>
            </p:nvSpPr>
            <p:spPr bwMode="auto">
              <a:xfrm>
                <a:off x="1138" y="1639"/>
                <a:ext cx="117" cy="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83" name="Oval 55"/>
              <p:cNvSpPr>
                <a:spLocks noChangeArrowheads="1"/>
              </p:cNvSpPr>
              <p:nvPr/>
            </p:nvSpPr>
            <p:spPr bwMode="auto">
              <a:xfrm>
                <a:off x="1294" y="1627"/>
                <a:ext cx="118" cy="8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cxnSp>
            <p:nvCxnSpPr>
              <p:cNvPr id="52384" name="AutoShape 56"/>
              <p:cNvCxnSpPr>
                <a:cxnSpLocks noChangeShapeType="1"/>
                <a:stCxn id="52378" idx="4"/>
                <a:endCxn id="52380" idx="0"/>
              </p:cNvCxnSpPr>
              <p:nvPr/>
            </p:nvCxnSpPr>
            <p:spPr bwMode="auto">
              <a:xfrm rot="5400000">
                <a:off x="1011" y="1226"/>
                <a:ext cx="137" cy="118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5" name="AutoShape 57"/>
              <p:cNvCxnSpPr>
                <a:cxnSpLocks noChangeShapeType="1"/>
                <a:stCxn id="52378" idx="5"/>
                <a:endCxn id="52379" idx="0"/>
              </p:cNvCxnSpPr>
              <p:nvPr/>
            </p:nvCxnSpPr>
            <p:spPr bwMode="auto">
              <a:xfrm rot="16200000" flipH="1">
                <a:off x="1178" y="1206"/>
                <a:ext cx="165" cy="161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6" name="AutoShape 58"/>
              <p:cNvCxnSpPr>
                <a:cxnSpLocks noChangeShapeType="1"/>
                <a:stCxn id="52380" idx="4"/>
                <a:endCxn id="46213" idx="0"/>
              </p:cNvCxnSpPr>
              <p:nvPr/>
            </p:nvCxnSpPr>
            <p:spPr bwMode="auto">
              <a:xfrm flipH="1">
                <a:off x="868" y="1436"/>
                <a:ext cx="152" cy="20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7" name="AutoShape 59"/>
              <p:cNvCxnSpPr>
                <a:cxnSpLocks noChangeShapeType="1"/>
                <a:stCxn id="52380" idx="4"/>
                <a:endCxn id="46214" idx="0"/>
              </p:cNvCxnSpPr>
              <p:nvPr/>
            </p:nvCxnSpPr>
            <p:spPr bwMode="auto">
              <a:xfrm>
                <a:off x="1021" y="1436"/>
                <a:ext cx="14" cy="20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8" name="AutoShape 60"/>
              <p:cNvCxnSpPr>
                <a:cxnSpLocks noChangeShapeType="1"/>
                <a:stCxn id="52378" idx="4"/>
                <a:endCxn id="52381" idx="0"/>
              </p:cNvCxnSpPr>
              <p:nvPr/>
            </p:nvCxnSpPr>
            <p:spPr bwMode="auto">
              <a:xfrm>
                <a:off x="1138" y="1220"/>
                <a:ext cx="49" cy="141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9" name="AutoShape 61"/>
              <p:cNvCxnSpPr>
                <a:cxnSpLocks noChangeShapeType="1"/>
                <a:stCxn id="52379" idx="4"/>
                <a:endCxn id="46212" idx="0"/>
              </p:cNvCxnSpPr>
              <p:nvPr/>
            </p:nvCxnSpPr>
            <p:spPr bwMode="auto">
              <a:xfrm>
                <a:off x="1341" y="1451"/>
                <a:ext cx="194" cy="185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90" name="AutoShape 62"/>
              <p:cNvCxnSpPr>
                <a:cxnSpLocks noChangeShapeType="1"/>
                <a:stCxn id="52383" idx="4"/>
              </p:cNvCxnSpPr>
              <p:nvPr/>
            </p:nvCxnSpPr>
            <p:spPr bwMode="auto">
              <a:xfrm>
                <a:off x="1353" y="1714"/>
                <a:ext cx="23" cy="12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91" name="AutoShape 63"/>
              <p:cNvCxnSpPr>
                <a:cxnSpLocks noChangeShapeType="1"/>
                <a:stCxn id="52379" idx="4"/>
                <a:endCxn id="52382" idx="0"/>
              </p:cNvCxnSpPr>
              <p:nvPr/>
            </p:nvCxnSpPr>
            <p:spPr bwMode="auto">
              <a:xfrm flipH="1">
                <a:off x="1197" y="1455"/>
                <a:ext cx="144" cy="18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92" name="AutoShape 64"/>
              <p:cNvCxnSpPr>
                <a:cxnSpLocks noChangeShapeType="1"/>
                <a:stCxn id="52383" idx="0"/>
                <a:endCxn id="52379" idx="4"/>
              </p:cNvCxnSpPr>
              <p:nvPr/>
            </p:nvCxnSpPr>
            <p:spPr bwMode="auto">
              <a:xfrm flipH="1" flipV="1">
                <a:off x="1341" y="1455"/>
                <a:ext cx="12" cy="168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2362" name="Oval 65"/>
            <p:cNvSpPr>
              <a:spLocks noChangeArrowheads="1"/>
            </p:cNvSpPr>
            <p:nvPr/>
          </p:nvSpPr>
          <p:spPr bwMode="auto">
            <a:xfrm>
              <a:off x="839" y="1871"/>
              <a:ext cx="118" cy="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cxnSp>
          <p:nvCxnSpPr>
            <p:cNvPr id="52363" name="AutoShape 66"/>
            <p:cNvCxnSpPr>
              <a:cxnSpLocks noChangeShapeType="1"/>
              <a:endCxn id="52362" idx="0"/>
            </p:cNvCxnSpPr>
            <p:nvPr/>
          </p:nvCxnSpPr>
          <p:spPr bwMode="auto">
            <a:xfrm rot="10800000" flipV="1">
              <a:off x="898" y="1748"/>
              <a:ext cx="163" cy="12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4" name="AutoShape 67"/>
            <p:cNvCxnSpPr>
              <a:cxnSpLocks noChangeShapeType="1"/>
              <a:stCxn id="52379" idx="4"/>
              <a:endCxn id="52370" idx="0"/>
            </p:cNvCxnSpPr>
            <p:nvPr/>
          </p:nvCxnSpPr>
          <p:spPr bwMode="auto">
            <a:xfrm rot="16200000" flipH="1">
              <a:off x="1445" y="1376"/>
              <a:ext cx="165" cy="37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5" name="AutoShape 68"/>
            <p:cNvCxnSpPr>
              <a:cxnSpLocks noChangeShapeType="1"/>
              <a:stCxn id="52380" idx="4"/>
              <a:endCxn id="52372" idx="0"/>
            </p:cNvCxnSpPr>
            <p:nvPr/>
          </p:nvCxnSpPr>
          <p:spPr bwMode="auto">
            <a:xfrm rot="5400000">
              <a:off x="756" y="1380"/>
              <a:ext cx="180" cy="3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6" name="AutoShape 69"/>
            <p:cNvCxnSpPr>
              <a:cxnSpLocks noChangeShapeType="1"/>
              <a:endCxn id="52375" idx="0"/>
            </p:cNvCxnSpPr>
            <p:nvPr/>
          </p:nvCxnSpPr>
          <p:spPr bwMode="auto">
            <a:xfrm rot="10800000" flipV="1">
              <a:off x="716" y="1748"/>
              <a:ext cx="345" cy="12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7" name="AutoShape 70"/>
            <p:cNvCxnSpPr>
              <a:cxnSpLocks noChangeShapeType="1"/>
              <a:stCxn id="46212" idx="4"/>
            </p:cNvCxnSpPr>
            <p:nvPr/>
          </p:nvCxnSpPr>
          <p:spPr bwMode="auto">
            <a:xfrm rot="16200000" flipH="1">
              <a:off x="1615" y="1741"/>
              <a:ext cx="117" cy="16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8" name="AutoShape 71"/>
            <p:cNvCxnSpPr>
              <a:cxnSpLocks noChangeShapeType="1"/>
              <a:stCxn id="52383" idx="4"/>
              <a:endCxn id="52374" idx="0"/>
            </p:cNvCxnSpPr>
            <p:nvPr/>
          </p:nvCxnSpPr>
          <p:spPr bwMode="auto">
            <a:xfrm rot="16200000" flipH="1">
              <a:off x="1376" y="1716"/>
              <a:ext cx="132" cy="17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9" name="AutoShape 72"/>
            <p:cNvCxnSpPr>
              <a:cxnSpLocks noChangeShapeType="1"/>
              <a:stCxn id="52378" idx="3"/>
              <a:endCxn id="52371" idx="0"/>
            </p:cNvCxnSpPr>
            <p:nvPr/>
          </p:nvCxnSpPr>
          <p:spPr bwMode="auto">
            <a:xfrm rot="5400000">
              <a:off x="881" y="1158"/>
              <a:ext cx="140" cy="29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370" name="Oval 73"/>
            <p:cNvSpPr>
              <a:spLocks noChangeArrowheads="1"/>
            </p:cNvSpPr>
            <p:nvPr/>
          </p:nvSpPr>
          <p:spPr bwMode="auto">
            <a:xfrm>
              <a:off x="1655" y="1645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1" name="Oval 74"/>
            <p:cNvSpPr>
              <a:spLocks noChangeArrowheads="1"/>
            </p:cNvSpPr>
            <p:nvPr/>
          </p:nvSpPr>
          <p:spPr bwMode="auto">
            <a:xfrm>
              <a:off x="748" y="1373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2" name="Oval 75"/>
            <p:cNvSpPr>
              <a:spLocks noChangeArrowheads="1"/>
            </p:cNvSpPr>
            <p:nvPr/>
          </p:nvSpPr>
          <p:spPr bwMode="auto">
            <a:xfrm>
              <a:off x="612" y="1645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3" name="Oval 76"/>
            <p:cNvSpPr>
              <a:spLocks noChangeArrowheads="1"/>
            </p:cNvSpPr>
            <p:nvPr/>
          </p:nvSpPr>
          <p:spPr bwMode="auto">
            <a:xfrm>
              <a:off x="1655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4" name="Oval 77"/>
            <p:cNvSpPr>
              <a:spLocks noChangeArrowheads="1"/>
            </p:cNvSpPr>
            <p:nvPr/>
          </p:nvSpPr>
          <p:spPr bwMode="auto">
            <a:xfrm>
              <a:off x="1473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5" name="Oval 78"/>
            <p:cNvSpPr>
              <a:spLocks noChangeArrowheads="1"/>
            </p:cNvSpPr>
            <p:nvPr/>
          </p:nvSpPr>
          <p:spPr bwMode="auto">
            <a:xfrm>
              <a:off x="657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76" name="Oval 79"/>
            <p:cNvSpPr>
              <a:spLocks noChangeArrowheads="1"/>
            </p:cNvSpPr>
            <p:nvPr/>
          </p:nvSpPr>
          <p:spPr bwMode="auto">
            <a:xfrm>
              <a:off x="1066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cxnSp>
          <p:nvCxnSpPr>
            <p:cNvPr id="52377" name="AutoShape 80"/>
            <p:cNvCxnSpPr>
              <a:cxnSpLocks noChangeShapeType="1"/>
              <a:endCxn id="52376" idx="0"/>
            </p:cNvCxnSpPr>
            <p:nvPr/>
          </p:nvCxnSpPr>
          <p:spPr bwMode="auto">
            <a:xfrm rot="16200000" flipH="1">
              <a:off x="1031" y="1778"/>
              <a:ext cx="123" cy="6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2243" name="AutoShape 81"/>
          <p:cNvSpPr>
            <a:spLocks noChangeArrowheads="1"/>
          </p:cNvSpPr>
          <p:nvPr/>
        </p:nvSpPr>
        <p:spPr bwMode="auto">
          <a:xfrm>
            <a:off x="3589533" y="1993901"/>
            <a:ext cx="1143000" cy="914400"/>
          </a:xfrm>
          <a:prstGeom prst="can">
            <a:avLst>
              <a:gd name="adj" fmla="val 25000"/>
            </a:avLst>
          </a:prstGeom>
          <a:solidFill>
            <a:srgbClr val="CCFFCC">
              <a:alpha val="0"/>
            </a:srgbClr>
          </a:solidFill>
          <a:ln w="222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211" name="Oval 83"/>
          <p:cNvSpPr>
            <a:spLocks noChangeArrowheads="1"/>
          </p:cNvSpPr>
          <p:nvPr/>
        </p:nvSpPr>
        <p:spPr bwMode="auto">
          <a:xfrm>
            <a:off x="4241817" y="2738438"/>
            <a:ext cx="125413" cy="936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212" name="Oval 84"/>
          <p:cNvSpPr>
            <a:spLocks noChangeArrowheads="1"/>
          </p:cNvSpPr>
          <p:nvPr/>
        </p:nvSpPr>
        <p:spPr bwMode="auto">
          <a:xfrm>
            <a:off x="4394217" y="2527301"/>
            <a:ext cx="125413" cy="936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213" name="Oval 85"/>
          <p:cNvSpPr>
            <a:spLocks noChangeArrowheads="1"/>
          </p:cNvSpPr>
          <p:nvPr/>
        </p:nvSpPr>
        <p:spPr bwMode="auto">
          <a:xfrm>
            <a:off x="3784617" y="2527301"/>
            <a:ext cx="125413" cy="936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214" name="Oval 86"/>
          <p:cNvSpPr>
            <a:spLocks noChangeArrowheads="1"/>
          </p:cNvSpPr>
          <p:nvPr/>
        </p:nvSpPr>
        <p:spPr bwMode="auto">
          <a:xfrm>
            <a:off x="3937017" y="2527301"/>
            <a:ext cx="125413" cy="936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215" name="Oval 87"/>
          <p:cNvSpPr>
            <a:spLocks noChangeArrowheads="1"/>
          </p:cNvSpPr>
          <p:nvPr/>
        </p:nvSpPr>
        <p:spPr bwMode="auto">
          <a:xfrm>
            <a:off x="4075129" y="2239963"/>
            <a:ext cx="125412" cy="936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49" name="Text Box 145"/>
          <p:cNvSpPr txBox="1">
            <a:spLocks noChangeArrowheads="1"/>
          </p:cNvSpPr>
          <p:nvPr/>
        </p:nvSpPr>
        <p:spPr bwMode="auto">
          <a:xfrm>
            <a:off x="5490706" y="3059604"/>
            <a:ext cx="121058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入力概念</a:t>
            </a:r>
          </a:p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関連パス</a:t>
            </a:r>
          </a:p>
        </p:txBody>
      </p:sp>
      <p:sp>
        <p:nvSpPr>
          <p:cNvPr id="44051" name="AutoShape 146"/>
          <p:cNvSpPr>
            <a:spLocks noChangeArrowheads="1"/>
          </p:cNvSpPr>
          <p:nvPr/>
        </p:nvSpPr>
        <p:spPr bwMode="auto">
          <a:xfrm>
            <a:off x="3040199" y="226377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052" name="AutoShape 150"/>
          <p:cNvSpPr>
            <a:spLocks noChangeArrowheads="1"/>
          </p:cNvSpPr>
          <p:nvPr/>
        </p:nvSpPr>
        <p:spPr bwMode="auto">
          <a:xfrm>
            <a:off x="4935183" y="226377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053" name="AutoShape 151"/>
          <p:cNvSpPr>
            <a:spLocks noChangeArrowheads="1"/>
          </p:cNvSpPr>
          <p:nvPr/>
        </p:nvSpPr>
        <p:spPr bwMode="auto">
          <a:xfrm>
            <a:off x="6831689" y="2284237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054" name="AutoShape 152"/>
          <p:cNvSpPr>
            <a:spLocks noChangeArrowheads="1"/>
          </p:cNvSpPr>
          <p:nvPr/>
        </p:nvSpPr>
        <p:spPr bwMode="auto">
          <a:xfrm>
            <a:off x="9043988" y="2277357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54" name="Text Box 153"/>
          <p:cNvSpPr txBox="1">
            <a:spLocks noChangeArrowheads="1"/>
          </p:cNvSpPr>
          <p:nvPr/>
        </p:nvSpPr>
        <p:spPr bwMode="auto">
          <a:xfrm>
            <a:off x="7128669" y="3059604"/>
            <a:ext cx="172354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ベストマッチ</a:t>
            </a:r>
          </a:p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モデル</a:t>
            </a:r>
          </a:p>
        </p:txBody>
      </p:sp>
      <p:sp>
        <p:nvSpPr>
          <p:cNvPr id="52255" name="Text Box 154"/>
          <p:cNvSpPr txBox="1">
            <a:spLocks noChangeArrowheads="1"/>
          </p:cNvSpPr>
          <p:nvPr/>
        </p:nvSpPr>
        <p:spPr bwMode="auto">
          <a:xfrm>
            <a:off x="9706420" y="3052970"/>
            <a:ext cx="1467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概念階層</a:t>
            </a:r>
          </a:p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初期モデル</a:t>
            </a:r>
          </a:p>
        </p:txBody>
      </p:sp>
      <p:sp>
        <p:nvSpPr>
          <p:cNvPr id="52256" name="Text Box 155"/>
          <p:cNvSpPr txBox="1">
            <a:spLocks noChangeArrowheads="1"/>
          </p:cNvSpPr>
          <p:nvPr/>
        </p:nvSpPr>
        <p:spPr bwMode="auto">
          <a:xfrm>
            <a:off x="4763733" y="1659528"/>
            <a:ext cx="8001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抽出</a:t>
            </a:r>
          </a:p>
        </p:txBody>
      </p:sp>
      <p:sp>
        <p:nvSpPr>
          <p:cNvPr id="52257" name="Text Box 156"/>
          <p:cNvSpPr txBox="1">
            <a:spLocks noChangeArrowheads="1"/>
          </p:cNvSpPr>
          <p:nvPr/>
        </p:nvSpPr>
        <p:spPr bwMode="auto">
          <a:xfrm>
            <a:off x="6609556" y="1684376"/>
            <a:ext cx="8016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合成</a:t>
            </a:r>
          </a:p>
        </p:txBody>
      </p:sp>
      <p:sp>
        <p:nvSpPr>
          <p:cNvPr id="52258" name="Text Box 157"/>
          <p:cNvSpPr txBox="1">
            <a:spLocks noChangeArrowheads="1"/>
          </p:cNvSpPr>
          <p:nvPr/>
        </p:nvSpPr>
        <p:spPr bwMode="auto">
          <a:xfrm>
            <a:off x="8802687" y="1661205"/>
            <a:ext cx="8001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剪定</a:t>
            </a:r>
          </a:p>
        </p:txBody>
      </p:sp>
      <p:sp>
        <p:nvSpPr>
          <p:cNvPr id="44060" name="Rectangle 158"/>
          <p:cNvSpPr>
            <a:spLocks noChangeArrowheads="1"/>
          </p:cNvSpPr>
          <p:nvPr/>
        </p:nvSpPr>
        <p:spPr bwMode="auto">
          <a:xfrm>
            <a:off x="1524000" y="1524000"/>
            <a:ext cx="9807440" cy="2362200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52274" name="グループ化 194"/>
          <p:cNvGrpSpPr>
            <a:grpSpLocks/>
          </p:cNvGrpSpPr>
          <p:nvPr/>
        </p:nvGrpSpPr>
        <p:grpSpPr bwMode="auto">
          <a:xfrm>
            <a:off x="7495144" y="1853229"/>
            <a:ext cx="1187450" cy="998538"/>
            <a:chOff x="5823454" y="1752600"/>
            <a:chExt cx="1186946" cy="998762"/>
          </a:xfrm>
        </p:grpSpPr>
        <p:sp>
          <p:nvSpPr>
            <p:cNvPr id="52349" name="Oval 94"/>
            <p:cNvSpPr>
              <a:spLocks noChangeArrowheads="1"/>
            </p:cNvSpPr>
            <p:nvPr/>
          </p:nvSpPr>
          <p:spPr bwMode="auto">
            <a:xfrm>
              <a:off x="6082561" y="1974616"/>
              <a:ext cx="216102" cy="83333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50" name="Oval 95"/>
            <p:cNvSpPr>
              <a:spLocks noChangeArrowheads="1"/>
            </p:cNvSpPr>
            <p:nvPr/>
          </p:nvSpPr>
          <p:spPr bwMode="auto">
            <a:xfrm>
              <a:off x="6665283" y="1974616"/>
              <a:ext cx="216102" cy="833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51" name="Oval 96"/>
            <p:cNvSpPr>
              <a:spLocks noChangeArrowheads="1"/>
            </p:cNvSpPr>
            <p:nvPr/>
          </p:nvSpPr>
          <p:spPr bwMode="auto">
            <a:xfrm>
              <a:off x="6536267" y="2436548"/>
              <a:ext cx="216102" cy="8436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88" name="Oval 97"/>
            <p:cNvSpPr>
              <a:spLocks noChangeArrowheads="1"/>
            </p:cNvSpPr>
            <p:nvPr/>
          </p:nvSpPr>
          <p:spPr bwMode="auto">
            <a:xfrm>
              <a:off x="6082107" y="2205139"/>
              <a:ext cx="215808" cy="8415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89" name="Oval 98"/>
            <p:cNvSpPr>
              <a:spLocks noChangeArrowheads="1"/>
            </p:cNvSpPr>
            <p:nvPr/>
          </p:nvSpPr>
          <p:spPr bwMode="auto">
            <a:xfrm>
              <a:off x="6405820" y="2668793"/>
              <a:ext cx="215808" cy="8256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98" name="Oval 107"/>
            <p:cNvSpPr>
              <a:spLocks noChangeArrowheads="1"/>
            </p:cNvSpPr>
            <p:nvPr/>
          </p:nvSpPr>
          <p:spPr bwMode="auto">
            <a:xfrm>
              <a:off x="6666059" y="2668793"/>
              <a:ext cx="215808" cy="8256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55" name="Oval 108"/>
            <p:cNvSpPr>
              <a:spLocks noChangeArrowheads="1"/>
            </p:cNvSpPr>
            <p:nvPr/>
          </p:nvSpPr>
          <p:spPr bwMode="auto">
            <a:xfrm>
              <a:off x="5823454" y="2205068"/>
              <a:ext cx="216102" cy="8436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56" name="Oval 109"/>
            <p:cNvSpPr>
              <a:spLocks noChangeArrowheads="1"/>
            </p:cNvSpPr>
            <p:nvPr/>
          </p:nvSpPr>
          <p:spPr bwMode="auto">
            <a:xfrm>
              <a:off x="5824860" y="2436548"/>
              <a:ext cx="215026" cy="8436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02" name="Oval 111"/>
            <p:cNvSpPr>
              <a:spLocks noChangeArrowheads="1"/>
            </p:cNvSpPr>
            <p:nvPr/>
          </p:nvSpPr>
          <p:spPr bwMode="auto">
            <a:xfrm>
              <a:off x="5823454" y="2668793"/>
              <a:ext cx="215808" cy="8256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05" name="Oval 114"/>
            <p:cNvSpPr>
              <a:spLocks noChangeArrowheads="1"/>
            </p:cNvSpPr>
            <p:nvPr/>
          </p:nvSpPr>
          <p:spPr bwMode="auto">
            <a:xfrm>
              <a:off x="6794592" y="2436966"/>
              <a:ext cx="215808" cy="8415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59" name="Oval 115"/>
            <p:cNvSpPr>
              <a:spLocks noChangeArrowheads="1"/>
            </p:cNvSpPr>
            <p:nvPr/>
          </p:nvSpPr>
          <p:spPr bwMode="auto">
            <a:xfrm>
              <a:off x="6665283" y="2205068"/>
              <a:ext cx="216102" cy="8436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207" name="Oval 97"/>
            <p:cNvSpPr>
              <a:spLocks noChangeArrowheads="1"/>
            </p:cNvSpPr>
            <p:nvPr/>
          </p:nvSpPr>
          <p:spPr bwMode="auto">
            <a:xfrm>
              <a:off x="6337586" y="1752600"/>
              <a:ext cx="215808" cy="8415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52275" name="グループ化 195"/>
          <p:cNvGrpSpPr>
            <a:grpSpLocks/>
          </p:cNvGrpSpPr>
          <p:nvPr/>
        </p:nvGrpSpPr>
        <p:grpSpPr bwMode="auto">
          <a:xfrm>
            <a:off x="9785904" y="1741695"/>
            <a:ext cx="1295400" cy="1200150"/>
            <a:chOff x="7772400" y="1752600"/>
            <a:chExt cx="1295400" cy="1199586"/>
          </a:xfrm>
        </p:grpSpPr>
        <p:sp>
          <p:nvSpPr>
            <p:cNvPr id="52340" name="Oval 118"/>
            <p:cNvSpPr>
              <a:spLocks noChangeArrowheads="1"/>
            </p:cNvSpPr>
            <p:nvPr/>
          </p:nvSpPr>
          <p:spPr bwMode="auto">
            <a:xfrm>
              <a:off x="7931026" y="2125181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41" name="Oval 119"/>
            <p:cNvSpPr>
              <a:spLocks noChangeArrowheads="1"/>
            </p:cNvSpPr>
            <p:nvPr/>
          </p:nvSpPr>
          <p:spPr bwMode="auto">
            <a:xfrm>
              <a:off x="8533672" y="2456452"/>
              <a:ext cx="242877" cy="132786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70" name="Oval 120"/>
            <p:cNvSpPr>
              <a:spLocks noChangeArrowheads="1"/>
            </p:cNvSpPr>
            <p:nvPr/>
          </p:nvSpPr>
          <p:spPr bwMode="auto">
            <a:xfrm>
              <a:off x="8066088" y="2453945"/>
              <a:ext cx="242887" cy="1332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71" name="Oval 121"/>
            <p:cNvSpPr>
              <a:spLocks noChangeArrowheads="1"/>
            </p:cNvSpPr>
            <p:nvPr/>
          </p:nvSpPr>
          <p:spPr bwMode="auto">
            <a:xfrm>
              <a:off x="8386763" y="2822072"/>
              <a:ext cx="242887" cy="1301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79" name="Oval 129"/>
            <p:cNvSpPr>
              <a:spLocks noChangeArrowheads="1"/>
            </p:cNvSpPr>
            <p:nvPr/>
          </p:nvSpPr>
          <p:spPr bwMode="auto">
            <a:xfrm>
              <a:off x="8678863" y="2822072"/>
              <a:ext cx="242887" cy="1301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80" name="Oval 130"/>
            <p:cNvSpPr>
              <a:spLocks noChangeArrowheads="1"/>
            </p:cNvSpPr>
            <p:nvPr/>
          </p:nvSpPr>
          <p:spPr bwMode="auto">
            <a:xfrm>
              <a:off x="7772400" y="2458706"/>
              <a:ext cx="242888" cy="1332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82" name="Oval 132"/>
            <p:cNvSpPr>
              <a:spLocks noChangeArrowheads="1"/>
            </p:cNvSpPr>
            <p:nvPr/>
          </p:nvSpPr>
          <p:spPr bwMode="auto">
            <a:xfrm>
              <a:off x="8823325" y="2457119"/>
              <a:ext cx="244475" cy="13170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47" name="Oval 133"/>
            <p:cNvSpPr>
              <a:spLocks noChangeArrowheads="1"/>
            </p:cNvSpPr>
            <p:nvPr/>
          </p:nvSpPr>
          <p:spPr bwMode="auto">
            <a:xfrm>
              <a:off x="8678794" y="2094488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184" name="Oval 120"/>
            <p:cNvSpPr>
              <a:spLocks noChangeArrowheads="1"/>
            </p:cNvSpPr>
            <p:nvPr/>
          </p:nvSpPr>
          <p:spPr bwMode="auto">
            <a:xfrm>
              <a:off x="8305800" y="1752600"/>
              <a:ext cx="242888" cy="1332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46157" name="Oval 15"/>
          <p:cNvSpPr>
            <a:spLocks noChangeArrowheads="1"/>
          </p:cNvSpPr>
          <p:nvPr/>
        </p:nvSpPr>
        <p:spPr bwMode="auto">
          <a:xfrm>
            <a:off x="2590801" y="266223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158" name="Oval 15"/>
          <p:cNvSpPr>
            <a:spLocks noChangeArrowheads="1"/>
          </p:cNvSpPr>
          <p:nvPr/>
        </p:nvSpPr>
        <p:spPr bwMode="auto">
          <a:xfrm>
            <a:off x="2524126" y="220503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159" name="Oval 15"/>
          <p:cNvSpPr>
            <a:spLocks noChangeArrowheads="1"/>
          </p:cNvSpPr>
          <p:nvPr/>
        </p:nvSpPr>
        <p:spPr bwMode="auto">
          <a:xfrm>
            <a:off x="1752601" y="2438401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114" name="Rectangle 133"/>
          <p:cNvSpPr>
            <a:spLocks noChangeArrowheads="1"/>
          </p:cNvSpPr>
          <p:nvPr/>
        </p:nvSpPr>
        <p:spPr bwMode="auto">
          <a:xfrm>
            <a:off x="7086600" y="320889"/>
            <a:ext cx="4244840" cy="1066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80" name="Rectangle 132"/>
          <p:cNvSpPr>
            <a:spLocks noChangeArrowheads="1"/>
          </p:cNvSpPr>
          <p:nvPr/>
        </p:nvSpPr>
        <p:spPr bwMode="auto">
          <a:xfrm>
            <a:off x="7734300" y="929211"/>
            <a:ext cx="1801775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不要中間ノード</a:t>
            </a:r>
          </a:p>
        </p:txBody>
      </p:sp>
      <p:sp>
        <p:nvSpPr>
          <p:cNvPr id="46163" name="Oval 134"/>
          <p:cNvSpPr>
            <a:spLocks noChangeArrowheads="1"/>
          </p:cNvSpPr>
          <p:nvPr/>
        </p:nvSpPr>
        <p:spPr bwMode="auto">
          <a:xfrm>
            <a:off x="7200901" y="457723"/>
            <a:ext cx="461963" cy="1555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82" name="Rectangle 135"/>
          <p:cNvSpPr>
            <a:spLocks noChangeArrowheads="1"/>
          </p:cNvSpPr>
          <p:nvPr/>
        </p:nvSpPr>
        <p:spPr bwMode="auto">
          <a:xfrm>
            <a:off x="7737476" y="308497"/>
            <a:ext cx="2359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入力概念ノード</a:t>
            </a:r>
          </a:p>
        </p:txBody>
      </p:sp>
      <p:sp>
        <p:nvSpPr>
          <p:cNvPr id="52283" name="Rectangle 136"/>
          <p:cNvSpPr>
            <a:spLocks noChangeArrowheads="1"/>
          </p:cNvSpPr>
          <p:nvPr/>
        </p:nvSpPr>
        <p:spPr bwMode="auto">
          <a:xfrm>
            <a:off x="7734301" y="613297"/>
            <a:ext cx="3597139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SIN (a Salient Internal Nodes)</a:t>
            </a:r>
          </a:p>
        </p:txBody>
      </p:sp>
      <p:sp>
        <p:nvSpPr>
          <p:cNvPr id="52284" name="Oval 137"/>
          <p:cNvSpPr>
            <a:spLocks noChangeArrowheads="1"/>
          </p:cNvSpPr>
          <p:nvPr/>
        </p:nvSpPr>
        <p:spPr bwMode="auto">
          <a:xfrm>
            <a:off x="7200900" y="1070497"/>
            <a:ext cx="457200" cy="152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85" name="Oval 138"/>
          <p:cNvSpPr>
            <a:spLocks noChangeArrowheads="1"/>
          </p:cNvSpPr>
          <p:nvPr/>
        </p:nvSpPr>
        <p:spPr bwMode="auto">
          <a:xfrm>
            <a:off x="7200901" y="743473"/>
            <a:ext cx="454025" cy="174625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52286" name="AutoShape 24"/>
          <p:cNvCxnSpPr>
            <a:cxnSpLocks noChangeShapeType="1"/>
            <a:stCxn id="52356" idx="4"/>
            <a:endCxn id="46202" idx="0"/>
          </p:cNvCxnSpPr>
          <p:nvPr/>
        </p:nvCxnSpPr>
        <p:spPr bwMode="auto">
          <a:xfrm rot="5400000">
            <a:off x="7530069" y="2694604"/>
            <a:ext cx="147638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87" name="AutoShape 24"/>
          <p:cNvCxnSpPr>
            <a:cxnSpLocks noChangeShapeType="1"/>
            <a:stCxn id="52355" idx="4"/>
            <a:endCxn id="52356" idx="0"/>
          </p:cNvCxnSpPr>
          <p:nvPr/>
        </p:nvCxnSpPr>
        <p:spPr bwMode="auto">
          <a:xfrm rot="16200000" flipH="1">
            <a:off x="7530069" y="2462829"/>
            <a:ext cx="147638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88" name="AutoShape 24"/>
          <p:cNvCxnSpPr>
            <a:cxnSpLocks noChangeShapeType="1"/>
            <a:stCxn id="52349" idx="3"/>
            <a:endCxn id="52355" idx="0"/>
          </p:cNvCxnSpPr>
          <p:nvPr/>
        </p:nvCxnSpPr>
        <p:spPr bwMode="auto">
          <a:xfrm rot="5400000">
            <a:off x="7615001" y="2135011"/>
            <a:ext cx="158750" cy="1825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89" name="AutoShape 24"/>
          <p:cNvCxnSpPr>
            <a:cxnSpLocks noChangeShapeType="1"/>
            <a:stCxn id="52349" idx="4"/>
            <a:endCxn id="46188" idx="0"/>
          </p:cNvCxnSpPr>
          <p:nvPr/>
        </p:nvCxnSpPr>
        <p:spPr bwMode="auto">
          <a:xfrm rot="5400000">
            <a:off x="7789626" y="2231849"/>
            <a:ext cx="146050" cy="15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0" name="AutoShape 24"/>
          <p:cNvCxnSpPr>
            <a:cxnSpLocks noChangeShapeType="1"/>
            <a:stCxn id="52351" idx="4"/>
            <a:endCxn id="46189" idx="0"/>
          </p:cNvCxnSpPr>
          <p:nvPr/>
        </p:nvCxnSpPr>
        <p:spPr bwMode="auto">
          <a:xfrm rot="5400000">
            <a:off x="8176976" y="2630311"/>
            <a:ext cx="147638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1" name="AutoShape 24"/>
          <p:cNvCxnSpPr>
            <a:cxnSpLocks noChangeShapeType="1"/>
            <a:stCxn id="52351" idx="4"/>
            <a:endCxn id="46198" idx="0"/>
          </p:cNvCxnSpPr>
          <p:nvPr/>
        </p:nvCxnSpPr>
        <p:spPr bwMode="auto">
          <a:xfrm rot="16200000" flipH="1">
            <a:off x="8307151" y="2630311"/>
            <a:ext cx="147638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2" name="AutoShape 24"/>
          <p:cNvCxnSpPr>
            <a:cxnSpLocks noChangeShapeType="1"/>
            <a:stCxn id="52359" idx="4"/>
            <a:endCxn id="52351" idx="0"/>
          </p:cNvCxnSpPr>
          <p:nvPr/>
        </p:nvCxnSpPr>
        <p:spPr bwMode="auto">
          <a:xfrm rot="5400000">
            <a:off x="8307151" y="2398536"/>
            <a:ext cx="147638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3" name="AutoShape 24"/>
          <p:cNvCxnSpPr>
            <a:cxnSpLocks noChangeShapeType="1"/>
            <a:stCxn id="52359" idx="4"/>
            <a:endCxn id="46205" idx="0"/>
          </p:cNvCxnSpPr>
          <p:nvPr/>
        </p:nvCxnSpPr>
        <p:spPr bwMode="auto">
          <a:xfrm rot="16200000" flipH="1">
            <a:off x="8436532" y="2399330"/>
            <a:ext cx="147638" cy="1285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4" name="AutoShape 24"/>
          <p:cNvCxnSpPr>
            <a:cxnSpLocks noChangeShapeType="1"/>
            <a:stCxn id="52350" idx="4"/>
            <a:endCxn id="52359" idx="0"/>
          </p:cNvCxnSpPr>
          <p:nvPr/>
        </p:nvCxnSpPr>
        <p:spPr bwMode="auto">
          <a:xfrm rot="5400000">
            <a:off x="8372238" y="2231848"/>
            <a:ext cx="146050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5" name="AutoShape 24"/>
          <p:cNvCxnSpPr>
            <a:cxnSpLocks noChangeShapeType="1"/>
            <a:stCxn id="46207" idx="4"/>
            <a:endCxn id="52349" idx="0"/>
          </p:cNvCxnSpPr>
          <p:nvPr/>
        </p:nvCxnSpPr>
        <p:spPr bwMode="auto">
          <a:xfrm rot="5400000">
            <a:off x="7921388" y="1879423"/>
            <a:ext cx="138112" cy="254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6" name="AutoShape 24"/>
          <p:cNvCxnSpPr>
            <a:cxnSpLocks noChangeShapeType="1"/>
            <a:stCxn id="46207" idx="4"/>
            <a:endCxn id="52350" idx="0"/>
          </p:cNvCxnSpPr>
          <p:nvPr/>
        </p:nvCxnSpPr>
        <p:spPr bwMode="auto">
          <a:xfrm rot="16200000" flipH="1">
            <a:off x="8212695" y="1842117"/>
            <a:ext cx="138112" cy="3286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7" name="AutoShape 24"/>
          <p:cNvCxnSpPr>
            <a:cxnSpLocks noChangeShapeType="1"/>
            <a:stCxn id="52340" idx="4"/>
            <a:endCxn id="46180" idx="0"/>
          </p:cNvCxnSpPr>
          <p:nvPr/>
        </p:nvCxnSpPr>
        <p:spPr bwMode="auto">
          <a:xfrm rot="5400000">
            <a:off x="9885123" y="2267952"/>
            <a:ext cx="201613" cy="1587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8" name="AutoShape 24"/>
          <p:cNvCxnSpPr>
            <a:cxnSpLocks noChangeShapeType="1"/>
            <a:stCxn id="52340" idx="4"/>
            <a:endCxn id="46170" idx="0"/>
          </p:cNvCxnSpPr>
          <p:nvPr/>
        </p:nvCxnSpPr>
        <p:spPr bwMode="auto">
          <a:xfrm rot="16200000" flipH="1">
            <a:off x="10034348" y="2277476"/>
            <a:ext cx="196850" cy="1349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9" name="AutoShape 24"/>
          <p:cNvCxnSpPr>
            <a:cxnSpLocks noChangeShapeType="1"/>
            <a:stCxn id="52341" idx="4"/>
            <a:endCxn id="46171" idx="0"/>
          </p:cNvCxnSpPr>
          <p:nvPr/>
        </p:nvCxnSpPr>
        <p:spPr bwMode="auto">
          <a:xfrm rot="5400000">
            <a:off x="10478848" y="2621964"/>
            <a:ext cx="233362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0" name="AutoShape 24"/>
          <p:cNvCxnSpPr>
            <a:cxnSpLocks noChangeShapeType="1"/>
            <a:stCxn id="52341" idx="4"/>
            <a:endCxn id="46179" idx="0"/>
          </p:cNvCxnSpPr>
          <p:nvPr/>
        </p:nvCxnSpPr>
        <p:spPr bwMode="auto">
          <a:xfrm rot="16200000" flipH="1">
            <a:off x="10624105" y="2622758"/>
            <a:ext cx="233362" cy="1444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1" name="AutoShape 24"/>
          <p:cNvCxnSpPr>
            <a:cxnSpLocks noChangeShapeType="1"/>
            <a:stCxn id="52347" idx="4"/>
            <a:endCxn id="52341" idx="0"/>
          </p:cNvCxnSpPr>
          <p:nvPr/>
        </p:nvCxnSpPr>
        <p:spPr bwMode="auto">
          <a:xfrm rot="5400000">
            <a:off x="10625693" y="2259221"/>
            <a:ext cx="230187" cy="1444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2" name="AutoShape 24"/>
          <p:cNvCxnSpPr>
            <a:cxnSpLocks noChangeShapeType="1"/>
            <a:stCxn id="52347" idx="4"/>
            <a:endCxn id="46182" idx="0"/>
          </p:cNvCxnSpPr>
          <p:nvPr/>
        </p:nvCxnSpPr>
        <p:spPr bwMode="auto">
          <a:xfrm rot="16200000" flipH="1">
            <a:off x="10770949" y="2258427"/>
            <a:ext cx="230187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3" name="AutoShape 24"/>
          <p:cNvCxnSpPr>
            <a:cxnSpLocks noChangeShapeType="1"/>
            <a:stCxn id="46184" idx="4"/>
            <a:endCxn id="52340" idx="0"/>
          </p:cNvCxnSpPr>
          <p:nvPr/>
        </p:nvCxnSpPr>
        <p:spPr bwMode="auto">
          <a:xfrm rot="5400000">
            <a:off x="10132773" y="1807577"/>
            <a:ext cx="239713" cy="374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4" name="AutoShape 24"/>
          <p:cNvCxnSpPr>
            <a:cxnSpLocks noChangeShapeType="1"/>
            <a:stCxn id="46184" idx="4"/>
            <a:endCxn id="52347" idx="0"/>
          </p:cNvCxnSpPr>
          <p:nvPr/>
        </p:nvCxnSpPr>
        <p:spPr bwMode="auto">
          <a:xfrm rot="16200000" flipH="1">
            <a:off x="10522505" y="1792496"/>
            <a:ext cx="207963" cy="3730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F0F5-4832-03EB-AF9C-572127490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04" name="Rectangle 248">
            <a:extLst>
              <a:ext uri="{FF2B5EF4-FFF2-40B4-BE49-F238E27FC236}">
                <a16:creationId xmlns:a16="http://schemas.microsoft.com/office/drawing/2014/main" id="{13B3A2FB-54D8-58A6-5D29-8443B4C68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41456"/>
            <a:ext cx="9655040" cy="2362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61" name="Text Box 178">
            <a:extLst>
              <a:ext uri="{FF2B5EF4-FFF2-40B4-BE49-F238E27FC236}">
                <a16:creationId xmlns:a16="http://schemas.microsoft.com/office/drawing/2014/main" id="{B70B22CB-B00E-016C-ADA2-30059F189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768" y="3506951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概念階層初期モデル</a:t>
            </a:r>
          </a:p>
        </p:txBody>
      </p:sp>
      <p:sp>
        <p:nvSpPr>
          <p:cNvPr id="52262" name="Text Box 179">
            <a:extLst>
              <a:ext uri="{FF2B5EF4-FFF2-40B4-BE49-F238E27FC236}">
                <a16:creationId xmlns:a16="http://schemas.microsoft.com/office/drawing/2014/main" id="{82361572-6B35-8EF6-36EF-44B461D17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754356"/>
            <a:ext cx="2031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一般的な階層構造</a:t>
            </a:r>
          </a:p>
        </p:txBody>
      </p:sp>
      <p:sp>
        <p:nvSpPr>
          <p:cNvPr id="52263" name="Text Box 201">
            <a:extLst>
              <a:ext uri="{FF2B5EF4-FFF2-40B4-BE49-F238E27FC236}">
                <a16:creationId xmlns:a16="http://schemas.microsoft.com/office/drawing/2014/main" id="{A529A33D-1126-4845-490A-1C0CB9458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6919" y="3474972"/>
            <a:ext cx="3518912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領域オントロジーの概念階層</a:t>
            </a:r>
          </a:p>
        </p:txBody>
      </p:sp>
      <p:sp>
        <p:nvSpPr>
          <p:cNvPr id="52264" name="Text Box 238">
            <a:extLst>
              <a:ext uri="{FF2B5EF4-FFF2-40B4-BE49-F238E27FC236}">
                <a16:creationId xmlns:a16="http://schemas.microsoft.com/office/drawing/2014/main" id="{37592F00-8849-7CBB-DFD3-2ECCFE7F1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455856"/>
            <a:ext cx="1828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照合結果分析</a:t>
            </a:r>
          </a:p>
        </p:txBody>
      </p:sp>
      <p:sp>
        <p:nvSpPr>
          <p:cNvPr id="52265" name="Text Box 239">
            <a:extLst>
              <a:ext uri="{FF2B5EF4-FFF2-40B4-BE49-F238E27FC236}">
                <a16:creationId xmlns:a16="http://schemas.microsoft.com/office/drawing/2014/main" id="{C216EEEC-A74F-CF63-C1E3-17B4436AC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913056"/>
            <a:ext cx="1828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剪定結果分析</a:t>
            </a:r>
          </a:p>
        </p:txBody>
      </p:sp>
      <p:sp>
        <p:nvSpPr>
          <p:cNvPr id="52266" name="Text Box 240">
            <a:extLst>
              <a:ext uri="{FF2B5EF4-FFF2-40B4-BE49-F238E27FC236}">
                <a16:creationId xmlns:a16="http://schemas.microsoft.com/office/drawing/2014/main" id="{61E749C3-61C2-A15C-4874-501C84386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375020"/>
            <a:ext cx="1828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多重継承の除去</a:t>
            </a:r>
          </a:p>
        </p:txBody>
      </p:sp>
      <p:sp>
        <p:nvSpPr>
          <p:cNvPr id="44084" name="AutoShape 241">
            <a:extLst>
              <a:ext uri="{FF2B5EF4-FFF2-40B4-BE49-F238E27FC236}">
                <a16:creationId xmlns:a16="http://schemas.microsoft.com/office/drawing/2014/main" id="{08B47539-FFD1-8F2D-BE6E-01A546612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665406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085" name="AutoShape 242">
            <a:extLst>
              <a:ext uri="{FF2B5EF4-FFF2-40B4-BE49-F238E27FC236}">
                <a16:creationId xmlns:a16="http://schemas.microsoft.com/office/drawing/2014/main" id="{5148827C-330B-AB85-66EB-095B6701B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665406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69" name="Text Box 243">
            <a:extLst>
              <a:ext uri="{FF2B5EF4-FFF2-40B4-BE49-F238E27FC236}">
                <a16:creationId xmlns:a16="http://schemas.microsoft.com/office/drawing/2014/main" id="{4D81B727-A23A-EDBE-739B-8DCBC8D71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563" y="1760273"/>
            <a:ext cx="27238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領域に特化した階層構造</a:t>
            </a:r>
          </a:p>
        </p:txBody>
      </p:sp>
      <p:sp>
        <p:nvSpPr>
          <p:cNvPr id="52270" name="Rectangle 246">
            <a:extLst>
              <a:ext uri="{FF2B5EF4-FFF2-40B4-BE49-F238E27FC236}">
                <a16:creationId xmlns:a16="http://schemas.microsoft.com/office/drawing/2014/main" id="{6B82764A-7F79-DB03-072B-3315C0909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998656"/>
            <a:ext cx="23622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71" name="Text Box 247">
            <a:extLst>
              <a:ext uri="{FF2B5EF4-FFF2-40B4-BE49-F238E27FC236}">
                <a16:creationId xmlns:a16="http://schemas.microsoft.com/office/drawing/2014/main" id="{DE18D03E-EC89-BA58-1804-72BB0A1C2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76" y="2012944"/>
            <a:ext cx="2041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概念変動管理</a:t>
            </a:r>
          </a:p>
        </p:txBody>
      </p:sp>
      <p:sp>
        <p:nvSpPr>
          <p:cNvPr id="52273" name="Text Box 250">
            <a:extLst>
              <a:ext uri="{FF2B5EF4-FFF2-40B4-BE49-F238E27FC236}">
                <a16:creationId xmlns:a16="http://schemas.microsoft.com/office/drawing/2014/main" id="{BF0EDAC7-7D6D-190C-F01A-58AE887E7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1627182"/>
            <a:ext cx="11049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階層洗練</a:t>
            </a:r>
          </a:p>
        </p:txBody>
      </p:sp>
      <p:sp>
        <p:nvSpPr>
          <p:cNvPr id="44114" name="Rectangle 133">
            <a:extLst>
              <a:ext uri="{FF2B5EF4-FFF2-40B4-BE49-F238E27FC236}">
                <a16:creationId xmlns:a16="http://schemas.microsoft.com/office/drawing/2014/main" id="{AD85FF84-B19E-D369-3CC8-676F42542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606" y="606580"/>
            <a:ext cx="4244840" cy="81105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163" name="Oval 134">
            <a:extLst>
              <a:ext uri="{FF2B5EF4-FFF2-40B4-BE49-F238E27FC236}">
                <a16:creationId xmlns:a16="http://schemas.microsoft.com/office/drawing/2014/main" id="{9B15C4FC-5B36-49AA-D225-4DE71641A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907" y="774396"/>
            <a:ext cx="461963" cy="1555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282" name="Rectangle 135">
            <a:extLst>
              <a:ext uri="{FF2B5EF4-FFF2-40B4-BE49-F238E27FC236}">
                <a16:creationId xmlns:a16="http://schemas.microsoft.com/office/drawing/2014/main" id="{33CFC337-A4E1-DE9B-A2B4-5C4F8B6C1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5482" y="625170"/>
            <a:ext cx="2359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入力概念ノード</a:t>
            </a:r>
          </a:p>
        </p:txBody>
      </p:sp>
      <p:sp>
        <p:nvSpPr>
          <p:cNvPr id="52283" name="Rectangle 136">
            <a:extLst>
              <a:ext uri="{FF2B5EF4-FFF2-40B4-BE49-F238E27FC236}">
                <a16:creationId xmlns:a16="http://schemas.microsoft.com/office/drawing/2014/main" id="{10E3EE88-8251-F736-B82D-DCAF9EE62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2307" y="929970"/>
            <a:ext cx="3597139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SIN (a Salient Internal Nodes)</a:t>
            </a:r>
          </a:p>
        </p:txBody>
      </p:sp>
      <p:sp>
        <p:nvSpPr>
          <p:cNvPr id="52285" name="Oval 138">
            <a:extLst>
              <a:ext uri="{FF2B5EF4-FFF2-40B4-BE49-F238E27FC236}">
                <a16:creationId xmlns:a16="http://schemas.microsoft.com/office/drawing/2014/main" id="{35ABAD32-830E-4FCE-F8C2-37933D7D1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907" y="1060146"/>
            <a:ext cx="454025" cy="174625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52305" name="グループ化 296">
            <a:extLst>
              <a:ext uri="{FF2B5EF4-FFF2-40B4-BE49-F238E27FC236}">
                <a16:creationId xmlns:a16="http://schemas.microsoft.com/office/drawing/2014/main" id="{82E13358-6032-CA53-D4F9-E29D65B819BE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227256"/>
            <a:ext cx="1295400" cy="1200150"/>
            <a:chOff x="1981200" y="3981450"/>
            <a:chExt cx="1295400" cy="1200150"/>
          </a:xfrm>
        </p:grpSpPr>
        <p:grpSp>
          <p:nvGrpSpPr>
            <p:cNvPr id="52322" name="グループ化 195">
              <a:extLst>
                <a:ext uri="{FF2B5EF4-FFF2-40B4-BE49-F238E27FC236}">
                  <a16:creationId xmlns:a16="http://schemas.microsoft.com/office/drawing/2014/main" id="{8305C76C-9460-848D-891E-06CA8BA83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1200" y="3981450"/>
              <a:ext cx="1295400" cy="1200150"/>
              <a:chOff x="7772400" y="1752600"/>
              <a:chExt cx="1295400" cy="1199586"/>
            </a:xfrm>
          </p:grpSpPr>
          <p:sp>
            <p:nvSpPr>
              <p:cNvPr id="52331" name="Oval 118">
                <a:extLst>
                  <a:ext uri="{FF2B5EF4-FFF2-40B4-BE49-F238E27FC236}">
                    <a16:creationId xmlns:a16="http://schemas.microsoft.com/office/drawing/2014/main" id="{283F313E-828D-15E7-4442-D74C43C4A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1026" y="2125181"/>
                <a:ext cx="242877" cy="131802"/>
              </a:xfrm>
              <a:prstGeom prst="ellipse">
                <a:avLst/>
              </a:prstGeom>
              <a:solidFill>
                <a:schemeClr val="bg1"/>
              </a:solidFill>
              <a:ln w="38100" cmpd="dbl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32" name="Oval 119">
                <a:extLst>
                  <a:ext uri="{FF2B5EF4-FFF2-40B4-BE49-F238E27FC236}">
                    <a16:creationId xmlns:a16="http://schemas.microsoft.com/office/drawing/2014/main" id="{C1E2E242-6617-8690-264A-3B892A068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3672" y="2456452"/>
                <a:ext cx="242877" cy="132786"/>
              </a:xfrm>
              <a:prstGeom prst="ellipse">
                <a:avLst/>
              </a:prstGeom>
              <a:solidFill>
                <a:schemeClr val="bg1"/>
              </a:solidFill>
              <a:ln w="38100" cmpd="dbl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2" name="Oval 120">
                <a:extLst>
                  <a:ext uri="{FF2B5EF4-FFF2-40B4-BE49-F238E27FC236}">
                    <a16:creationId xmlns:a16="http://schemas.microsoft.com/office/drawing/2014/main" id="{9E5930AD-718D-C5DE-C6E9-EB1F2AED1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6088" y="2453945"/>
                <a:ext cx="242887" cy="1332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3" name="Oval 121">
                <a:extLst>
                  <a:ext uri="{FF2B5EF4-FFF2-40B4-BE49-F238E27FC236}">
                    <a16:creationId xmlns:a16="http://schemas.microsoft.com/office/drawing/2014/main" id="{E23088EC-5461-D759-EFB8-5608AF1F1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6763" y="2822072"/>
                <a:ext cx="242887" cy="13011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4" name="Oval 129">
                <a:extLst>
                  <a:ext uri="{FF2B5EF4-FFF2-40B4-BE49-F238E27FC236}">
                    <a16:creationId xmlns:a16="http://schemas.microsoft.com/office/drawing/2014/main" id="{A36D12D9-9B64-C058-4B93-102BA6775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8863" y="2822072"/>
                <a:ext cx="242887" cy="13011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5" name="Oval 130">
                <a:extLst>
                  <a:ext uri="{FF2B5EF4-FFF2-40B4-BE49-F238E27FC236}">
                    <a16:creationId xmlns:a16="http://schemas.microsoft.com/office/drawing/2014/main" id="{0AEACD2D-4307-D232-378A-96D5B7D20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2458706"/>
                <a:ext cx="242888" cy="1332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6" name="Oval 132">
                <a:extLst>
                  <a:ext uri="{FF2B5EF4-FFF2-40B4-BE49-F238E27FC236}">
                    <a16:creationId xmlns:a16="http://schemas.microsoft.com/office/drawing/2014/main" id="{6D22A336-F7D9-8883-5B21-F4E9CA5BC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3325" y="2457119"/>
                <a:ext cx="244475" cy="131701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338" name="Oval 133">
                <a:extLst>
                  <a:ext uri="{FF2B5EF4-FFF2-40B4-BE49-F238E27FC236}">
                    <a16:creationId xmlns:a16="http://schemas.microsoft.com/office/drawing/2014/main" id="{A5C44A1A-409A-0360-B41E-6ADD0DFC1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8794" y="2094488"/>
                <a:ext cx="242877" cy="131802"/>
              </a:xfrm>
              <a:prstGeom prst="ellipse">
                <a:avLst/>
              </a:prstGeom>
              <a:solidFill>
                <a:schemeClr val="bg1"/>
              </a:solidFill>
              <a:ln w="38100" cmpd="dbl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8" name="Oval 120">
                <a:extLst>
                  <a:ext uri="{FF2B5EF4-FFF2-40B4-BE49-F238E27FC236}">
                    <a16:creationId xmlns:a16="http://schemas.microsoft.com/office/drawing/2014/main" id="{69AEF18D-E8E2-B210-DA52-877528F03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800" y="1752600"/>
                <a:ext cx="242888" cy="1332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cxnSp>
          <p:nvCxnSpPr>
            <p:cNvPr id="52323" name="AutoShape 24">
              <a:extLst>
                <a:ext uri="{FF2B5EF4-FFF2-40B4-BE49-F238E27FC236}">
                  <a16:creationId xmlns:a16="http://schemas.microsoft.com/office/drawing/2014/main" id="{A2DF5054-28B7-53B7-B824-A8DD23E95B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080695" y="4508014"/>
              <a:ext cx="202515" cy="15862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4" name="AutoShape 24">
              <a:extLst>
                <a:ext uri="{FF2B5EF4-FFF2-40B4-BE49-F238E27FC236}">
                  <a16:creationId xmlns:a16="http://schemas.microsoft.com/office/drawing/2014/main" id="{71B98E58-F937-0B44-8949-85D9E5C412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2229788" y="4517547"/>
              <a:ext cx="197595" cy="13464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5" name="AutoShape 24">
              <a:extLst>
                <a:ext uri="{FF2B5EF4-FFF2-40B4-BE49-F238E27FC236}">
                  <a16:creationId xmlns:a16="http://schemas.microsoft.com/office/drawing/2014/main" id="{57F19A17-97A8-ADCB-809E-17AF1AFAB1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674476" y="4861284"/>
              <a:ext cx="232238" cy="14663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6" name="AutoShape 24">
              <a:extLst>
                <a:ext uri="{FF2B5EF4-FFF2-40B4-BE49-F238E27FC236}">
                  <a16:creationId xmlns:a16="http://schemas.microsoft.com/office/drawing/2014/main" id="{5A11098F-C31B-C6A5-4BB4-6079FAC190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2820353" y="4862039"/>
              <a:ext cx="232238" cy="14512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7" name="AutoShape 24">
              <a:extLst>
                <a:ext uri="{FF2B5EF4-FFF2-40B4-BE49-F238E27FC236}">
                  <a16:creationId xmlns:a16="http://schemas.microsoft.com/office/drawing/2014/main" id="{A6436C2A-64AE-7583-7007-E739F8ED32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821337" y="4497937"/>
              <a:ext cx="230270" cy="14512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8" name="AutoShape 24">
              <a:extLst>
                <a:ext uri="{FF2B5EF4-FFF2-40B4-BE49-F238E27FC236}">
                  <a16:creationId xmlns:a16="http://schemas.microsoft.com/office/drawing/2014/main" id="{9C0D9591-A371-25A5-DC12-894DD91F1C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2966710" y="4497685"/>
              <a:ext cx="230270" cy="1456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9" name="AutoShape 24">
              <a:extLst>
                <a:ext uri="{FF2B5EF4-FFF2-40B4-BE49-F238E27FC236}">
                  <a16:creationId xmlns:a16="http://schemas.microsoft.com/office/drawing/2014/main" id="{8D87FB26-366A-E6CE-B16B-3D80D57955D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328698" y="4046865"/>
              <a:ext cx="239908" cy="37477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30" name="AutoShape 24">
              <a:extLst>
                <a:ext uri="{FF2B5EF4-FFF2-40B4-BE49-F238E27FC236}">
                  <a16:creationId xmlns:a16="http://schemas.microsoft.com/office/drawing/2014/main" id="{ECCFBB39-4A78-105E-E4EB-F723CAB6C6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2717936" y="4032401"/>
              <a:ext cx="209201" cy="37299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2306" name="グループ化 195">
            <a:extLst>
              <a:ext uri="{FF2B5EF4-FFF2-40B4-BE49-F238E27FC236}">
                <a16:creationId xmlns:a16="http://schemas.microsoft.com/office/drawing/2014/main" id="{68918DBE-0816-E442-80F8-640DE376957C}"/>
              </a:ext>
            </a:extLst>
          </p:cNvPr>
          <p:cNvGrpSpPr>
            <a:grpSpLocks/>
          </p:cNvGrpSpPr>
          <p:nvPr/>
        </p:nvGrpSpPr>
        <p:grpSpPr bwMode="auto">
          <a:xfrm>
            <a:off x="8302626" y="2378070"/>
            <a:ext cx="1427163" cy="839787"/>
            <a:chOff x="7633177" y="1752600"/>
            <a:chExt cx="1426701" cy="838605"/>
          </a:xfrm>
        </p:grpSpPr>
        <p:sp>
          <p:nvSpPr>
            <p:cNvPr id="52314" name="Oval 118">
              <a:extLst>
                <a:ext uri="{FF2B5EF4-FFF2-40B4-BE49-F238E27FC236}">
                  <a16:creationId xmlns:a16="http://schemas.microsoft.com/office/drawing/2014/main" id="{93DDB9DE-5CB5-1111-0CE3-4E464D0BD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1803" y="2125181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0" name="Oval 120">
              <a:extLst>
                <a:ext uri="{FF2B5EF4-FFF2-40B4-BE49-F238E27FC236}">
                  <a16:creationId xmlns:a16="http://schemas.microsoft.com/office/drawing/2014/main" id="{EF9BA8C1-1BFE-3E0F-8BE3-032FFB9AE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6770" y="2454872"/>
              <a:ext cx="242808" cy="13316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1" name="Oval 121">
              <a:extLst>
                <a:ext uri="{FF2B5EF4-FFF2-40B4-BE49-F238E27FC236}">
                  <a16:creationId xmlns:a16="http://schemas.microsoft.com/office/drawing/2014/main" id="{0F3CCDC6-264A-C447-637A-93509FC25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6059" y="2459628"/>
              <a:ext cx="241222" cy="13157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2" name="Oval 129">
              <a:extLst>
                <a:ext uri="{FF2B5EF4-FFF2-40B4-BE49-F238E27FC236}">
                  <a16:creationId xmlns:a16="http://schemas.microsoft.com/office/drawing/2014/main" id="{20767B50-654E-5E27-4D47-6D989A898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6059" y="2133064"/>
              <a:ext cx="242809" cy="13157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3" name="Oval 130">
              <a:extLst>
                <a:ext uri="{FF2B5EF4-FFF2-40B4-BE49-F238E27FC236}">
                  <a16:creationId xmlns:a16="http://schemas.microsoft.com/office/drawing/2014/main" id="{EC3F1EEF-D18A-084E-C187-051016865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3177" y="2459628"/>
              <a:ext cx="242809" cy="13157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4" name="Oval 132">
              <a:extLst>
                <a:ext uri="{FF2B5EF4-FFF2-40B4-BE49-F238E27FC236}">
                  <a16:creationId xmlns:a16="http://schemas.microsoft.com/office/drawing/2014/main" id="{16CADC08-E848-4D1A-AB79-AFF238079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5482" y="2456458"/>
              <a:ext cx="244396" cy="13316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2320" name="Oval 133">
              <a:extLst>
                <a:ext uri="{FF2B5EF4-FFF2-40B4-BE49-F238E27FC236}">
                  <a16:creationId xmlns:a16="http://schemas.microsoft.com/office/drawing/2014/main" id="{05FC7700-06DA-DCFC-FD4C-A2D0119A2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7352" y="2128592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6" name="Oval 120">
              <a:extLst>
                <a:ext uri="{FF2B5EF4-FFF2-40B4-BE49-F238E27FC236}">
                  <a16:creationId xmlns:a16="http://schemas.microsoft.com/office/drawing/2014/main" id="{AC9B5877-B5CA-C084-22F6-367A1DABC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6059" y="1752600"/>
              <a:ext cx="242809" cy="13316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cxnSp>
        <p:nvCxnSpPr>
          <p:cNvPr id="52307" name="AutoShape 24">
            <a:extLst>
              <a:ext uri="{FF2B5EF4-FFF2-40B4-BE49-F238E27FC236}">
                <a16:creationId xmlns:a16="http://schemas.microsoft.com/office/drawing/2014/main" id="{1D95E420-946A-BB0F-DBAA-E53131C5C25B}"/>
              </a:ext>
            </a:extLst>
          </p:cNvPr>
          <p:cNvCxnSpPr>
            <a:cxnSpLocks noChangeShapeType="1"/>
            <a:endCxn id="313" idx="0"/>
          </p:cNvCxnSpPr>
          <p:nvPr/>
        </p:nvCxnSpPr>
        <p:spPr bwMode="auto">
          <a:xfrm rot="5400000">
            <a:off x="8402638" y="2905119"/>
            <a:ext cx="203200" cy="1587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8" name="AutoShape 24">
            <a:extLst>
              <a:ext uri="{FF2B5EF4-FFF2-40B4-BE49-F238E27FC236}">
                <a16:creationId xmlns:a16="http://schemas.microsoft.com/office/drawing/2014/main" id="{A431A376-AE3C-E328-2E8F-0DBAE0EC7045}"/>
              </a:ext>
            </a:extLst>
          </p:cNvPr>
          <p:cNvCxnSpPr>
            <a:cxnSpLocks noChangeShapeType="1"/>
            <a:stCxn id="52314" idx="4"/>
            <a:endCxn id="310" idx="0"/>
          </p:cNvCxnSpPr>
          <p:nvPr/>
        </p:nvCxnSpPr>
        <p:spPr bwMode="auto">
          <a:xfrm rot="16200000" flipH="1">
            <a:off x="8551864" y="2914645"/>
            <a:ext cx="198437" cy="134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9" name="AutoShape 24">
            <a:extLst>
              <a:ext uri="{FF2B5EF4-FFF2-40B4-BE49-F238E27FC236}">
                <a16:creationId xmlns:a16="http://schemas.microsoft.com/office/drawing/2014/main" id="{952C8F54-7D7B-BE56-6DB8-3E473D06EF3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8998744" y="2988463"/>
            <a:ext cx="195263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0" name="AutoShape 24">
            <a:extLst>
              <a:ext uri="{FF2B5EF4-FFF2-40B4-BE49-F238E27FC236}">
                <a16:creationId xmlns:a16="http://schemas.microsoft.com/office/drawing/2014/main" id="{1C53C5C5-B252-FFD5-1C7A-DD6ECA89A4C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8973344" y="2636037"/>
            <a:ext cx="247650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1" name="AutoShape 24">
            <a:extLst>
              <a:ext uri="{FF2B5EF4-FFF2-40B4-BE49-F238E27FC236}">
                <a16:creationId xmlns:a16="http://schemas.microsoft.com/office/drawing/2014/main" id="{C9AAA36D-EE85-8BC2-FDAE-C7CEEE4FF685}"/>
              </a:ext>
            </a:extLst>
          </p:cNvPr>
          <p:cNvCxnSpPr>
            <a:cxnSpLocks noChangeShapeType="1"/>
            <a:stCxn id="52320" idx="4"/>
            <a:endCxn id="314" idx="0"/>
          </p:cNvCxnSpPr>
          <p:nvPr/>
        </p:nvCxnSpPr>
        <p:spPr bwMode="auto">
          <a:xfrm rot="16200000" flipH="1">
            <a:off x="9505157" y="2980526"/>
            <a:ext cx="195263" cy="95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2" name="AutoShape 24">
            <a:extLst>
              <a:ext uri="{FF2B5EF4-FFF2-40B4-BE49-F238E27FC236}">
                <a16:creationId xmlns:a16="http://schemas.microsoft.com/office/drawing/2014/main" id="{3B2A3C2B-DDAD-10C9-8218-248A586EBBAE}"/>
              </a:ext>
            </a:extLst>
          </p:cNvPr>
          <p:cNvCxnSpPr>
            <a:cxnSpLocks noChangeShapeType="1"/>
            <a:stCxn id="316" idx="3"/>
            <a:endCxn id="52314" idx="0"/>
          </p:cNvCxnSpPr>
          <p:nvPr/>
        </p:nvCxnSpPr>
        <p:spPr bwMode="auto">
          <a:xfrm rot="5400000">
            <a:off x="8667751" y="2408232"/>
            <a:ext cx="258762" cy="4270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3" name="AutoShape 24">
            <a:extLst>
              <a:ext uri="{FF2B5EF4-FFF2-40B4-BE49-F238E27FC236}">
                <a16:creationId xmlns:a16="http://schemas.microsoft.com/office/drawing/2014/main" id="{5F125849-57F0-28F8-51B5-555AFC376D0F}"/>
              </a:ext>
            </a:extLst>
          </p:cNvPr>
          <p:cNvCxnSpPr>
            <a:cxnSpLocks noChangeShapeType="1"/>
            <a:stCxn id="316" idx="5"/>
            <a:endCxn id="52320" idx="0"/>
          </p:cNvCxnSpPr>
          <p:nvPr/>
        </p:nvCxnSpPr>
        <p:spPr bwMode="auto">
          <a:xfrm rot="16200000" flipH="1">
            <a:off x="9259889" y="2416170"/>
            <a:ext cx="261937" cy="4143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60607291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 flipH="1">
            <a:off x="106363" y="2274887"/>
            <a:ext cx="1630363" cy="147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ja-JP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ゲージ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defRPr/>
            </a:pPr>
            <a:r>
              <a:rPr lang="ja-JP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レーダー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defRPr/>
            </a:pPr>
            <a:r>
              <a:rPr lang="ja-JP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ゲージ情報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defRPr/>
            </a:pPr>
            <a:r>
              <a:rPr lang="ja-JP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レーダー情報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defRPr/>
            </a:pPr>
            <a:r>
              <a:rPr lang="ja-JP" altLang="en-US" dirty="0">
                <a:latin typeface="Meiryo" panose="020B0604030504040204" pitchFamily="34" charset="-128"/>
                <a:ea typeface="Meiryo" panose="020B0604030504040204" pitchFamily="34" charset="-128"/>
              </a:rPr>
              <a:t>モデル情報</a:t>
            </a:r>
          </a:p>
        </p:txBody>
      </p:sp>
      <p:sp>
        <p:nvSpPr>
          <p:cNvPr id="53251" name="テキスト ボックス 4"/>
          <p:cNvSpPr txBox="1">
            <a:spLocks noChangeArrowheads="1"/>
          </p:cNvSpPr>
          <p:nvPr/>
        </p:nvSpPr>
        <p:spPr bwMode="auto">
          <a:xfrm>
            <a:off x="258763" y="3798886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入力語集合</a:t>
            </a:r>
          </a:p>
        </p:txBody>
      </p:sp>
      <p:sp>
        <p:nvSpPr>
          <p:cNvPr id="53252" name="テキスト ボックス 25"/>
          <p:cNvSpPr txBox="1">
            <a:spLocks noChangeArrowheads="1"/>
          </p:cNvSpPr>
          <p:nvPr/>
        </p:nvSpPr>
        <p:spPr bwMode="auto">
          <a:xfrm>
            <a:off x="2620962" y="3722687"/>
            <a:ext cx="18113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完全照合概念の</a:t>
            </a:r>
            <a:endParaRPr lang="en-US" altLang="ja-JP" b="1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 eaLnBrk="1" hangingPunct="1"/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概念階層</a:t>
            </a:r>
          </a:p>
        </p:txBody>
      </p:sp>
      <p:sp>
        <p:nvSpPr>
          <p:cNvPr id="53253" name="テキスト ボックス 64"/>
          <p:cNvSpPr txBox="1">
            <a:spLocks noChangeArrowheads="1"/>
          </p:cNvSpPr>
          <p:nvPr/>
        </p:nvSpPr>
        <p:spPr bwMode="auto">
          <a:xfrm>
            <a:off x="5162550" y="5322887"/>
            <a:ext cx="27416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部分照合概念の概念階層</a:t>
            </a:r>
            <a:endParaRPr lang="en-US" altLang="ja-JP" b="1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 eaLnBrk="1" hangingPunct="1"/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（語尾による階層化）</a:t>
            </a:r>
          </a:p>
        </p:txBody>
      </p:sp>
      <p:sp>
        <p:nvSpPr>
          <p:cNvPr id="53254" name="テキスト ボックス 65"/>
          <p:cNvSpPr txBox="1">
            <a:spLocks noChangeArrowheads="1"/>
          </p:cNvSpPr>
          <p:nvPr/>
        </p:nvSpPr>
        <p:spPr bwMode="auto">
          <a:xfrm>
            <a:off x="1782763" y="1741486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名詞的概念</a:t>
            </a:r>
          </a:p>
        </p:txBody>
      </p:sp>
      <p:sp>
        <p:nvSpPr>
          <p:cNvPr id="53255" name="テキスト ボックス 66"/>
          <p:cNvSpPr txBox="1">
            <a:spLocks noChangeArrowheads="1"/>
          </p:cNvSpPr>
          <p:nvPr/>
        </p:nvSpPr>
        <p:spPr bwMode="auto">
          <a:xfrm>
            <a:off x="2544762" y="2122486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具体物</a:t>
            </a:r>
          </a:p>
        </p:txBody>
      </p:sp>
      <p:sp>
        <p:nvSpPr>
          <p:cNvPr id="53256" name="テキスト ボックス 67"/>
          <p:cNvSpPr txBox="1">
            <a:spLocks noChangeArrowheads="1"/>
          </p:cNvSpPr>
          <p:nvPr/>
        </p:nvSpPr>
        <p:spPr bwMode="auto">
          <a:xfrm>
            <a:off x="3078163" y="2503486"/>
            <a:ext cx="64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計器</a:t>
            </a:r>
          </a:p>
        </p:txBody>
      </p:sp>
      <p:sp>
        <p:nvSpPr>
          <p:cNvPr id="53257" name="テキスト ボックス 68"/>
          <p:cNvSpPr txBox="1">
            <a:spLocks noChangeArrowheads="1"/>
          </p:cNvSpPr>
          <p:nvPr/>
        </p:nvSpPr>
        <p:spPr bwMode="auto">
          <a:xfrm>
            <a:off x="3540126" y="2884486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ゲージ</a:t>
            </a:r>
          </a:p>
        </p:txBody>
      </p:sp>
      <p:sp>
        <p:nvSpPr>
          <p:cNvPr id="53258" name="テキスト ボックス 69"/>
          <p:cNvSpPr txBox="1">
            <a:spLocks noChangeArrowheads="1"/>
          </p:cNvSpPr>
          <p:nvPr/>
        </p:nvSpPr>
        <p:spPr bwMode="auto">
          <a:xfrm>
            <a:off x="3563938" y="3265486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レーダー</a:t>
            </a:r>
          </a:p>
        </p:txBody>
      </p:sp>
      <p:cxnSp>
        <p:nvCxnSpPr>
          <p:cNvPr id="72" name="図形 71"/>
          <p:cNvCxnSpPr>
            <a:stCxn id="53254" idx="2"/>
            <a:endCxn id="53255" idx="1"/>
          </p:cNvCxnSpPr>
          <p:nvPr/>
        </p:nvCxnSpPr>
        <p:spPr>
          <a:xfrm rot="16200000" flipH="1">
            <a:off x="2401094" y="2162968"/>
            <a:ext cx="195262" cy="9207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図形 72"/>
          <p:cNvCxnSpPr>
            <a:stCxn id="53255" idx="2"/>
            <a:endCxn id="53256" idx="1"/>
          </p:cNvCxnSpPr>
          <p:nvPr/>
        </p:nvCxnSpPr>
        <p:spPr>
          <a:xfrm rot="16200000" flipH="1">
            <a:off x="2932906" y="2542380"/>
            <a:ext cx="195262" cy="952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図形 75"/>
          <p:cNvCxnSpPr>
            <a:stCxn id="53256" idx="2"/>
            <a:endCxn id="53257" idx="1"/>
          </p:cNvCxnSpPr>
          <p:nvPr/>
        </p:nvCxnSpPr>
        <p:spPr>
          <a:xfrm rot="16200000" flipH="1">
            <a:off x="3372784" y="2901810"/>
            <a:ext cx="195778" cy="138906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図形 78"/>
          <p:cNvCxnSpPr>
            <a:stCxn id="53256" idx="2"/>
            <a:endCxn id="53258" idx="1"/>
          </p:cNvCxnSpPr>
          <p:nvPr/>
        </p:nvCxnSpPr>
        <p:spPr>
          <a:xfrm rot="16200000" flipH="1">
            <a:off x="3194190" y="3080404"/>
            <a:ext cx="576778" cy="162718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63" name="テキスト ボックス 80"/>
          <p:cNvSpPr txBox="1">
            <a:spLocks noChangeArrowheads="1"/>
          </p:cNvSpPr>
          <p:nvPr/>
        </p:nvSpPr>
        <p:spPr bwMode="auto">
          <a:xfrm>
            <a:off x="3962400" y="1447800"/>
            <a:ext cx="1338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名詞的概念</a:t>
            </a:r>
          </a:p>
        </p:txBody>
      </p:sp>
      <p:sp>
        <p:nvSpPr>
          <p:cNvPr id="53264" name="テキスト ボックス 81"/>
          <p:cNvSpPr txBox="1">
            <a:spLocks noChangeArrowheads="1"/>
          </p:cNvSpPr>
          <p:nvPr/>
        </p:nvSpPr>
        <p:spPr bwMode="auto">
          <a:xfrm>
            <a:off x="5370512" y="2122486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具体物</a:t>
            </a:r>
          </a:p>
        </p:txBody>
      </p:sp>
      <p:sp>
        <p:nvSpPr>
          <p:cNvPr id="53265" name="テキスト ボックス 82"/>
          <p:cNvSpPr txBox="1">
            <a:spLocks noChangeArrowheads="1"/>
          </p:cNvSpPr>
          <p:nvPr/>
        </p:nvSpPr>
        <p:spPr bwMode="auto">
          <a:xfrm>
            <a:off x="5907088" y="2438400"/>
            <a:ext cx="646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計器</a:t>
            </a:r>
          </a:p>
        </p:txBody>
      </p:sp>
      <p:sp>
        <p:nvSpPr>
          <p:cNvPr id="53266" name="テキスト ボックス 83"/>
          <p:cNvSpPr txBox="1">
            <a:spLocks noChangeArrowheads="1"/>
          </p:cNvSpPr>
          <p:nvPr/>
        </p:nvSpPr>
        <p:spPr bwMode="auto">
          <a:xfrm>
            <a:off x="6354762" y="2732086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ゲージ</a:t>
            </a:r>
          </a:p>
        </p:txBody>
      </p:sp>
      <p:sp>
        <p:nvSpPr>
          <p:cNvPr id="53267" name="テキスト ボックス 84"/>
          <p:cNvSpPr txBox="1">
            <a:spLocks noChangeArrowheads="1"/>
          </p:cNvSpPr>
          <p:nvPr/>
        </p:nvSpPr>
        <p:spPr bwMode="auto">
          <a:xfrm>
            <a:off x="6353176" y="3036886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レーダー</a:t>
            </a:r>
          </a:p>
        </p:txBody>
      </p:sp>
      <p:cxnSp>
        <p:nvCxnSpPr>
          <p:cNvPr id="86" name="図形 85"/>
          <p:cNvCxnSpPr>
            <a:stCxn id="53272" idx="2"/>
            <a:endCxn id="53264" idx="1"/>
          </p:cNvCxnSpPr>
          <p:nvPr/>
        </p:nvCxnSpPr>
        <p:spPr>
          <a:xfrm rot="16200000" flipH="1">
            <a:off x="5272659" y="2209577"/>
            <a:ext cx="109298" cy="86408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図形 86"/>
          <p:cNvCxnSpPr>
            <a:stCxn id="53264" idx="2"/>
            <a:endCxn id="53265" idx="1"/>
          </p:cNvCxnSpPr>
          <p:nvPr/>
        </p:nvCxnSpPr>
        <p:spPr>
          <a:xfrm rot="16200000" flipH="1">
            <a:off x="5792788" y="2509837"/>
            <a:ext cx="131762" cy="96837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図形 87"/>
          <p:cNvCxnSpPr>
            <a:stCxn id="53265" idx="2"/>
            <a:endCxn id="53266" idx="1"/>
          </p:cNvCxnSpPr>
          <p:nvPr/>
        </p:nvCxnSpPr>
        <p:spPr>
          <a:xfrm rot="16200000" flipH="1">
            <a:off x="6238221" y="2800210"/>
            <a:ext cx="108465" cy="124617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図形 88"/>
          <p:cNvCxnSpPr>
            <a:stCxn id="53265" idx="2"/>
            <a:endCxn id="53267" idx="1"/>
          </p:cNvCxnSpPr>
          <p:nvPr/>
        </p:nvCxnSpPr>
        <p:spPr>
          <a:xfrm rot="16200000" flipH="1">
            <a:off x="6085028" y="2953403"/>
            <a:ext cx="413265" cy="123031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72" name="テキスト ボックス 89"/>
          <p:cNvSpPr txBox="1">
            <a:spLocks noChangeArrowheads="1"/>
          </p:cNvSpPr>
          <p:nvPr/>
        </p:nvSpPr>
        <p:spPr bwMode="auto">
          <a:xfrm>
            <a:off x="4960938" y="1828800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もの</a:t>
            </a:r>
          </a:p>
        </p:txBody>
      </p:sp>
      <p:cxnSp>
        <p:nvCxnSpPr>
          <p:cNvPr id="91" name="図形 90"/>
          <p:cNvCxnSpPr>
            <a:stCxn id="53263" idx="2"/>
            <a:endCxn id="53272" idx="1"/>
          </p:cNvCxnSpPr>
          <p:nvPr/>
        </p:nvCxnSpPr>
        <p:spPr>
          <a:xfrm rot="16200000" flipH="1">
            <a:off x="4698345" y="1750872"/>
            <a:ext cx="195779" cy="329407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74" name="テキスト ボックス 92"/>
          <p:cNvSpPr txBox="1">
            <a:spLocks noChangeArrowheads="1"/>
          </p:cNvSpPr>
          <p:nvPr/>
        </p:nvSpPr>
        <p:spPr bwMode="auto">
          <a:xfrm>
            <a:off x="5446712" y="3189286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抽象物</a:t>
            </a:r>
          </a:p>
        </p:txBody>
      </p:sp>
      <p:sp>
        <p:nvSpPr>
          <p:cNvPr id="53275" name="テキスト ボックス 94"/>
          <p:cNvSpPr txBox="1">
            <a:spLocks noChangeArrowheads="1"/>
          </p:cNvSpPr>
          <p:nvPr/>
        </p:nvSpPr>
        <p:spPr bwMode="auto">
          <a:xfrm>
            <a:off x="6450012" y="3886200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ゲージ情報</a:t>
            </a:r>
          </a:p>
        </p:txBody>
      </p:sp>
      <p:sp>
        <p:nvSpPr>
          <p:cNvPr id="53276" name="テキスト ボックス 95"/>
          <p:cNvSpPr txBox="1">
            <a:spLocks noChangeArrowheads="1"/>
          </p:cNvSpPr>
          <p:nvPr/>
        </p:nvSpPr>
        <p:spPr bwMode="auto">
          <a:xfrm>
            <a:off x="6456362" y="4267200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レーダー情報</a:t>
            </a:r>
          </a:p>
        </p:txBody>
      </p:sp>
      <p:cxnSp>
        <p:nvCxnSpPr>
          <p:cNvPr id="97" name="図形 96"/>
          <p:cNvCxnSpPr>
            <a:stCxn id="53274" idx="2"/>
            <a:endCxn id="53287" idx="1"/>
          </p:cNvCxnSpPr>
          <p:nvPr/>
        </p:nvCxnSpPr>
        <p:spPr>
          <a:xfrm rot="16200000" flipH="1">
            <a:off x="5826125" y="3619499"/>
            <a:ext cx="207962" cy="87312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図形 97"/>
          <p:cNvCxnSpPr>
            <a:stCxn id="53287" idx="2"/>
            <a:endCxn id="53275" idx="1"/>
          </p:cNvCxnSpPr>
          <p:nvPr/>
        </p:nvCxnSpPr>
        <p:spPr>
          <a:xfrm rot="16200000" flipH="1">
            <a:off x="6313627" y="3934480"/>
            <a:ext cx="119579" cy="153192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図形 98"/>
          <p:cNvCxnSpPr>
            <a:stCxn id="53287" idx="2"/>
            <a:endCxn id="53276" idx="1"/>
          </p:cNvCxnSpPr>
          <p:nvPr/>
        </p:nvCxnSpPr>
        <p:spPr>
          <a:xfrm rot="16200000" flipH="1">
            <a:off x="6126302" y="4121805"/>
            <a:ext cx="500579" cy="159542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80" name="テキスト ボックス 99"/>
          <p:cNvSpPr txBox="1">
            <a:spLocks noChangeArrowheads="1"/>
          </p:cNvSpPr>
          <p:nvPr/>
        </p:nvSpPr>
        <p:spPr bwMode="auto">
          <a:xfrm>
            <a:off x="6446838" y="4648200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モデル情報</a:t>
            </a:r>
          </a:p>
        </p:txBody>
      </p:sp>
      <p:cxnSp>
        <p:nvCxnSpPr>
          <p:cNvPr id="101" name="図形 100"/>
          <p:cNvCxnSpPr>
            <a:stCxn id="53287" idx="2"/>
            <a:endCxn id="53280" idx="1"/>
          </p:cNvCxnSpPr>
          <p:nvPr/>
        </p:nvCxnSpPr>
        <p:spPr>
          <a:xfrm rot="16200000" flipH="1">
            <a:off x="5931040" y="4317067"/>
            <a:ext cx="881579" cy="150018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図形 101"/>
          <p:cNvCxnSpPr>
            <a:stCxn id="53272" idx="2"/>
            <a:endCxn id="53274" idx="1"/>
          </p:cNvCxnSpPr>
          <p:nvPr/>
        </p:nvCxnSpPr>
        <p:spPr>
          <a:xfrm rot="16200000" flipH="1">
            <a:off x="4777359" y="2704877"/>
            <a:ext cx="1176098" cy="162608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83" name="テキスト ボックス 123"/>
          <p:cNvSpPr txBox="1">
            <a:spLocks noChangeArrowheads="1"/>
          </p:cNvSpPr>
          <p:nvPr/>
        </p:nvSpPr>
        <p:spPr bwMode="auto">
          <a:xfrm>
            <a:off x="8564563" y="5322887"/>
            <a:ext cx="27416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部分照合概念の概念階層</a:t>
            </a:r>
            <a:endParaRPr lang="en-US" altLang="ja-JP" b="1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 eaLnBrk="1" hangingPunct="1"/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（語頭による階層化）</a:t>
            </a:r>
          </a:p>
        </p:txBody>
      </p:sp>
      <p:sp>
        <p:nvSpPr>
          <p:cNvPr id="45092" name="AutoShape 146"/>
          <p:cNvSpPr>
            <a:spLocks noChangeArrowheads="1"/>
          </p:cNvSpPr>
          <p:nvPr/>
        </p:nvSpPr>
        <p:spPr bwMode="auto">
          <a:xfrm>
            <a:off x="2011362" y="2884486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093" name="AutoShape 146"/>
          <p:cNvSpPr>
            <a:spLocks noChangeArrowheads="1"/>
          </p:cNvSpPr>
          <p:nvPr/>
        </p:nvSpPr>
        <p:spPr bwMode="auto">
          <a:xfrm>
            <a:off x="4525962" y="2884486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094" name="AutoShape 146"/>
          <p:cNvSpPr>
            <a:spLocks noChangeArrowheads="1"/>
          </p:cNvSpPr>
          <p:nvPr/>
        </p:nvSpPr>
        <p:spPr bwMode="auto">
          <a:xfrm>
            <a:off x="7497762" y="2884486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3287" name="テキスト ボックス 93"/>
          <p:cNvSpPr txBox="1">
            <a:spLocks noChangeArrowheads="1"/>
          </p:cNvSpPr>
          <p:nvPr/>
        </p:nvSpPr>
        <p:spPr bwMode="auto">
          <a:xfrm>
            <a:off x="5973763" y="3581400"/>
            <a:ext cx="646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情報</a:t>
            </a:r>
          </a:p>
        </p:txBody>
      </p:sp>
      <p:sp>
        <p:nvSpPr>
          <p:cNvPr id="53288" name="テキスト ボックス 174"/>
          <p:cNvSpPr txBox="1">
            <a:spLocks noChangeArrowheads="1"/>
          </p:cNvSpPr>
          <p:nvPr/>
        </p:nvSpPr>
        <p:spPr bwMode="auto">
          <a:xfrm>
            <a:off x="6888163" y="1447800"/>
            <a:ext cx="1338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名詞的概念</a:t>
            </a:r>
          </a:p>
        </p:txBody>
      </p:sp>
      <p:sp>
        <p:nvSpPr>
          <p:cNvPr id="53289" name="テキスト ボックス 175"/>
          <p:cNvSpPr txBox="1">
            <a:spLocks noChangeArrowheads="1"/>
          </p:cNvSpPr>
          <p:nvPr/>
        </p:nvSpPr>
        <p:spPr bwMode="auto">
          <a:xfrm>
            <a:off x="8296276" y="2122486"/>
            <a:ext cx="877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具体物</a:t>
            </a:r>
          </a:p>
        </p:txBody>
      </p:sp>
      <p:sp>
        <p:nvSpPr>
          <p:cNvPr id="53290" name="テキスト ボックス 176"/>
          <p:cNvSpPr txBox="1">
            <a:spLocks noChangeArrowheads="1"/>
          </p:cNvSpPr>
          <p:nvPr/>
        </p:nvSpPr>
        <p:spPr bwMode="auto">
          <a:xfrm>
            <a:off x="8832850" y="2438400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計器</a:t>
            </a:r>
          </a:p>
        </p:txBody>
      </p:sp>
      <p:sp>
        <p:nvSpPr>
          <p:cNvPr id="53291" name="テキスト ボックス 177"/>
          <p:cNvSpPr txBox="1">
            <a:spLocks noChangeArrowheads="1"/>
          </p:cNvSpPr>
          <p:nvPr/>
        </p:nvSpPr>
        <p:spPr bwMode="auto">
          <a:xfrm>
            <a:off x="9255125" y="2732086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ゲージ</a:t>
            </a:r>
          </a:p>
        </p:txBody>
      </p:sp>
      <p:sp>
        <p:nvSpPr>
          <p:cNvPr id="53292" name="テキスト ボックス 178"/>
          <p:cNvSpPr txBox="1">
            <a:spLocks noChangeArrowheads="1"/>
          </p:cNvSpPr>
          <p:nvPr/>
        </p:nvSpPr>
        <p:spPr bwMode="auto">
          <a:xfrm>
            <a:off x="9253537" y="3036886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レーダー</a:t>
            </a:r>
          </a:p>
        </p:txBody>
      </p:sp>
      <p:cxnSp>
        <p:nvCxnSpPr>
          <p:cNvPr id="180" name="図形 179"/>
          <p:cNvCxnSpPr>
            <a:stCxn id="53297" idx="2"/>
            <a:endCxn id="53289" idx="1"/>
          </p:cNvCxnSpPr>
          <p:nvPr/>
        </p:nvCxnSpPr>
        <p:spPr>
          <a:xfrm rot="16200000" flipH="1">
            <a:off x="8198422" y="2209576"/>
            <a:ext cx="109298" cy="8641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図形 180"/>
          <p:cNvCxnSpPr>
            <a:stCxn id="53289" idx="2"/>
            <a:endCxn id="53290" idx="1"/>
          </p:cNvCxnSpPr>
          <p:nvPr/>
        </p:nvCxnSpPr>
        <p:spPr>
          <a:xfrm rot="16200000" flipH="1">
            <a:off x="8718550" y="2509836"/>
            <a:ext cx="131762" cy="96838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図形 181"/>
          <p:cNvCxnSpPr>
            <a:cxnSpLocks/>
            <a:stCxn id="53290" idx="2"/>
            <a:endCxn id="53291" idx="1"/>
          </p:cNvCxnSpPr>
          <p:nvPr/>
        </p:nvCxnSpPr>
        <p:spPr>
          <a:xfrm rot="16200000" flipH="1">
            <a:off x="9151283" y="2812909"/>
            <a:ext cx="108465" cy="99219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図形 182"/>
          <p:cNvCxnSpPr>
            <a:cxnSpLocks/>
            <a:stCxn id="53290" idx="2"/>
            <a:endCxn id="53292" idx="1"/>
          </p:cNvCxnSpPr>
          <p:nvPr/>
        </p:nvCxnSpPr>
        <p:spPr>
          <a:xfrm rot="16200000" flipH="1">
            <a:off x="8998089" y="2966103"/>
            <a:ext cx="413265" cy="97631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97" name="テキスト ボックス 183"/>
          <p:cNvSpPr txBox="1">
            <a:spLocks noChangeArrowheads="1"/>
          </p:cNvSpPr>
          <p:nvPr/>
        </p:nvSpPr>
        <p:spPr bwMode="auto">
          <a:xfrm>
            <a:off x="7886700" y="1828800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もの</a:t>
            </a:r>
          </a:p>
        </p:txBody>
      </p:sp>
      <p:cxnSp>
        <p:nvCxnSpPr>
          <p:cNvPr id="185" name="図形 184"/>
          <p:cNvCxnSpPr>
            <a:stCxn id="53288" idx="2"/>
            <a:endCxn id="53297" idx="1"/>
          </p:cNvCxnSpPr>
          <p:nvPr/>
        </p:nvCxnSpPr>
        <p:spPr>
          <a:xfrm rot="16200000" flipH="1">
            <a:off x="7624108" y="1750873"/>
            <a:ext cx="195779" cy="32940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99" name="テキスト ボックス 185"/>
          <p:cNvSpPr txBox="1">
            <a:spLocks noChangeArrowheads="1"/>
          </p:cNvSpPr>
          <p:nvPr/>
        </p:nvSpPr>
        <p:spPr bwMode="auto">
          <a:xfrm>
            <a:off x="8372476" y="3189286"/>
            <a:ext cx="877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抽象物</a:t>
            </a:r>
          </a:p>
        </p:txBody>
      </p:sp>
      <p:sp>
        <p:nvSpPr>
          <p:cNvPr id="53300" name="テキスト ボックス 186"/>
          <p:cNvSpPr txBox="1">
            <a:spLocks noChangeArrowheads="1"/>
          </p:cNvSpPr>
          <p:nvPr/>
        </p:nvSpPr>
        <p:spPr bwMode="auto">
          <a:xfrm>
            <a:off x="9337852" y="3878613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モデル情報</a:t>
            </a:r>
          </a:p>
        </p:txBody>
      </p:sp>
      <p:sp>
        <p:nvSpPr>
          <p:cNvPr id="53301" name="テキスト ボックス 187"/>
          <p:cNvSpPr txBox="1">
            <a:spLocks noChangeArrowheads="1"/>
          </p:cNvSpPr>
          <p:nvPr/>
        </p:nvSpPr>
        <p:spPr bwMode="auto">
          <a:xfrm>
            <a:off x="9344202" y="4259613"/>
            <a:ext cx="110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計器情報</a:t>
            </a:r>
          </a:p>
        </p:txBody>
      </p:sp>
      <p:cxnSp>
        <p:nvCxnSpPr>
          <p:cNvPr id="189" name="図形 188"/>
          <p:cNvCxnSpPr>
            <a:stCxn id="53299" idx="2"/>
            <a:endCxn id="53308" idx="1"/>
          </p:cNvCxnSpPr>
          <p:nvPr/>
        </p:nvCxnSpPr>
        <p:spPr>
          <a:xfrm rot="16200000" flipH="1">
            <a:off x="8751888" y="3619499"/>
            <a:ext cx="207962" cy="87313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図形 189"/>
          <p:cNvCxnSpPr>
            <a:cxnSpLocks/>
            <a:stCxn id="53308" idx="2"/>
            <a:endCxn id="53300" idx="1"/>
          </p:cNvCxnSpPr>
          <p:nvPr/>
        </p:nvCxnSpPr>
        <p:spPr>
          <a:xfrm rot="16200000" flipH="1">
            <a:off x="9224220" y="3949647"/>
            <a:ext cx="111992" cy="115271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図形 190"/>
          <p:cNvCxnSpPr>
            <a:cxnSpLocks/>
            <a:stCxn id="53308" idx="2"/>
            <a:endCxn id="53301" idx="1"/>
          </p:cNvCxnSpPr>
          <p:nvPr/>
        </p:nvCxnSpPr>
        <p:spPr>
          <a:xfrm rot="16200000" flipH="1">
            <a:off x="9036756" y="4137111"/>
            <a:ext cx="493270" cy="121621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305" name="テキスト ボックス 191"/>
          <p:cNvSpPr txBox="1">
            <a:spLocks noChangeArrowheads="1"/>
          </p:cNvSpPr>
          <p:nvPr/>
        </p:nvSpPr>
        <p:spPr bwMode="auto">
          <a:xfrm>
            <a:off x="10126839" y="4640613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ゲージ情報</a:t>
            </a:r>
          </a:p>
        </p:txBody>
      </p:sp>
      <p:cxnSp>
        <p:nvCxnSpPr>
          <p:cNvPr id="193" name="図形 192"/>
          <p:cNvCxnSpPr>
            <a:stCxn id="53301" idx="2"/>
            <a:endCxn id="53305" idx="1"/>
          </p:cNvCxnSpPr>
          <p:nvPr/>
        </p:nvCxnSpPr>
        <p:spPr>
          <a:xfrm rot="16200000" flipH="1">
            <a:off x="9914650" y="4613089"/>
            <a:ext cx="195779" cy="228599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図形 193"/>
          <p:cNvCxnSpPr>
            <a:stCxn id="53297" idx="2"/>
            <a:endCxn id="53299" idx="1"/>
          </p:cNvCxnSpPr>
          <p:nvPr/>
        </p:nvCxnSpPr>
        <p:spPr>
          <a:xfrm rot="16200000" flipH="1">
            <a:off x="7703122" y="2704876"/>
            <a:ext cx="1176098" cy="16261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308" name="テキスト ボックス 194"/>
          <p:cNvSpPr txBox="1">
            <a:spLocks noChangeArrowheads="1"/>
          </p:cNvSpPr>
          <p:nvPr/>
        </p:nvSpPr>
        <p:spPr bwMode="auto">
          <a:xfrm>
            <a:off x="8899525" y="3581400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情報</a:t>
            </a:r>
          </a:p>
        </p:txBody>
      </p:sp>
      <p:sp>
        <p:nvSpPr>
          <p:cNvPr id="53309" name="テキスト ボックス 196"/>
          <p:cNvSpPr txBox="1">
            <a:spLocks noChangeArrowheads="1"/>
          </p:cNvSpPr>
          <p:nvPr/>
        </p:nvSpPr>
        <p:spPr bwMode="auto">
          <a:xfrm>
            <a:off x="10126839" y="4945413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レーダー情報</a:t>
            </a:r>
          </a:p>
        </p:txBody>
      </p:sp>
      <p:cxnSp>
        <p:nvCxnSpPr>
          <p:cNvPr id="198" name="図形 197"/>
          <p:cNvCxnSpPr>
            <a:stCxn id="53301" idx="2"/>
            <a:endCxn id="53309" idx="1"/>
          </p:cNvCxnSpPr>
          <p:nvPr/>
        </p:nvCxnSpPr>
        <p:spPr>
          <a:xfrm rot="16200000" flipH="1">
            <a:off x="9762250" y="4765489"/>
            <a:ext cx="500579" cy="228599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7"/>
          <p:cNvSpPr>
            <a:spLocks noChangeArrowheads="1"/>
          </p:cNvSpPr>
          <p:nvPr/>
        </p:nvSpPr>
        <p:spPr bwMode="auto">
          <a:xfrm>
            <a:off x="2589213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sp>
        <p:nvSpPr>
          <p:cNvPr id="54275" name="Freeform 83"/>
          <p:cNvSpPr>
            <a:spLocks/>
          </p:cNvSpPr>
          <p:nvPr/>
        </p:nvSpPr>
        <p:spPr bwMode="auto">
          <a:xfrm>
            <a:off x="2589213" y="3479800"/>
            <a:ext cx="1371600" cy="306388"/>
          </a:xfrm>
          <a:custGeom>
            <a:avLst/>
            <a:gdLst>
              <a:gd name="T0" fmla="*/ 0 w 720"/>
              <a:gd name="T1" fmla="*/ 0 h 144"/>
              <a:gd name="T2" fmla="*/ 2147483647 w 720"/>
              <a:gd name="T3" fmla="*/ 0 h 144"/>
              <a:gd name="T4" fmla="*/ 2147483647 w 720"/>
              <a:gd name="T5" fmla="*/ 2147483647 h 144"/>
              <a:gd name="T6" fmla="*/ 0 w 720"/>
              <a:gd name="T7" fmla="*/ 2147483647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144"/>
              <a:gd name="T14" fmla="*/ 720 w 720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144">
                <a:moveTo>
                  <a:pt x="0" y="0"/>
                </a:moveTo>
                <a:lnTo>
                  <a:pt x="720" y="0"/>
                </a:lnTo>
                <a:lnTo>
                  <a:pt x="720" y="144"/>
                </a:lnTo>
                <a:lnTo>
                  <a:pt x="0" y="144"/>
                </a:lnTo>
              </a:path>
            </a:pathLst>
          </a:custGeom>
          <a:noFill/>
          <a:ln w="15875" cap="rnd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13" tIns="45707" rIns="91413" bIns="4570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 sz="1400"/>
          </a:p>
        </p:txBody>
      </p:sp>
      <p:sp>
        <p:nvSpPr>
          <p:cNvPr id="54276" name="Freeform 84"/>
          <p:cNvSpPr>
            <a:spLocks/>
          </p:cNvSpPr>
          <p:nvPr/>
        </p:nvSpPr>
        <p:spPr bwMode="auto">
          <a:xfrm flipH="1">
            <a:off x="2622551" y="3159125"/>
            <a:ext cx="1641475" cy="369306"/>
          </a:xfrm>
          <a:custGeom>
            <a:avLst/>
            <a:gdLst>
              <a:gd name="T0" fmla="*/ 0 w 720"/>
              <a:gd name="T1" fmla="*/ 0 h 144"/>
              <a:gd name="T2" fmla="*/ 2147483647 w 720"/>
              <a:gd name="T3" fmla="*/ 0 h 144"/>
              <a:gd name="T4" fmla="*/ 2147483647 w 720"/>
              <a:gd name="T5" fmla="*/ 2147483647 h 144"/>
              <a:gd name="T6" fmla="*/ 0 w 720"/>
              <a:gd name="T7" fmla="*/ 2147483647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144"/>
              <a:gd name="T14" fmla="*/ 720 w 720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144">
                <a:moveTo>
                  <a:pt x="0" y="0"/>
                </a:moveTo>
                <a:lnTo>
                  <a:pt x="720" y="0"/>
                </a:lnTo>
                <a:lnTo>
                  <a:pt x="720" y="144"/>
                </a:lnTo>
                <a:lnTo>
                  <a:pt x="0" y="144"/>
                </a:lnTo>
              </a:path>
            </a:pathLst>
          </a:custGeom>
          <a:noFill/>
          <a:ln w="15875" cap="rnd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13" tIns="45707" rIns="91413" bIns="4570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4277" name="Text Box 85"/>
          <p:cNvSpPr txBox="1">
            <a:spLocks noChangeArrowheads="1"/>
          </p:cNvSpPr>
          <p:nvPr/>
        </p:nvSpPr>
        <p:spPr bwMode="auto">
          <a:xfrm>
            <a:off x="2636838" y="2460625"/>
            <a:ext cx="159226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3" tIns="45707" rIns="91413" bIns="4570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>
                <a:latin typeface="Times New Roman" charset="0"/>
              </a:rPr>
              <a:t>…………</a:t>
            </a: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.. g</a:t>
            </a:r>
            <a:r>
              <a:rPr lang="en-US" altLang="ja-JP" sz="1000" baseline="-25000">
                <a:latin typeface="Times New Roman" charset="0"/>
              </a:rPr>
              <a:t>8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4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3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7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8</a:t>
            </a: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g</a:t>
            </a:r>
            <a:r>
              <a:rPr lang="en-US" altLang="ja-JP" sz="1000" baseline="-25000">
                <a:latin typeface="Times New Roman" charset="0"/>
              </a:rPr>
              <a:t>4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3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8</a:t>
            </a:r>
            <a:r>
              <a:rPr lang="en-US" altLang="ja-JP" sz="2000">
                <a:latin typeface="Times New Roman" charset="0"/>
              </a:rPr>
              <a:t> </a:t>
            </a:r>
            <a:r>
              <a:rPr lang="en-US" altLang="ja-JP" sz="2000" b="1">
                <a:latin typeface="Times New Roman" charset="0"/>
              </a:rPr>
              <a:t>w</a:t>
            </a:r>
            <a:r>
              <a:rPr lang="en-US" altLang="ja-JP" sz="1000" b="1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2</a:t>
            </a:r>
            <a:endParaRPr lang="en-US" altLang="ja-JP" sz="2000" baseline="-25000">
              <a:latin typeface="Times New Roman" charset="0"/>
            </a:endParaRP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g</a:t>
            </a:r>
            <a:r>
              <a:rPr lang="en-US" altLang="ja-JP" sz="1000" baseline="-25000">
                <a:latin typeface="Times New Roman" charset="0"/>
              </a:rPr>
              <a:t>5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7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5</a:t>
            </a:r>
            <a:r>
              <a:rPr lang="en-US" altLang="ja-JP" sz="2000">
                <a:latin typeface="Times New Roman" charset="0"/>
              </a:rPr>
              <a:t> ..</a:t>
            </a: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…………</a:t>
            </a:r>
            <a:endParaRPr lang="en-US" altLang="ja-JP" sz="1000">
              <a:latin typeface="Times New Roman" charset="0"/>
            </a:endParaRPr>
          </a:p>
        </p:txBody>
      </p:sp>
      <p:sp>
        <p:nvSpPr>
          <p:cNvPr id="54278" name="Rectangle 101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381000"/>
          </a:xfrm>
        </p:spPr>
        <p:txBody>
          <a:bodyPr/>
          <a:lstStyle/>
          <a:p>
            <a:pPr eaLnBrk="1" hangingPunct="1"/>
            <a:r>
              <a:rPr lang="ja-JP" altLang="en-US" sz="4000" b="1">
                <a:latin typeface="ＭＳ Ｐゴシック" charset="-128"/>
              </a:rPr>
              <a:t>文脈類似概念対の獲得</a:t>
            </a:r>
          </a:p>
        </p:txBody>
      </p:sp>
      <p:sp>
        <p:nvSpPr>
          <p:cNvPr id="54279" name="Rectangle 37"/>
          <p:cNvSpPr>
            <a:spLocks noChangeArrowheads="1"/>
          </p:cNvSpPr>
          <p:nvPr/>
        </p:nvSpPr>
        <p:spPr bwMode="auto">
          <a:xfrm>
            <a:off x="0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sp>
        <p:nvSpPr>
          <p:cNvPr id="54280" name="正方形/長方形 147"/>
          <p:cNvSpPr>
            <a:spLocks noChangeArrowheads="1"/>
          </p:cNvSpPr>
          <p:nvPr/>
        </p:nvSpPr>
        <p:spPr bwMode="auto">
          <a:xfrm>
            <a:off x="0" y="2479675"/>
            <a:ext cx="18288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 … … … …</a:t>
            </a:r>
          </a:p>
          <a:p>
            <a:pPr algn="ctr" eaLnBrk="1" hangingPunct="1"/>
            <a:r>
              <a:rPr lang="en-US" altLang="ja-JP">
                <a:latin typeface="Times New Roman" charset="0"/>
              </a:rPr>
              <a:t>.. w</a:t>
            </a:r>
            <a:r>
              <a:rPr lang="en-US" altLang="ja-JP" sz="1400" baseline="-25000">
                <a:latin typeface="Times New Roman" charset="0"/>
              </a:rPr>
              <a:t>5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6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4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7</a:t>
            </a:r>
          </a:p>
          <a:p>
            <a:pPr algn="ctr" eaLnBrk="1" hangingPunct="1"/>
            <a:endParaRPr lang="en-US" altLang="ja-JP" sz="900" baseline="-25000">
              <a:latin typeface="Times New Roman" charset="0"/>
            </a:endParaRPr>
          </a:p>
          <a:p>
            <a:pPr algn="ctr"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400" baseline="-25000">
                <a:latin typeface="Times New Roman" charset="0"/>
              </a:rPr>
              <a:t>1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2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4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8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9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2</a:t>
            </a:r>
          </a:p>
          <a:p>
            <a:pPr algn="ctr" eaLnBrk="1" hangingPunct="1"/>
            <a:endParaRPr lang="en-US" altLang="ja-JP" sz="800" baseline="-25000">
              <a:latin typeface="Times New Roman" charset="0"/>
            </a:endParaRPr>
          </a:p>
          <a:p>
            <a:pPr algn="ctr"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400" baseline="-25000">
                <a:latin typeface="Times New Roman" charset="0"/>
              </a:rPr>
              <a:t>1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5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13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6</a:t>
            </a:r>
            <a:r>
              <a:rPr lang="en-US" altLang="ja-JP">
                <a:latin typeface="Times New Roman" charset="0"/>
              </a:rPr>
              <a:t> ..</a:t>
            </a:r>
          </a:p>
          <a:p>
            <a:pPr algn="ctr" eaLnBrk="1" hangingPunct="1"/>
            <a:r>
              <a:rPr lang="en-US" altLang="ja-JP">
                <a:latin typeface="Times New Roman" charset="0"/>
              </a:rPr>
              <a:t>… … … … … 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161" name="AutoShape 146"/>
          <p:cNvSpPr>
            <a:spLocks noChangeArrowheads="1"/>
          </p:cNvSpPr>
          <p:nvPr/>
        </p:nvSpPr>
        <p:spPr bwMode="auto">
          <a:xfrm>
            <a:off x="1973263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282" name="テキスト ボックス 162"/>
          <p:cNvSpPr txBox="1">
            <a:spLocks noChangeArrowheads="1"/>
          </p:cNvSpPr>
          <p:nvPr/>
        </p:nvSpPr>
        <p:spPr bwMode="auto">
          <a:xfrm>
            <a:off x="685800" y="1524000"/>
            <a:ext cx="2819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1. </a:t>
            </a:r>
            <a:r>
              <a:rPr lang="ja-JP" altLang="en-US" sz="1600" b="1"/>
              <a:t>高頻度単語</a:t>
            </a:r>
            <a:r>
              <a:rPr lang="en-US" altLang="ja-JP" sz="1600" b="1"/>
              <a:t>N-gram </a:t>
            </a:r>
            <a:r>
              <a:rPr lang="ja-JP" altLang="en-US" sz="1600" b="1"/>
              <a:t>の抽出</a:t>
            </a:r>
          </a:p>
        </p:txBody>
      </p:sp>
      <p:sp>
        <p:nvSpPr>
          <p:cNvPr id="54283" name="正方形/長方形 165"/>
          <p:cNvSpPr>
            <a:spLocks noChangeArrowheads="1"/>
          </p:cNvSpPr>
          <p:nvPr/>
        </p:nvSpPr>
        <p:spPr bwMode="auto">
          <a:xfrm>
            <a:off x="-1189038" y="2860675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4" name="正方形/長方形 166"/>
          <p:cNvSpPr>
            <a:spLocks noChangeArrowheads="1"/>
          </p:cNvSpPr>
          <p:nvPr/>
        </p:nvSpPr>
        <p:spPr bwMode="auto">
          <a:xfrm>
            <a:off x="609600" y="2833688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5" name="正方形/長方形 167"/>
          <p:cNvSpPr>
            <a:spLocks noChangeArrowheads="1"/>
          </p:cNvSpPr>
          <p:nvPr/>
        </p:nvSpPr>
        <p:spPr bwMode="auto">
          <a:xfrm>
            <a:off x="-1414463" y="3227388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6" name="正方形/長方形 168"/>
          <p:cNvSpPr>
            <a:spLocks noChangeArrowheads="1"/>
          </p:cNvSpPr>
          <p:nvPr/>
        </p:nvSpPr>
        <p:spPr bwMode="auto">
          <a:xfrm>
            <a:off x="-1128713" y="3200400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7" name="正方形/長方形 169"/>
          <p:cNvSpPr>
            <a:spLocks noChangeArrowheads="1"/>
          </p:cNvSpPr>
          <p:nvPr/>
        </p:nvSpPr>
        <p:spPr bwMode="auto">
          <a:xfrm>
            <a:off x="652463" y="3184525"/>
            <a:ext cx="1066801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8" name="正方形/長方形 170"/>
          <p:cNvSpPr>
            <a:spLocks noChangeArrowheads="1"/>
          </p:cNvSpPr>
          <p:nvPr/>
        </p:nvSpPr>
        <p:spPr bwMode="auto">
          <a:xfrm>
            <a:off x="-1350963" y="3573463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9" name="正方形/長方形 171"/>
          <p:cNvSpPr>
            <a:spLocks noChangeArrowheads="1"/>
          </p:cNvSpPr>
          <p:nvPr/>
        </p:nvSpPr>
        <p:spPr bwMode="auto">
          <a:xfrm>
            <a:off x="381000" y="3546475"/>
            <a:ext cx="11430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175" name="AutoShape 146"/>
          <p:cNvSpPr>
            <a:spLocks noChangeArrowheads="1"/>
          </p:cNvSpPr>
          <p:nvPr/>
        </p:nvSpPr>
        <p:spPr bwMode="auto">
          <a:xfrm>
            <a:off x="4495800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291" name="テキスト ボックス 175"/>
          <p:cNvSpPr txBox="1">
            <a:spLocks noChangeArrowheads="1"/>
          </p:cNvSpPr>
          <p:nvPr/>
        </p:nvSpPr>
        <p:spPr bwMode="auto">
          <a:xfrm>
            <a:off x="3733800" y="1524000"/>
            <a:ext cx="213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2. </a:t>
            </a:r>
            <a:r>
              <a:rPr lang="ja-JP" altLang="en-US" sz="1600" b="1"/>
              <a:t>文脈ベクトルの構築</a:t>
            </a:r>
            <a:endParaRPr lang="en-US" altLang="ja-JP" sz="1600" b="1"/>
          </a:p>
        </p:txBody>
      </p:sp>
      <p:sp>
        <p:nvSpPr>
          <p:cNvPr id="54292" name="Rectangle 37"/>
          <p:cNvSpPr>
            <a:spLocks noChangeArrowheads="1"/>
          </p:cNvSpPr>
          <p:nvPr/>
        </p:nvSpPr>
        <p:spPr bwMode="auto">
          <a:xfrm>
            <a:off x="5105400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grpSp>
        <p:nvGrpSpPr>
          <p:cNvPr id="54293" name="グループ化 184"/>
          <p:cNvGrpSpPr>
            <a:grpSpLocks/>
          </p:cNvGrpSpPr>
          <p:nvPr/>
        </p:nvGrpSpPr>
        <p:grpSpPr bwMode="auto">
          <a:xfrm>
            <a:off x="5410201" y="2640013"/>
            <a:ext cx="403225" cy="368300"/>
            <a:chOff x="4377075" y="3244334"/>
            <a:chExt cx="402674" cy="369332"/>
          </a:xfrm>
        </p:grpSpPr>
        <p:cxnSp>
          <p:nvCxnSpPr>
            <p:cNvPr id="183" name="直線矢印コネクタ 182"/>
            <p:cNvCxnSpPr/>
            <p:nvPr/>
          </p:nvCxnSpPr>
          <p:spPr>
            <a:xfrm>
              <a:off x="4467439" y="3352586"/>
              <a:ext cx="228288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93" name="正方形/長方形 183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</a:t>
              </a:r>
              <a:endParaRPr lang="ja-JP" altLang="en-US" sz="1200"/>
            </a:p>
          </p:txBody>
        </p:sp>
      </p:grpSp>
      <p:grpSp>
        <p:nvGrpSpPr>
          <p:cNvPr id="54294" name="グループ化 186"/>
          <p:cNvGrpSpPr>
            <a:grpSpLocks/>
          </p:cNvGrpSpPr>
          <p:nvPr/>
        </p:nvGrpSpPr>
        <p:grpSpPr bwMode="auto">
          <a:xfrm>
            <a:off x="5664201" y="2636838"/>
            <a:ext cx="403225" cy="368300"/>
            <a:chOff x="4377075" y="3244334"/>
            <a:chExt cx="402674" cy="369332"/>
          </a:xfrm>
        </p:grpSpPr>
        <p:cxnSp>
          <p:nvCxnSpPr>
            <p:cNvPr id="188" name="直線矢印コネクタ 187"/>
            <p:cNvCxnSpPr/>
            <p:nvPr/>
          </p:nvCxnSpPr>
          <p:spPr>
            <a:xfrm>
              <a:off x="4467439" y="3352586"/>
              <a:ext cx="228288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91" name="正方形/長方形 188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2</a:t>
              </a:r>
              <a:endParaRPr lang="ja-JP" altLang="en-US" sz="1200"/>
            </a:p>
          </p:txBody>
        </p:sp>
      </p:grpSp>
      <p:grpSp>
        <p:nvGrpSpPr>
          <p:cNvPr id="54295" name="グループ化 189"/>
          <p:cNvGrpSpPr>
            <a:grpSpLocks/>
          </p:cNvGrpSpPr>
          <p:nvPr/>
        </p:nvGrpSpPr>
        <p:grpSpPr bwMode="auto">
          <a:xfrm>
            <a:off x="5910264" y="2635250"/>
            <a:ext cx="401637" cy="368300"/>
            <a:chOff x="4377075" y="3244334"/>
            <a:chExt cx="402674" cy="369332"/>
          </a:xfrm>
        </p:grpSpPr>
        <p:cxnSp>
          <p:nvCxnSpPr>
            <p:cNvPr id="191" name="直線矢印コネクタ 190"/>
            <p:cNvCxnSpPr/>
            <p:nvPr/>
          </p:nvCxnSpPr>
          <p:spPr>
            <a:xfrm>
              <a:off x="4467796" y="3352586"/>
              <a:ext cx="227599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9" name="正方形/長方形 191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3</a:t>
              </a:r>
              <a:endParaRPr lang="ja-JP" altLang="en-US" sz="1200"/>
            </a:p>
          </p:txBody>
        </p:sp>
      </p:grpSp>
      <p:grpSp>
        <p:nvGrpSpPr>
          <p:cNvPr id="54296" name="グループ化 192"/>
          <p:cNvGrpSpPr>
            <a:grpSpLocks/>
          </p:cNvGrpSpPr>
          <p:nvPr/>
        </p:nvGrpSpPr>
        <p:grpSpPr bwMode="auto">
          <a:xfrm>
            <a:off x="6164264" y="2632075"/>
            <a:ext cx="403225" cy="368300"/>
            <a:chOff x="4377075" y="3244334"/>
            <a:chExt cx="402674" cy="369332"/>
          </a:xfrm>
        </p:grpSpPr>
        <p:cxnSp>
          <p:nvCxnSpPr>
            <p:cNvPr id="194" name="直線矢印コネクタ 193"/>
            <p:cNvCxnSpPr/>
            <p:nvPr/>
          </p:nvCxnSpPr>
          <p:spPr>
            <a:xfrm>
              <a:off x="4467438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7" name="正方形/長方形 194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4</a:t>
              </a:r>
              <a:endParaRPr lang="ja-JP" altLang="en-US" sz="1200"/>
            </a:p>
          </p:txBody>
        </p:sp>
      </p:grpSp>
      <p:grpSp>
        <p:nvGrpSpPr>
          <p:cNvPr id="54297" name="グループ化 208"/>
          <p:cNvGrpSpPr>
            <a:grpSpLocks/>
          </p:cNvGrpSpPr>
          <p:nvPr/>
        </p:nvGrpSpPr>
        <p:grpSpPr bwMode="auto">
          <a:xfrm>
            <a:off x="5103814" y="3028950"/>
            <a:ext cx="403225" cy="368300"/>
            <a:chOff x="4377075" y="3244334"/>
            <a:chExt cx="402674" cy="369332"/>
          </a:xfrm>
        </p:grpSpPr>
        <p:cxnSp>
          <p:nvCxnSpPr>
            <p:cNvPr id="210" name="直線矢印コネクタ 209"/>
            <p:cNvCxnSpPr/>
            <p:nvPr/>
          </p:nvCxnSpPr>
          <p:spPr>
            <a:xfrm>
              <a:off x="4467438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5" name="正方形/長方形 210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6</a:t>
              </a:r>
              <a:endParaRPr lang="ja-JP" altLang="en-US" sz="1200"/>
            </a:p>
          </p:txBody>
        </p:sp>
      </p:grpSp>
      <p:grpSp>
        <p:nvGrpSpPr>
          <p:cNvPr id="54298" name="グループ化 211"/>
          <p:cNvGrpSpPr>
            <a:grpSpLocks/>
          </p:cNvGrpSpPr>
          <p:nvPr/>
        </p:nvGrpSpPr>
        <p:grpSpPr bwMode="auto">
          <a:xfrm>
            <a:off x="5359400" y="3025775"/>
            <a:ext cx="401638" cy="368300"/>
            <a:chOff x="4377075" y="3244334"/>
            <a:chExt cx="402674" cy="369332"/>
          </a:xfrm>
        </p:grpSpPr>
        <p:cxnSp>
          <p:nvCxnSpPr>
            <p:cNvPr id="213" name="直線矢印コネクタ 212"/>
            <p:cNvCxnSpPr/>
            <p:nvPr/>
          </p:nvCxnSpPr>
          <p:spPr>
            <a:xfrm>
              <a:off x="4467796" y="3352586"/>
              <a:ext cx="22759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3" name="正方形/長方形 213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7</a:t>
              </a:r>
              <a:endParaRPr lang="ja-JP" altLang="en-US" sz="1200"/>
            </a:p>
          </p:txBody>
        </p:sp>
      </p:grpSp>
      <p:grpSp>
        <p:nvGrpSpPr>
          <p:cNvPr id="54299" name="グループ化 214"/>
          <p:cNvGrpSpPr>
            <a:grpSpLocks/>
          </p:cNvGrpSpPr>
          <p:nvPr/>
        </p:nvGrpSpPr>
        <p:grpSpPr bwMode="auto">
          <a:xfrm>
            <a:off x="5603876" y="3024188"/>
            <a:ext cx="403225" cy="368300"/>
            <a:chOff x="4377075" y="3244334"/>
            <a:chExt cx="402674" cy="369332"/>
          </a:xfrm>
        </p:grpSpPr>
        <p:cxnSp>
          <p:nvCxnSpPr>
            <p:cNvPr id="216" name="直線矢印コネクタ 215"/>
            <p:cNvCxnSpPr/>
            <p:nvPr/>
          </p:nvCxnSpPr>
          <p:spPr>
            <a:xfrm>
              <a:off x="4467439" y="3352586"/>
              <a:ext cx="228288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1" name="正方形/長方形 216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8</a:t>
              </a:r>
              <a:endParaRPr lang="ja-JP" altLang="en-US" sz="1200"/>
            </a:p>
          </p:txBody>
        </p:sp>
      </p:grpSp>
      <p:grpSp>
        <p:nvGrpSpPr>
          <p:cNvPr id="54300" name="グループ化 217"/>
          <p:cNvGrpSpPr>
            <a:grpSpLocks/>
          </p:cNvGrpSpPr>
          <p:nvPr/>
        </p:nvGrpSpPr>
        <p:grpSpPr bwMode="auto">
          <a:xfrm>
            <a:off x="5857876" y="3021014"/>
            <a:ext cx="403225" cy="369887"/>
            <a:chOff x="4377075" y="3244334"/>
            <a:chExt cx="402674" cy="369332"/>
          </a:xfrm>
        </p:grpSpPr>
        <p:cxnSp>
          <p:nvCxnSpPr>
            <p:cNvPr id="219" name="直線矢印コネクタ 218"/>
            <p:cNvCxnSpPr/>
            <p:nvPr/>
          </p:nvCxnSpPr>
          <p:spPr>
            <a:xfrm>
              <a:off x="4467439" y="3352122"/>
              <a:ext cx="228288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9" name="正方形/長方形 219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9</a:t>
              </a:r>
              <a:endParaRPr lang="ja-JP" altLang="en-US" sz="1200"/>
            </a:p>
          </p:txBody>
        </p:sp>
      </p:grpSp>
      <p:grpSp>
        <p:nvGrpSpPr>
          <p:cNvPr id="54301" name="グループ化 220"/>
          <p:cNvGrpSpPr>
            <a:grpSpLocks/>
          </p:cNvGrpSpPr>
          <p:nvPr/>
        </p:nvGrpSpPr>
        <p:grpSpPr bwMode="auto">
          <a:xfrm>
            <a:off x="5410201" y="3405189"/>
            <a:ext cx="454025" cy="369887"/>
            <a:chOff x="4377075" y="3244334"/>
            <a:chExt cx="453970" cy="369332"/>
          </a:xfrm>
        </p:grpSpPr>
        <p:cxnSp>
          <p:nvCxnSpPr>
            <p:cNvPr id="222" name="直線矢印コネクタ 221"/>
            <p:cNvCxnSpPr/>
            <p:nvPr/>
          </p:nvCxnSpPr>
          <p:spPr>
            <a:xfrm>
              <a:off x="4467552" y="3352122"/>
              <a:ext cx="228572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7" name="正方形/長方形 222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13</a:t>
              </a:r>
              <a:endParaRPr lang="ja-JP" altLang="en-US" sz="1200"/>
            </a:p>
          </p:txBody>
        </p:sp>
      </p:grpSp>
      <p:grpSp>
        <p:nvGrpSpPr>
          <p:cNvPr id="54302" name="グループ化 223"/>
          <p:cNvGrpSpPr>
            <a:grpSpLocks/>
          </p:cNvGrpSpPr>
          <p:nvPr/>
        </p:nvGrpSpPr>
        <p:grpSpPr bwMode="auto">
          <a:xfrm>
            <a:off x="5664201" y="3402014"/>
            <a:ext cx="454025" cy="369887"/>
            <a:chOff x="4377075" y="3244334"/>
            <a:chExt cx="453970" cy="369332"/>
          </a:xfrm>
        </p:grpSpPr>
        <p:cxnSp>
          <p:nvCxnSpPr>
            <p:cNvPr id="225" name="直線矢印コネクタ 224"/>
            <p:cNvCxnSpPr/>
            <p:nvPr/>
          </p:nvCxnSpPr>
          <p:spPr>
            <a:xfrm>
              <a:off x="4467552" y="3352122"/>
              <a:ext cx="228572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5" name="正方形/長方形 225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14</a:t>
              </a:r>
              <a:endParaRPr lang="ja-JP" altLang="en-US" sz="1200"/>
            </a:p>
          </p:txBody>
        </p:sp>
      </p:grpSp>
      <p:grpSp>
        <p:nvGrpSpPr>
          <p:cNvPr id="54303" name="グループ化 226"/>
          <p:cNvGrpSpPr>
            <a:grpSpLocks/>
          </p:cNvGrpSpPr>
          <p:nvPr/>
        </p:nvGrpSpPr>
        <p:grpSpPr bwMode="auto">
          <a:xfrm>
            <a:off x="5910264" y="3400425"/>
            <a:ext cx="454025" cy="369888"/>
            <a:chOff x="4377075" y="3244334"/>
            <a:chExt cx="453970" cy="369332"/>
          </a:xfrm>
        </p:grpSpPr>
        <p:cxnSp>
          <p:nvCxnSpPr>
            <p:cNvPr id="228" name="直線矢印コネクタ 227"/>
            <p:cNvCxnSpPr/>
            <p:nvPr/>
          </p:nvCxnSpPr>
          <p:spPr>
            <a:xfrm>
              <a:off x="4467551" y="3352122"/>
              <a:ext cx="228572" cy="15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3" name="正方形/長方形 228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15</a:t>
              </a:r>
              <a:endParaRPr lang="ja-JP" altLang="en-US" sz="1200"/>
            </a:p>
          </p:txBody>
        </p:sp>
      </p:grpSp>
      <p:grpSp>
        <p:nvGrpSpPr>
          <p:cNvPr id="54304" name="グループ化 229"/>
          <p:cNvGrpSpPr>
            <a:grpSpLocks/>
          </p:cNvGrpSpPr>
          <p:nvPr/>
        </p:nvGrpSpPr>
        <p:grpSpPr bwMode="auto">
          <a:xfrm>
            <a:off x="6164264" y="3397250"/>
            <a:ext cx="454025" cy="369888"/>
            <a:chOff x="4377075" y="3244334"/>
            <a:chExt cx="453970" cy="369332"/>
          </a:xfrm>
        </p:grpSpPr>
        <p:cxnSp>
          <p:nvCxnSpPr>
            <p:cNvPr id="231" name="直線矢印コネクタ 230"/>
            <p:cNvCxnSpPr/>
            <p:nvPr/>
          </p:nvCxnSpPr>
          <p:spPr>
            <a:xfrm>
              <a:off x="4467551" y="3352122"/>
              <a:ext cx="228572" cy="15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1" name="正方形/長方形 231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16</a:t>
              </a:r>
              <a:endParaRPr lang="ja-JP" altLang="en-US" sz="1200"/>
            </a:p>
          </p:txBody>
        </p:sp>
      </p:grpSp>
      <p:sp>
        <p:nvSpPr>
          <p:cNvPr id="54305" name="正方形/長方形 234"/>
          <p:cNvSpPr>
            <a:spLocks noChangeArrowheads="1"/>
          </p:cNvSpPr>
          <p:nvPr/>
        </p:nvSpPr>
        <p:spPr bwMode="auto">
          <a:xfrm>
            <a:off x="6518276" y="3394075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54306" name="正方形/長方形 235"/>
          <p:cNvSpPr>
            <a:spLocks noChangeArrowheads="1"/>
          </p:cNvSpPr>
          <p:nvPr/>
        </p:nvSpPr>
        <p:spPr bwMode="auto">
          <a:xfrm>
            <a:off x="5832476" y="3633788"/>
            <a:ext cx="646113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……</a:t>
            </a:r>
          </a:p>
          <a:p>
            <a:pPr algn="ctr" eaLnBrk="1" hangingPunct="1"/>
            <a:endParaRPr lang="en-US" altLang="ja-JP" sz="900">
              <a:latin typeface="Times New Roman" charset="0"/>
            </a:endParaRPr>
          </a:p>
        </p:txBody>
      </p:sp>
      <p:grpSp>
        <p:nvGrpSpPr>
          <p:cNvPr id="54307" name="グループ化 236"/>
          <p:cNvGrpSpPr>
            <a:grpSpLocks/>
          </p:cNvGrpSpPr>
          <p:nvPr/>
        </p:nvGrpSpPr>
        <p:grpSpPr bwMode="auto">
          <a:xfrm>
            <a:off x="6419851" y="2638425"/>
            <a:ext cx="411163" cy="368300"/>
            <a:chOff x="4377075" y="3244334"/>
            <a:chExt cx="410690" cy="369332"/>
          </a:xfrm>
        </p:grpSpPr>
        <p:cxnSp>
          <p:nvCxnSpPr>
            <p:cNvPr id="238" name="直線矢印コネクタ 237"/>
            <p:cNvCxnSpPr/>
            <p:nvPr/>
          </p:nvCxnSpPr>
          <p:spPr>
            <a:xfrm>
              <a:off x="4467459" y="3352586"/>
              <a:ext cx="228337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9" name="正方形/長方形 238"/>
            <p:cNvSpPr>
              <a:spLocks noChangeArrowheads="1"/>
            </p:cNvSpPr>
            <p:nvPr/>
          </p:nvSpPr>
          <p:spPr bwMode="auto">
            <a:xfrm>
              <a:off x="4377075" y="3244334"/>
              <a:ext cx="4106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5</a:t>
              </a:r>
              <a:endParaRPr lang="ja-JP" altLang="en-US" sz="1200"/>
            </a:p>
          </p:txBody>
        </p:sp>
      </p:grpSp>
      <p:grpSp>
        <p:nvGrpSpPr>
          <p:cNvPr id="54308" name="グループ化 239"/>
          <p:cNvGrpSpPr>
            <a:grpSpLocks/>
          </p:cNvGrpSpPr>
          <p:nvPr/>
        </p:nvGrpSpPr>
        <p:grpSpPr bwMode="auto">
          <a:xfrm>
            <a:off x="6116639" y="3017838"/>
            <a:ext cx="454025" cy="368300"/>
            <a:chOff x="4377075" y="3244334"/>
            <a:chExt cx="453970" cy="369332"/>
          </a:xfrm>
        </p:grpSpPr>
        <p:cxnSp>
          <p:nvCxnSpPr>
            <p:cNvPr id="241" name="直線矢印コネクタ 240"/>
            <p:cNvCxnSpPr/>
            <p:nvPr/>
          </p:nvCxnSpPr>
          <p:spPr>
            <a:xfrm>
              <a:off x="4467551" y="3352586"/>
              <a:ext cx="228572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7" name="正方形/長方形 241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10</a:t>
              </a:r>
              <a:endParaRPr lang="ja-JP" altLang="en-US" sz="1200"/>
            </a:p>
          </p:txBody>
        </p:sp>
      </p:grpSp>
      <p:grpSp>
        <p:nvGrpSpPr>
          <p:cNvPr id="54309" name="グループ化 242"/>
          <p:cNvGrpSpPr>
            <a:grpSpLocks/>
          </p:cNvGrpSpPr>
          <p:nvPr/>
        </p:nvGrpSpPr>
        <p:grpSpPr bwMode="auto">
          <a:xfrm>
            <a:off x="6399213" y="3019425"/>
            <a:ext cx="449262" cy="369888"/>
            <a:chOff x="4377075" y="3244334"/>
            <a:chExt cx="450188" cy="369332"/>
          </a:xfrm>
        </p:grpSpPr>
        <p:cxnSp>
          <p:nvCxnSpPr>
            <p:cNvPr id="244" name="直線矢印コネクタ 243"/>
            <p:cNvCxnSpPr/>
            <p:nvPr/>
          </p:nvCxnSpPr>
          <p:spPr>
            <a:xfrm>
              <a:off x="4467749" y="3352122"/>
              <a:ext cx="227481" cy="15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5" name="正方形/長方形 244"/>
            <p:cNvSpPr>
              <a:spLocks noChangeArrowheads="1"/>
            </p:cNvSpPr>
            <p:nvPr/>
          </p:nvSpPr>
          <p:spPr bwMode="auto">
            <a:xfrm>
              <a:off x="4377075" y="3244334"/>
              <a:ext cx="4501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11</a:t>
              </a:r>
              <a:endParaRPr lang="ja-JP" altLang="en-US" sz="1200"/>
            </a:p>
          </p:txBody>
        </p:sp>
      </p:grpSp>
      <p:grpSp>
        <p:nvGrpSpPr>
          <p:cNvPr id="54310" name="グループ化 245"/>
          <p:cNvGrpSpPr>
            <a:grpSpLocks/>
          </p:cNvGrpSpPr>
          <p:nvPr/>
        </p:nvGrpSpPr>
        <p:grpSpPr bwMode="auto">
          <a:xfrm>
            <a:off x="5148264" y="3405189"/>
            <a:ext cx="452437" cy="369887"/>
            <a:chOff x="4377075" y="3244334"/>
            <a:chExt cx="453970" cy="369332"/>
          </a:xfrm>
        </p:grpSpPr>
        <p:cxnSp>
          <p:nvCxnSpPr>
            <p:cNvPr id="247" name="直線矢印コネクタ 246"/>
            <p:cNvCxnSpPr/>
            <p:nvPr/>
          </p:nvCxnSpPr>
          <p:spPr>
            <a:xfrm>
              <a:off x="4467869" y="3352122"/>
              <a:ext cx="227782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3" name="正方形/長方形 247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12</a:t>
              </a:r>
              <a:endParaRPr lang="ja-JP" altLang="en-US" sz="1200"/>
            </a:p>
          </p:txBody>
        </p:sp>
      </p:grpSp>
      <p:sp>
        <p:nvSpPr>
          <p:cNvPr id="54311" name="テキスト ボックス 248"/>
          <p:cNvSpPr txBox="1">
            <a:spLocks noChangeArrowheads="1"/>
          </p:cNvSpPr>
          <p:nvPr/>
        </p:nvSpPr>
        <p:spPr bwMode="auto">
          <a:xfrm>
            <a:off x="1903413" y="4079876"/>
            <a:ext cx="1181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文脈スコープ</a:t>
            </a:r>
          </a:p>
        </p:txBody>
      </p:sp>
      <p:cxnSp>
        <p:nvCxnSpPr>
          <p:cNvPr id="251" name="直線矢印コネクタ 250"/>
          <p:cNvCxnSpPr>
            <a:stCxn id="54311" idx="0"/>
          </p:cNvCxnSpPr>
          <p:nvPr/>
        </p:nvCxnSpPr>
        <p:spPr>
          <a:xfrm rot="5400000" flipH="1" flipV="1">
            <a:off x="2541588" y="3727450"/>
            <a:ext cx="304800" cy="4000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13" name="円/楕円 258"/>
          <p:cNvSpPr>
            <a:spLocks noChangeArrowheads="1"/>
          </p:cNvSpPr>
          <p:nvPr/>
        </p:nvSpPr>
        <p:spPr bwMode="auto">
          <a:xfrm>
            <a:off x="5457825" y="262255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314" name="テキスト ボックス 264"/>
          <p:cNvSpPr txBox="1">
            <a:spLocks noChangeArrowheads="1"/>
          </p:cNvSpPr>
          <p:nvPr/>
        </p:nvSpPr>
        <p:spPr bwMode="auto">
          <a:xfrm>
            <a:off x="-152400" y="4079875"/>
            <a:ext cx="203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/>
              <a:t>専門文書（入力文書）</a:t>
            </a:r>
          </a:p>
        </p:txBody>
      </p:sp>
      <p:sp>
        <p:nvSpPr>
          <p:cNvPr id="271" name="正方形/長方形 270"/>
          <p:cNvSpPr/>
          <p:nvPr/>
        </p:nvSpPr>
        <p:spPr>
          <a:xfrm>
            <a:off x="2590800" y="1897064"/>
            <a:ext cx="1828800" cy="5238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入力語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高頻度単語</a:t>
            </a:r>
            <a:r>
              <a:rPr lang="en-US" altLang="ja-JP" sz="1200" dirty="0">
                <a:latin typeface="Times New Roman" pitchFamily="18" charset="0"/>
                <a:cs typeface="Times New Roman" pitchFamily="18" charset="0"/>
              </a:rPr>
              <a:t>N-gram</a:t>
            </a:r>
            <a:endParaRPr lang="ja-JP" altLang="en-US" sz="1400" dirty="0"/>
          </a:p>
        </p:txBody>
      </p:sp>
      <p:sp>
        <p:nvSpPr>
          <p:cNvPr id="272" name="正方形/長方形 271"/>
          <p:cNvSpPr/>
          <p:nvPr/>
        </p:nvSpPr>
        <p:spPr>
          <a:xfrm>
            <a:off x="0" y="211137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単語（標準形）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317" name="テキスト ボックス 275"/>
          <p:cNvSpPr txBox="1">
            <a:spLocks noChangeArrowheads="1"/>
          </p:cNvSpPr>
          <p:nvPr/>
        </p:nvSpPr>
        <p:spPr bwMode="auto">
          <a:xfrm>
            <a:off x="6096001" y="1524000"/>
            <a:ext cx="2359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3. </a:t>
            </a:r>
            <a:r>
              <a:rPr lang="ja-JP" altLang="en-US" sz="1600" b="1"/>
              <a:t>入力語ベクトルの構築</a:t>
            </a:r>
            <a:endParaRPr lang="en-US" altLang="ja-JP" sz="1600" b="1"/>
          </a:p>
        </p:txBody>
      </p:sp>
      <p:sp>
        <p:nvSpPr>
          <p:cNvPr id="277" name="AutoShape 146"/>
          <p:cNvSpPr>
            <a:spLocks noChangeArrowheads="1"/>
          </p:cNvSpPr>
          <p:nvPr/>
        </p:nvSpPr>
        <p:spPr bwMode="auto">
          <a:xfrm>
            <a:off x="7010400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319" name="Rectangle 37"/>
          <p:cNvSpPr>
            <a:spLocks noChangeArrowheads="1"/>
          </p:cNvSpPr>
          <p:nvPr/>
        </p:nvSpPr>
        <p:spPr bwMode="auto">
          <a:xfrm>
            <a:off x="7543800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cxnSp>
        <p:nvCxnSpPr>
          <p:cNvPr id="280" name="直線矢印コネクタ 279"/>
          <p:cNvCxnSpPr/>
          <p:nvPr/>
        </p:nvCxnSpPr>
        <p:spPr>
          <a:xfrm>
            <a:off x="7939088" y="27130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1" name="正方形/長方形 280"/>
          <p:cNvSpPr>
            <a:spLocks noChangeArrowheads="1"/>
          </p:cNvSpPr>
          <p:nvPr/>
        </p:nvSpPr>
        <p:spPr bwMode="auto">
          <a:xfrm>
            <a:off x="7848601" y="2640013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cxnSp>
        <p:nvCxnSpPr>
          <p:cNvPr id="283" name="直線矢印コネクタ 282"/>
          <p:cNvCxnSpPr/>
          <p:nvPr/>
        </p:nvCxnSpPr>
        <p:spPr>
          <a:xfrm>
            <a:off x="8193088" y="27098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3" name="正方形/長方形 283"/>
          <p:cNvSpPr>
            <a:spLocks noChangeArrowheads="1"/>
          </p:cNvSpPr>
          <p:nvPr/>
        </p:nvSpPr>
        <p:spPr bwMode="auto">
          <a:xfrm>
            <a:off x="8102601" y="2636838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cxnSp>
        <p:nvCxnSpPr>
          <p:cNvPr id="286" name="直線矢印コネクタ 285"/>
          <p:cNvCxnSpPr/>
          <p:nvPr/>
        </p:nvCxnSpPr>
        <p:spPr>
          <a:xfrm>
            <a:off x="8439150" y="27082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5" name="正方形/長方形 286"/>
          <p:cNvSpPr>
            <a:spLocks noChangeArrowheads="1"/>
          </p:cNvSpPr>
          <p:nvPr/>
        </p:nvSpPr>
        <p:spPr bwMode="auto">
          <a:xfrm>
            <a:off x="8348664" y="2635250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3</a:t>
            </a:r>
            <a:endParaRPr lang="ja-JP" altLang="en-US" sz="1200"/>
          </a:p>
        </p:txBody>
      </p:sp>
      <p:cxnSp>
        <p:nvCxnSpPr>
          <p:cNvPr id="289" name="直線矢印コネクタ 288"/>
          <p:cNvCxnSpPr/>
          <p:nvPr/>
        </p:nvCxnSpPr>
        <p:spPr>
          <a:xfrm>
            <a:off x="8693150" y="27066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7" name="正方形/長方形 289"/>
          <p:cNvSpPr>
            <a:spLocks noChangeArrowheads="1"/>
          </p:cNvSpPr>
          <p:nvPr/>
        </p:nvSpPr>
        <p:spPr bwMode="auto">
          <a:xfrm>
            <a:off x="8602664" y="2632075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4</a:t>
            </a:r>
            <a:endParaRPr lang="ja-JP" altLang="en-US" sz="1200"/>
          </a:p>
        </p:txBody>
      </p:sp>
      <p:cxnSp>
        <p:nvCxnSpPr>
          <p:cNvPr id="304" name="直線矢印コネクタ 303"/>
          <p:cNvCxnSpPr/>
          <p:nvPr/>
        </p:nvCxnSpPr>
        <p:spPr>
          <a:xfrm>
            <a:off x="7900988" y="34798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9" name="正方形/長方形 304"/>
          <p:cNvSpPr>
            <a:spLocks noChangeArrowheads="1"/>
          </p:cNvSpPr>
          <p:nvPr/>
        </p:nvSpPr>
        <p:spPr bwMode="auto">
          <a:xfrm>
            <a:off x="7810501" y="3405189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13</a:t>
            </a:r>
            <a:endParaRPr lang="ja-JP" altLang="en-US" sz="1200"/>
          </a:p>
        </p:txBody>
      </p:sp>
      <p:cxnSp>
        <p:nvCxnSpPr>
          <p:cNvPr id="307" name="直線矢印コネクタ 306"/>
          <p:cNvCxnSpPr/>
          <p:nvPr/>
        </p:nvCxnSpPr>
        <p:spPr>
          <a:xfrm>
            <a:off x="8215313" y="347662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1" name="正方形/長方形 307"/>
          <p:cNvSpPr>
            <a:spLocks noChangeArrowheads="1"/>
          </p:cNvSpPr>
          <p:nvPr/>
        </p:nvSpPr>
        <p:spPr bwMode="auto">
          <a:xfrm>
            <a:off x="8124826" y="3402014"/>
            <a:ext cx="479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900" baseline="-25000">
                <a:latin typeface="Times New Roman" charset="0"/>
              </a:rPr>
              <a:t>14</a:t>
            </a:r>
            <a:endParaRPr lang="ja-JP" altLang="en-US"/>
          </a:p>
        </p:txBody>
      </p:sp>
      <p:cxnSp>
        <p:nvCxnSpPr>
          <p:cNvPr id="310" name="直線矢印コネクタ 309"/>
          <p:cNvCxnSpPr/>
          <p:nvPr/>
        </p:nvCxnSpPr>
        <p:spPr>
          <a:xfrm>
            <a:off x="8505825" y="34750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3" name="正方形/長方形 310"/>
          <p:cNvSpPr>
            <a:spLocks noChangeArrowheads="1"/>
          </p:cNvSpPr>
          <p:nvPr/>
        </p:nvSpPr>
        <p:spPr bwMode="auto">
          <a:xfrm>
            <a:off x="8415339" y="3400425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900" baseline="-25000">
                <a:latin typeface="Times New Roman" charset="0"/>
              </a:rPr>
              <a:t>15</a:t>
            </a:r>
            <a:endParaRPr lang="ja-JP" altLang="en-US"/>
          </a:p>
        </p:txBody>
      </p:sp>
      <p:cxnSp>
        <p:nvCxnSpPr>
          <p:cNvPr id="313" name="直線矢印コネクタ 312"/>
          <p:cNvCxnSpPr/>
          <p:nvPr/>
        </p:nvCxnSpPr>
        <p:spPr>
          <a:xfrm>
            <a:off x="8788400" y="34718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5" name="正方形/長方形 313"/>
          <p:cNvSpPr>
            <a:spLocks noChangeArrowheads="1"/>
          </p:cNvSpPr>
          <p:nvPr/>
        </p:nvSpPr>
        <p:spPr bwMode="auto">
          <a:xfrm>
            <a:off x="8697913" y="3397250"/>
            <a:ext cx="5064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16</a:t>
            </a:r>
            <a:endParaRPr lang="ja-JP" altLang="en-US" sz="1200"/>
          </a:p>
        </p:txBody>
      </p:sp>
      <p:sp>
        <p:nvSpPr>
          <p:cNvPr id="54336" name="正方形/長方形 315"/>
          <p:cNvSpPr>
            <a:spLocks noChangeArrowheads="1"/>
          </p:cNvSpPr>
          <p:nvPr/>
        </p:nvSpPr>
        <p:spPr bwMode="auto">
          <a:xfrm>
            <a:off x="9051926" y="3394075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54337" name="正方形/長方形 316"/>
          <p:cNvSpPr>
            <a:spLocks noChangeArrowheads="1"/>
          </p:cNvSpPr>
          <p:nvPr/>
        </p:nvSpPr>
        <p:spPr bwMode="auto">
          <a:xfrm>
            <a:off x="8404226" y="3633789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cxnSp>
        <p:nvCxnSpPr>
          <p:cNvPr id="319" name="直線矢印コネクタ 318"/>
          <p:cNvCxnSpPr/>
          <p:nvPr/>
        </p:nvCxnSpPr>
        <p:spPr>
          <a:xfrm>
            <a:off x="8948738" y="271145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9" name="正方形/長方形 319"/>
          <p:cNvSpPr>
            <a:spLocks noChangeArrowheads="1"/>
          </p:cNvSpPr>
          <p:nvPr/>
        </p:nvSpPr>
        <p:spPr bwMode="auto">
          <a:xfrm>
            <a:off x="8858251" y="2638425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5</a:t>
            </a:r>
            <a:endParaRPr lang="ja-JP" altLang="en-US" sz="1200"/>
          </a:p>
        </p:txBody>
      </p:sp>
      <p:cxnSp>
        <p:nvCxnSpPr>
          <p:cNvPr id="292" name="直線矢印コネクタ 291"/>
          <p:cNvCxnSpPr/>
          <p:nvPr/>
        </p:nvCxnSpPr>
        <p:spPr>
          <a:xfrm>
            <a:off x="7632700" y="31035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1" name="正方形/長方形 292"/>
          <p:cNvSpPr>
            <a:spLocks noChangeArrowheads="1"/>
          </p:cNvSpPr>
          <p:nvPr/>
        </p:nvSpPr>
        <p:spPr bwMode="auto">
          <a:xfrm>
            <a:off x="7542214" y="3028950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6</a:t>
            </a:r>
            <a:endParaRPr lang="ja-JP" altLang="en-US" sz="1200"/>
          </a:p>
        </p:txBody>
      </p:sp>
      <p:cxnSp>
        <p:nvCxnSpPr>
          <p:cNvPr id="295" name="直線矢印コネクタ 294"/>
          <p:cNvCxnSpPr/>
          <p:nvPr/>
        </p:nvCxnSpPr>
        <p:spPr>
          <a:xfrm>
            <a:off x="7888288" y="31003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3" name="正方形/長方形 295"/>
          <p:cNvSpPr>
            <a:spLocks noChangeArrowheads="1"/>
          </p:cNvSpPr>
          <p:nvPr/>
        </p:nvSpPr>
        <p:spPr bwMode="auto">
          <a:xfrm>
            <a:off x="7797801" y="3025775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7</a:t>
            </a:r>
            <a:endParaRPr lang="ja-JP" altLang="en-US" sz="1200"/>
          </a:p>
        </p:txBody>
      </p:sp>
      <p:cxnSp>
        <p:nvCxnSpPr>
          <p:cNvPr id="298" name="直線矢印コネクタ 297"/>
          <p:cNvCxnSpPr/>
          <p:nvPr/>
        </p:nvCxnSpPr>
        <p:spPr>
          <a:xfrm>
            <a:off x="8132763" y="30988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5" name="正方形/長方形 298"/>
          <p:cNvSpPr>
            <a:spLocks noChangeArrowheads="1"/>
          </p:cNvSpPr>
          <p:nvPr/>
        </p:nvSpPr>
        <p:spPr bwMode="auto">
          <a:xfrm>
            <a:off x="8042276" y="3024188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301" name="直線矢印コネクタ 300"/>
          <p:cNvCxnSpPr/>
          <p:nvPr/>
        </p:nvCxnSpPr>
        <p:spPr>
          <a:xfrm>
            <a:off x="8386763" y="309562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7" name="正方形/長方形 301"/>
          <p:cNvSpPr>
            <a:spLocks noChangeArrowheads="1"/>
          </p:cNvSpPr>
          <p:nvPr/>
        </p:nvSpPr>
        <p:spPr bwMode="auto">
          <a:xfrm>
            <a:off x="8296276" y="3021014"/>
            <a:ext cx="454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9</a:t>
            </a:r>
            <a:endParaRPr lang="ja-JP" altLang="en-US" sz="1200"/>
          </a:p>
        </p:txBody>
      </p:sp>
      <p:cxnSp>
        <p:nvCxnSpPr>
          <p:cNvPr id="322" name="直線矢印コネクタ 321"/>
          <p:cNvCxnSpPr/>
          <p:nvPr/>
        </p:nvCxnSpPr>
        <p:spPr>
          <a:xfrm>
            <a:off x="8645525" y="309245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9" name="正方形/長方形 322"/>
          <p:cNvSpPr>
            <a:spLocks noChangeArrowheads="1"/>
          </p:cNvSpPr>
          <p:nvPr/>
        </p:nvSpPr>
        <p:spPr bwMode="auto">
          <a:xfrm>
            <a:off x="8555039" y="3017838"/>
            <a:ext cx="504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10</a:t>
            </a:r>
            <a:endParaRPr lang="ja-JP" altLang="en-US" sz="1200"/>
          </a:p>
        </p:txBody>
      </p:sp>
      <p:cxnSp>
        <p:nvCxnSpPr>
          <p:cNvPr id="325" name="直線矢印コネクタ 324"/>
          <p:cNvCxnSpPr/>
          <p:nvPr/>
        </p:nvCxnSpPr>
        <p:spPr>
          <a:xfrm>
            <a:off x="8926513" y="30940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51" name="正方形/長方形 325"/>
          <p:cNvSpPr>
            <a:spLocks noChangeArrowheads="1"/>
          </p:cNvSpPr>
          <p:nvPr/>
        </p:nvSpPr>
        <p:spPr bwMode="auto">
          <a:xfrm>
            <a:off x="8837613" y="3019425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11</a:t>
            </a:r>
            <a:endParaRPr lang="ja-JP" altLang="en-US" sz="1200"/>
          </a:p>
        </p:txBody>
      </p:sp>
      <p:cxnSp>
        <p:nvCxnSpPr>
          <p:cNvPr id="328" name="直線矢印コネクタ 327"/>
          <p:cNvCxnSpPr/>
          <p:nvPr/>
        </p:nvCxnSpPr>
        <p:spPr>
          <a:xfrm>
            <a:off x="7608888" y="34798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53" name="正方形/長方形 328"/>
          <p:cNvSpPr>
            <a:spLocks noChangeArrowheads="1"/>
          </p:cNvSpPr>
          <p:nvPr/>
        </p:nvSpPr>
        <p:spPr bwMode="auto">
          <a:xfrm>
            <a:off x="7519989" y="3405189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12</a:t>
            </a:r>
            <a:endParaRPr lang="ja-JP" altLang="en-US" sz="1200"/>
          </a:p>
        </p:txBody>
      </p:sp>
      <p:sp>
        <p:nvSpPr>
          <p:cNvPr id="54354" name="円/楕円 330"/>
          <p:cNvSpPr>
            <a:spLocks noChangeArrowheads="1"/>
          </p:cNvSpPr>
          <p:nvPr/>
        </p:nvSpPr>
        <p:spPr bwMode="auto">
          <a:xfrm>
            <a:off x="7620000" y="2994025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333" name="AutoShape 146"/>
          <p:cNvSpPr>
            <a:spLocks noChangeArrowheads="1"/>
          </p:cNvSpPr>
          <p:nvPr/>
        </p:nvSpPr>
        <p:spPr bwMode="auto">
          <a:xfrm>
            <a:off x="9448800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356" name="円/楕円 334"/>
          <p:cNvSpPr>
            <a:spLocks noChangeArrowheads="1"/>
          </p:cNvSpPr>
          <p:nvPr/>
        </p:nvSpPr>
        <p:spPr bwMode="auto">
          <a:xfrm>
            <a:off x="8437563" y="2609850"/>
            <a:ext cx="304800" cy="374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336" name="正方形/長方形 335"/>
          <p:cNvSpPr/>
          <p:nvPr/>
        </p:nvSpPr>
        <p:spPr>
          <a:xfrm>
            <a:off x="5105400" y="209867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文脈ベクトル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7" name="正方形/長方形 336"/>
          <p:cNvSpPr/>
          <p:nvPr/>
        </p:nvSpPr>
        <p:spPr>
          <a:xfrm>
            <a:off x="7543800" y="209867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入力語ベクトル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359" name="Rectangle 37"/>
          <p:cNvSpPr>
            <a:spLocks noChangeArrowheads="1"/>
          </p:cNvSpPr>
          <p:nvPr/>
        </p:nvSpPr>
        <p:spPr bwMode="auto">
          <a:xfrm>
            <a:off x="9983788" y="2460625"/>
            <a:ext cx="1828800" cy="16192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cxnSp>
        <p:nvCxnSpPr>
          <p:cNvPr id="339" name="直線矢印コネクタ 338"/>
          <p:cNvCxnSpPr/>
          <p:nvPr/>
        </p:nvCxnSpPr>
        <p:spPr>
          <a:xfrm>
            <a:off x="10379075" y="26955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1" name="正方形/長方形 339"/>
          <p:cNvSpPr>
            <a:spLocks noChangeArrowheads="1"/>
          </p:cNvSpPr>
          <p:nvPr/>
        </p:nvSpPr>
        <p:spPr bwMode="auto">
          <a:xfrm>
            <a:off x="10288589" y="2620964"/>
            <a:ext cx="388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cxnSp>
        <p:nvCxnSpPr>
          <p:cNvPr id="341" name="直線矢印コネクタ 340"/>
          <p:cNvCxnSpPr/>
          <p:nvPr/>
        </p:nvCxnSpPr>
        <p:spPr>
          <a:xfrm>
            <a:off x="10633075" y="26924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3" name="正方形/長方形 341"/>
          <p:cNvSpPr>
            <a:spLocks noChangeArrowheads="1"/>
          </p:cNvSpPr>
          <p:nvPr/>
        </p:nvSpPr>
        <p:spPr bwMode="auto">
          <a:xfrm>
            <a:off x="10542589" y="2617789"/>
            <a:ext cx="39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cxnSp>
        <p:nvCxnSpPr>
          <p:cNvPr id="343" name="直線矢印コネクタ 342"/>
          <p:cNvCxnSpPr/>
          <p:nvPr/>
        </p:nvCxnSpPr>
        <p:spPr>
          <a:xfrm>
            <a:off x="12403138" y="269081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5" name="正方形/長方形 343"/>
          <p:cNvSpPr>
            <a:spLocks noChangeArrowheads="1"/>
          </p:cNvSpPr>
          <p:nvPr/>
        </p:nvSpPr>
        <p:spPr bwMode="auto">
          <a:xfrm>
            <a:off x="12312650" y="2616200"/>
            <a:ext cx="388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3</a:t>
            </a:r>
            <a:endParaRPr lang="ja-JP" altLang="en-US" sz="1200"/>
          </a:p>
        </p:txBody>
      </p:sp>
      <p:cxnSp>
        <p:nvCxnSpPr>
          <p:cNvPr id="345" name="直線矢印コネクタ 344"/>
          <p:cNvCxnSpPr/>
          <p:nvPr/>
        </p:nvCxnSpPr>
        <p:spPr>
          <a:xfrm>
            <a:off x="12657138" y="26876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7" name="正方形/長方形 345"/>
          <p:cNvSpPr>
            <a:spLocks noChangeArrowheads="1"/>
          </p:cNvSpPr>
          <p:nvPr/>
        </p:nvSpPr>
        <p:spPr bwMode="auto">
          <a:xfrm>
            <a:off x="12566650" y="2613025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4</a:t>
            </a:r>
            <a:endParaRPr lang="ja-JP" altLang="en-US" sz="1200"/>
          </a:p>
        </p:txBody>
      </p:sp>
      <p:cxnSp>
        <p:nvCxnSpPr>
          <p:cNvPr id="347" name="直線矢印コネクタ 346"/>
          <p:cNvCxnSpPr/>
          <p:nvPr/>
        </p:nvCxnSpPr>
        <p:spPr>
          <a:xfrm>
            <a:off x="10379075" y="34623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9" name="正方形/長方形 347"/>
          <p:cNvSpPr>
            <a:spLocks noChangeArrowheads="1"/>
          </p:cNvSpPr>
          <p:nvPr/>
        </p:nvSpPr>
        <p:spPr bwMode="auto">
          <a:xfrm>
            <a:off x="10288589" y="3387725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13</a:t>
            </a:r>
            <a:endParaRPr lang="ja-JP" altLang="en-US" sz="1200"/>
          </a:p>
        </p:txBody>
      </p:sp>
      <p:cxnSp>
        <p:nvCxnSpPr>
          <p:cNvPr id="349" name="直線矢印コネクタ 348"/>
          <p:cNvCxnSpPr/>
          <p:nvPr/>
        </p:nvCxnSpPr>
        <p:spPr>
          <a:xfrm>
            <a:off x="10633075" y="34591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1" name="正方形/長方形 349"/>
          <p:cNvSpPr>
            <a:spLocks noChangeArrowheads="1"/>
          </p:cNvSpPr>
          <p:nvPr/>
        </p:nvSpPr>
        <p:spPr bwMode="auto">
          <a:xfrm>
            <a:off x="10542589" y="3384550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14</a:t>
            </a:r>
            <a:endParaRPr lang="ja-JP" altLang="en-US" sz="1200"/>
          </a:p>
        </p:txBody>
      </p:sp>
      <p:cxnSp>
        <p:nvCxnSpPr>
          <p:cNvPr id="351" name="直線矢印コネクタ 350"/>
          <p:cNvCxnSpPr/>
          <p:nvPr/>
        </p:nvCxnSpPr>
        <p:spPr>
          <a:xfrm>
            <a:off x="12403138" y="34575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3" name="正方形/長方形 351"/>
          <p:cNvSpPr>
            <a:spLocks noChangeArrowheads="1"/>
          </p:cNvSpPr>
          <p:nvPr/>
        </p:nvSpPr>
        <p:spPr bwMode="auto">
          <a:xfrm>
            <a:off x="12312650" y="3382964"/>
            <a:ext cx="44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15</a:t>
            </a:r>
            <a:endParaRPr lang="ja-JP" altLang="en-US" sz="1200"/>
          </a:p>
        </p:txBody>
      </p:sp>
      <p:cxnSp>
        <p:nvCxnSpPr>
          <p:cNvPr id="353" name="直線矢印コネクタ 352"/>
          <p:cNvCxnSpPr/>
          <p:nvPr/>
        </p:nvCxnSpPr>
        <p:spPr>
          <a:xfrm>
            <a:off x="12657138" y="34544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5" name="正方形/長方形 353"/>
          <p:cNvSpPr>
            <a:spLocks noChangeArrowheads="1"/>
          </p:cNvSpPr>
          <p:nvPr/>
        </p:nvSpPr>
        <p:spPr bwMode="auto">
          <a:xfrm>
            <a:off x="12566650" y="3379789"/>
            <a:ext cx="44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16</a:t>
            </a:r>
            <a:endParaRPr lang="ja-JP" altLang="en-US" sz="1200"/>
          </a:p>
        </p:txBody>
      </p:sp>
      <p:sp>
        <p:nvSpPr>
          <p:cNvPr id="54376" name="正方形/長方形 354"/>
          <p:cNvSpPr>
            <a:spLocks noChangeArrowheads="1"/>
          </p:cNvSpPr>
          <p:nvPr/>
        </p:nvSpPr>
        <p:spPr bwMode="auto">
          <a:xfrm>
            <a:off x="12920663" y="337502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cxnSp>
        <p:nvCxnSpPr>
          <p:cNvPr id="357" name="直線矢印コネクタ 356"/>
          <p:cNvCxnSpPr/>
          <p:nvPr/>
        </p:nvCxnSpPr>
        <p:spPr>
          <a:xfrm>
            <a:off x="12912725" y="26939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8" name="正方形/長方形 357"/>
          <p:cNvSpPr>
            <a:spLocks noChangeArrowheads="1"/>
          </p:cNvSpPr>
          <p:nvPr/>
        </p:nvSpPr>
        <p:spPr bwMode="auto">
          <a:xfrm>
            <a:off x="12822238" y="2619375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5</a:t>
            </a:r>
            <a:endParaRPr lang="ja-JP" altLang="en-US" sz="1200"/>
          </a:p>
        </p:txBody>
      </p:sp>
      <p:cxnSp>
        <p:nvCxnSpPr>
          <p:cNvPr id="359" name="直線矢印コネクタ 358"/>
          <p:cNvCxnSpPr/>
          <p:nvPr/>
        </p:nvCxnSpPr>
        <p:spPr>
          <a:xfrm>
            <a:off x="10072688" y="308451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0" name="正方形/長方形 359"/>
          <p:cNvSpPr>
            <a:spLocks noChangeArrowheads="1"/>
          </p:cNvSpPr>
          <p:nvPr/>
        </p:nvSpPr>
        <p:spPr bwMode="auto">
          <a:xfrm>
            <a:off x="9982201" y="3009900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6</a:t>
            </a:r>
            <a:endParaRPr lang="ja-JP" altLang="en-US" sz="1200"/>
          </a:p>
        </p:txBody>
      </p:sp>
      <p:cxnSp>
        <p:nvCxnSpPr>
          <p:cNvPr id="361" name="直線矢印コネクタ 360"/>
          <p:cNvCxnSpPr/>
          <p:nvPr/>
        </p:nvCxnSpPr>
        <p:spPr>
          <a:xfrm>
            <a:off x="10326688" y="30813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2" name="正方形/長方形 361"/>
          <p:cNvSpPr>
            <a:spLocks noChangeArrowheads="1"/>
          </p:cNvSpPr>
          <p:nvPr/>
        </p:nvSpPr>
        <p:spPr bwMode="auto">
          <a:xfrm>
            <a:off x="10236201" y="3008313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7</a:t>
            </a:r>
            <a:endParaRPr lang="ja-JP" altLang="en-US" sz="1200"/>
          </a:p>
        </p:txBody>
      </p:sp>
      <p:cxnSp>
        <p:nvCxnSpPr>
          <p:cNvPr id="363" name="直線矢印コネクタ 362"/>
          <p:cNvCxnSpPr/>
          <p:nvPr/>
        </p:nvCxnSpPr>
        <p:spPr>
          <a:xfrm>
            <a:off x="10572750" y="307975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4" name="正方形/長方形 363"/>
          <p:cNvSpPr>
            <a:spLocks noChangeArrowheads="1"/>
          </p:cNvSpPr>
          <p:nvPr/>
        </p:nvSpPr>
        <p:spPr bwMode="auto">
          <a:xfrm>
            <a:off x="10482264" y="3006725"/>
            <a:ext cx="3889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365" name="直線矢印コネクタ 364"/>
          <p:cNvCxnSpPr/>
          <p:nvPr/>
        </p:nvCxnSpPr>
        <p:spPr>
          <a:xfrm>
            <a:off x="12350750" y="30781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6" name="正方形/長方形 365"/>
          <p:cNvSpPr>
            <a:spLocks noChangeArrowheads="1"/>
          </p:cNvSpPr>
          <p:nvPr/>
        </p:nvSpPr>
        <p:spPr bwMode="auto">
          <a:xfrm>
            <a:off x="12260263" y="3003550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9</a:t>
            </a:r>
            <a:endParaRPr lang="ja-JP" altLang="en-US" sz="1200"/>
          </a:p>
        </p:txBody>
      </p:sp>
      <p:cxnSp>
        <p:nvCxnSpPr>
          <p:cNvPr id="367" name="直線矢印コネクタ 366"/>
          <p:cNvCxnSpPr/>
          <p:nvPr/>
        </p:nvCxnSpPr>
        <p:spPr>
          <a:xfrm>
            <a:off x="12609513" y="30734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8" name="正方形/長方形 367"/>
          <p:cNvSpPr>
            <a:spLocks noChangeArrowheads="1"/>
          </p:cNvSpPr>
          <p:nvPr/>
        </p:nvSpPr>
        <p:spPr bwMode="auto">
          <a:xfrm>
            <a:off x="12519025" y="3000375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10</a:t>
            </a:r>
            <a:endParaRPr lang="ja-JP" altLang="en-US" sz="1200"/>
          </a:p>
        </p:txBody>
      </p:sp>
      <p:cxnSp>
        <p:nvCxnSpPr>
          <p:cNvPr id="369" name="直線矢印コネクタ 368"/>
          <p:cNvCxnSpPr/>
          <p:nvPr/>
        </p:nvCxnSpPr>
        <p:spPr>
          <a:xfrm>
            <a:off x="12890500" y="30765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90" name="正方形/長方形 369"/>
          <p:cNvSpPr>
            <a:spLocks noChangeArrowheads="1"/>
          </p:cNvSpPr>
          <p:nvPr/>
        </p:nvSpPr>
        <p:spPr bwMode="auto">
          <a:xfrm>
            <a:off x="12800013" y="3001963"/>
            <a:ext cx="438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11</a:t>
            </a:r>
            <a:endParaRPr lang="ja-JP" altLang="en-US" sz="1200"/>
          </a:p>
        </p:txBody>
      </p:sp>
      <p:cxnSp>
        <p:nvCxnSpPr>
          <p:cNvPr id="371" name="直線矢印コネクタ 370"/>
          <p:cNvCxnSpPr/>
          <p:nvPr/>
        </p:nvCxnSpPr>
        <p:spPr>
          <a:xfrm>
            <a:off x="10115550" y="34623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92" name="正方形/長方形 371"/>
          <p:cNvSpPr>
            <a:spLocks noChangeArrowheads="1"/>
          </p:cNvSpPr>
          <p:nvPr/>
        </p:nvSpPr>
        <p:spPr bwMode="auto">
          <a:xfrm>
            <a:off x="10025064" y="3387725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12</a:t>
            </a:r>
            <a:endParaRPr lang="ja-JP" altLang="en-US"/>
          </a:p>
        </p:txBody>
      </p:sp>
      <p:sp>
        <p:nvSpPr>
          <p:cNvPr id="374" name="AutoShape 146"/>
          <p:cNvSpPr>
            <a:spLocks noChangeArrowheads="1"/>
          </p:cNvSpPr>
          <p:nvPr/>
        </p:nvSpPr>
        <p:spPr bwMode="auto">
          <a:xfrm>
            <a:off x="13411200" y="299402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376" name="正方形/長方形 375"/>
          <p:cNvSpPr/>
          <p:nvPr/>
        </p:nvSpPr>
        <p:spPr>
          <a:xfrm>
            <a:off x="9982200" y="2079626"/>
            <a:ext cx="1830388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概念ベクトル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395" name="テキスト ボックス 376"/>
          <p:cNvSpPr txBox="1">
            <a:spLocks noChangeArrowheads="1"/>
          </p:cNvSpPr>
          <p:nvPr/>
        </p:nvSpPr>
        <p:spPr bwMode="auto">
          <a:xfrm>
            <a:off x="8593138" y="1524000"/>
            <a:ext cx="21510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4. </a:t>
            </a:r>
            <a:r>
              <a:rPr lang="ja-JP" altLang="en-US" sz="1600" b="1"/>
              <a:t>概念ベクトルの構築</a:t>
            </a:r>
            <a:endParaRPr lang="en-US" altLang="ja-JP" sz="1600" b="1"/>
          </a:p>
        </p:txBody>
      </p:sp>
      <p:sp>
        <p:nvSpPr>
          <p:cNvPr id="54396" name="円/楕円 377"/>
          <p:cNvSpPr>
            <a:spLocks noChangeArrowheads="1"/>
          </p:cNvSpPr>
          <p:nvPr/>
        </p:nvSpPr>
        <p:spPr bwMode="auto">
          <a:xfrm>
            <a:off x="5915025" y="2994025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397" name="円/楕円 378"/>
          <p:cNvSpPr>
            <a:spLocks noChangeArrowheads="1"/>
          </p:cNvSpPr>
          <p:nvPr/>
        </p:nvSpPr>
        <p:spPr bwMode="auto">
          <a:xfrm>
            <a:off x="5219700" y="3413125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398" name="Rectangle 37"/>
          <p:cNvSpPr>
            <a:spLocks noChangeArrowheads="1"/>
          </p:cNvSpPr>
          <p:nvPr/>
        </p:nvSpPr>
        <p:spPr bwMode="auto">
          <a:xfrm>
            <a:off x="13944600" y="2460625"/>
            <a:ext cx="1828800" cy="16192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sp>
        <p:nvSpPr>
          <p:cNvPr id="54399" name="正方形/長方形 381"/>
          <p:cNvSpPr>
            <a:spLocks noChangeArrowheads="1"/>
          </p:cNvSpPr>
          <p:nvPr/>
        </p:nvSpPr>
        <p:spPr bwMode="auto">
          <a:xfrm>
            <a:off x="14400213" y="2555875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sp>
        <p:nvSpPr>
          <p:cNvPr id="54400" name="正方形/長方形 396"/>
          <p:cNvSpPr>
            <a:spLocks noChangeArrowheads="1"/>
          </p:cNvSpPr>
          <p:nvPr/>
        </p:nvSpPr>
        <p:spPr bwMode="auto">
          <a:xfrm>
            <a:off x="14611350" y="3470275"/>
            <a:ext cx="703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r>
              <a:rPr lang="en-US" altLang="ja-JP">
                <a:solidFill>
                  <a:srgbClr val="000000"/>
                </a:solidFill>
                <a:latin typeface="Times New Roman" charset="0"/>
              </a:rPr>
              <a:t> …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414" name="正方形/長方形 413"/>
          <p:cNvSpPr/>
          <p:nvPr/>
        </p:nvSpPr>
        <p:spPr>
          <a:xfrm>
            <a:off x="13944600" y="207962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ja-JP" sz="14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400" dirty="0">
                <a:latin typeface="Times New Roman" pitchFamily="18" charset="0"/>
                <a:cs typeface="Times New Roman" pitchFamily="18" charset="0"/>
              </a:rPr>
              <a:t>入力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概念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402" name="テキスト ボックス 414"/>
          <p:cNvSpPr txBox="1">
            <a:spLocks noChangeArrowheads="1"/>
          </p:cNvSpPr>
          <p:nvPr/>
        </p:nvSpPr>
        <p:spPr bwMode="auto">
          <a:xfrm>
            <a:off x="12420600" y="1524000"/>
            <a:ext cx="24812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5. </a:t>
            </a:r>
            <a:r>
              <a:rPr lang="ja-JP" altLang="en-US" sz="1600" b="1"/>
              <a:t>文脈類似概念対の抽出</a:t>
            </a:r>
            <a:endParaRPr lang="en-US" altLang="ja-JP" sz="1600" b="1"/>
          </a:p>
        </p:txBody>
      </p:sp>
      <p:sp>
        <p:nvSpPr>
          <p:cNvPr id="54403" name="正方形/長方形 415"/>
          <p:cNvSpPr>
            <a:spLocks noChangeArrowheads="1"/>
          </p:cNvSpPr>
          <p:nvPr/>
        </p:nvSpPr>
        <p:spPr bwMode="auto">
          <a:xfrm>
            <a:off x="15001875" y="2555875"/>
            <a:ext cx="388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5</a:t>
            </a:r>
            <a:endParaRPr lang="ja-JP" altLang="en-US" sz="1200"/>
          </a:p>
        </p:txBody>
      </p:sp>
      <p:cxnSp>
        <p:nvCxnSpPr>
          <p:cNvPr id="420" name="直線コネクタ 419"/>
          <p:cNvCxnSpPr>
            <a:stCxn id="54399" idx="3"/>
            <a:endCxn id="54403" idx="1"/>
          </p:cNvCxnSpPr>
          <p:nvPr/>
        </p:nvCxnSpPr>
        <p:spPr>
          <a:xfrm>
            <a:off x="14790738" y="2740025"/>
            <a:ext cx="211137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05" name="正方形/長方形 420"/>
          <p:cNvSpPr>
            <a:spLocks noChangeArrowheads="1"/>
          </p:cNvSpPr>
          <p:nvPr/>
        </p:nvSpPr>
        <p:spPr bwMode="auto">
          <a:xfrm>
            <a:off x="14404975" y="2784475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sp>
        <p:nvSpPr>
          <p:cNvPr id="54406" name="正方形/長方形 421"/>
          <p:cNvSpPr>
            <a:spLocks noChangeArrowheads="1"/>
          </p:cNvSpPr>
          <p:nvPr/>
        </p:nvSpPr>
        <p:spPr bwMode="auto">
          <a:xfrm>
            <a:off x="15006638" y="2784475"/>
            <a:ext cx="3889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423" name="直線コネクタ 422"/>
          <p:cNvCxnSpPr>
            <a:stCxn id="54405" idx="3"/>
            <a:endCxn id="54406" idx="1"/>
          </p:cNvCxnSpPr>
          <p:nvPr/>
        </p:nvCxnSpPr>
        <p:spPr>
          <a:xfrm>
            <a:off x="14795500" y="2968625"/>
            <a:ext cx="211138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08" name="正方形/長方形 423"/>
          <p:cNvSpPr>
            <a:spLocks noChangeArrowheads="1"/>
          </p:cNvSpPr>
          <p:nvPr/>
        </p:nvSpPr>
        <p:spPr bwMode="auto">
          <a:xfrm>
            <a:off x="14412913" y="3024189"/>
            <a:ext cx="39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sp>
        <p:nvSpPr>
          <p:cNvPr id="54409" name="正方形/長方形 424"/>
          <p:cNvSpPr>
            <a:spLocks noChangeArrowheads="1"/>
          </p:cNvSpPr>
          <p:nvPr/>
        </p:nvSpPr>
        <p:spPr bwMode="auto">
          <a:xfrm>
            <a:off x="15014575" y="3024189"/>
            <a:ext cx="388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7</a:t>
            </a:r>
            <a:endParaRPr lang="ja-JP" altLang="en-US" sz="1200"/>
          </a:p>
        </p:txBody>
      </p:sp>
      <p:cxnSp>
        <p:nvCxnSpPr>
          <p:cNvPr id="426" name="直線コネクタ 425"/>
          <p:cNvCxnSpPr>
            <a:stCxn id="54408" idx="3"/>
            <a:endCxn id="54409" idx="1"/>
          </p:cNvCxnSpPr>
          <p:nvPr/>
        </p:nvCxnSpPr>
        <p:spPr>
          <a:xfrm>
            <a:off x="14803438" y="3208339"/>
            <a:ext cx="211137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11" name="正方形/長方形 426"/>
          <p:cNvSpPr>
            <a:spLocks noChangeArrowheads="1"/>
          </p:cNvSpPr>
          <p:nvPr/>
        </p:nvSpPr>
        <p:spPr bwMode="auto">
          <a:xfrm>
            <a:off x="14420850" y="3248025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sp>
        <p:nvSpPr>
          <p:cNvPr id="54412" name="正方形/長方形 427"/>
          <p:cNvSpPr>
            <a:spLocks noChangeArrowheads="1"/>
          </p:cNvSpPr>
          <p:nvPr/>
        </p:nvSpPr>
        <p:spPr bwMode="auto">
          <a:xfrm>
            <a:off x="15022513" y="3248025"/>
            <a:ext cx="388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429" name="直線コネクタ 428"/>
          <p:cNvCxnSpPr>
            <a:stCxn id="54411" idx="3"/>
            <a:endCxn id="54412" idx="1"/>
          </p:cNvCxnSpPr>
          <p:nvPr/>
        </p:nvCxnSpPr>
        <p:spPr>
          <a:xfrm>
            <a:off x="14811375" y="3433764"/>
            <a:ext cx="211138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直線矢印コネクタ 431"/>
          <p:cNvCxnSpPr/>
          <p:nvPr/>
        </p:nvCxnSpPr>
        <p:spPr>
          <a:xfrm>
            <a:off x="5181600" y="21748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線矢印コネクタ 433"/>
          <p:cNvCxnSpPr/>
          <p:nvPr/>
        </p:nvCxnSpPr>
        <p:spPr>
          <a:xfrm>
            <a:off x="7620000" y="21542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直線矢印コネクタ 434"/>
          <p:cNvCxnSpPr/>
          <p:nvPr/>
        </p:nvCxnSpPr>
        <p:spPr>
          <a:xfrm>
            <a:off x="10058400" y="214312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417" name="グループ化 435"/>
          <p:cNvGrpSpPr>
            <a:grpSpLocks/>
          </p:cNvGrpSpPr>
          <p:nvPr/>
        </p:nvGrpSpPr>
        <p:grpSpPr bwMode="auto">
          <a:xfrm>
            <a:off x="7207251" y="4394200"/>
            <a:ext cx="403225" cy="368300"/>
            <a:chOff x="4377075" y="3244334"/>
            <a:chExt cx="402674" cy="369332"/>
          </a:xfrm>
        </p:grpSpPr>
        <p:cxnSp>
          <p:nvCxnSpPr>
            <p:cNvPr id="437" name="直線矢印コネクタ 436"/>
            <p:cNvCxnSpPr/>
            <p:nvPr/>
          </p:nvCxnSpPr>
          <p:spPr>
            <a:xfrm>
              <a:off x="4467439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1" name="正方形/長方形 437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</a:t>
              </a:r>
              <a:endParaRPr lang="ja-JP" altLang="en-US" sz="1200"/>
            </a:p>
          </p:txBody>
        </p:sp>
      </p:grpSp>
      <p:grpSp>
        <p:nvGrpSpPr>
          <p:cNvPr id="54418" name="グループ化 438"/>
          <p:cNvGrpSpPr>
            <a:grpSpLocks/>
          </p:cNvGrpSpPr>
          <p:nvPr/>
        </p:nvGrpSpPr>
        <p:grpSpPr bwMode="auto">
          <a:xfrm>
            <a:off x="7740651" y="4394200"/>
            <a:ext cx="403225" cy="368300"/>
            <a:chOff x="4377075" y="3244334"/>
            <a:chExt cx="402674" cy="369332"/>
          </a:xfrm>
        </p:grpSpPr>
        <p:cxnSp>
          <p:nvCxnSpPr>
            <p:cNvPr id="440" name="直線矢印コネクタ 439"/>
            <p:cNvCxnSpPr/>
            <p:nvPr/>
          </p:nvCxnSpPr>
          <p:spPr>
            <a:xfrm>
              <a:off x="4467439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59" name="正方形/長方形 440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9</a:t>
              </a:r>
              <a:endParaRPr lang="ja-JP" altLang="en-US" sz="1200"/>
            </a:p>
          </p:txBody>
        </p:sp>
      </p:grpSp>
      <p:grpSp>
        <p:nvGrpSpPr>
          <p:cNvPr id="54419" name="グループ化 441"/>
          <p:cNvGrpSpPr>
            <a:grpSpLocks/>
          </p:cNvGrpSpPr>
          <p:nvPr/>
        </p:nvGrpSpPr>
        <p:grpSpPr bwMode="auto">
          <a:xfrm>
            <a:off x="8274051" y="4394200"/>
            <a:ext cx="454025" cy="368300"/>
            <a:chOff x="4377075" y="3244334"/>
            <a:chExt cx="453970" cy="369332"/>
          </a:xfrm>
        </p:grpSpPr>
        <p:cxnSp>
          <p:nvCxnSpPr>
            <p:cNvPr id="443" name="直線矢印コネクタ 442"/>
            <p:cNvCxnSpPr/>
            <p:nvPr/>
          </p:nvCxnSpPr>
          <p:spPr>
            <a:xfrm>
              <a:off x="4467552" y="3352586"/>
              <a:ext cx="228572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57" name="正方形/長方形 443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12</a:t>
              </a:r>
              <a:endParaRPr lang="ja-JP" altLang="en-US" sz="1200"/>
            </a:p>
          </p:txBody>
        </p:sp>
      </p:grpSp>
      <p:sp>
        <p:nvSpPr>
          <p:cNvPr id="54420" name="正方形/長方形 444"/>
          <p:cNvSpPr>
            <a:spLocks noChangeArrowheads="1"/>
          </p:cNvSpPr>
          <p:nvPr/>
        </p:nvSpPr>
        <p:spPr bwMode="auto">
          <a:xfrm>
            <a:off x="6670675" y="4394200"/>
            <a:ext cx="431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i</a:t>
            </a:r>
            <a:endParaRPr lang="ja-JP" altLang="en-US" sz="1200"/>
          </a:p>
        </p:txBody>
      </p:sp>
      <p:cxnSp>
        <p:nvCxnSpPr>
          <p:cNvPr id="446" name="直線矢印コネクタ 445"/>
          <p:cNvCxnSpPr/>
          <p:nvPr/>
        </p:nvCxnSpPr>
        <p:spPr>
          <a:xfrm>
            <a:off x="6697663" y="44465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22" name="テキスト ボックス 446"/>
          <p:cNvSpPr txBox="1">
            <a:spLocks noChangeArrowheads="1"/>
          </p:cNvSpPr>
          <p:nvPr/>
        </p:nvSpPr>
        <p:spPr bwMode="auto">
          <a:xfrm>
            <a:off x="6975475" y="4384675"/>
            <a:ext cx="319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=</a:t>
            </a:r>
            <a:endParaRPr lang="ja-JP" altLang="en-US"/>
          </a:p>
        </p:txBody>
      </p:sp>
      <p:sp>
        <p:nvSpPr>
          <p:cNvPr id="54423" name="テキスト ボックス 447"/>
          <p:cNvSpPr txBox="1">
            <a:spLocks noChangeArrowheads="1"/>
          </p:cNvSpPr>
          <p:nvPr/>
        </p:nvSpPr>
        <p:spPr bwMode="auto">
          <a:xfrm>
            <a:off x="7508875" y="4394200"/>
            <a:ext cx="319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endParaRPr lang="ja-JP" altLang="en-US"/>
          </a:p>
        </p:txBody>
      </p:sp>
      <p:sp>
        <p:nvSpPr>
          <p:cNvPr id="54424" name="テキスト ボックス 448"/>
          <p:cNvSpPr txBox="1">
            <a:spLocks noChangeArrowheads="1"/>
          </p:cNvSpPr>
          <p:nvPr/>
        </p:nvSpPr>
        <p:spPr bwMode="auto">
          <a:xfrm>
            <a:off x="8042275" y="4394200"/>
            <a:ext cx="319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endParaRPr lang="ja-JP" altLang="en-US"/>
          </a:p>
        </p:txBody>
      </p:sp>
      <p:sp>
        <p:nvSpPr>
          <p:cNvPr id="54425" name="テキスト ボックス 449"/>
          <p:cNvSpPr txBox="1">
            <a:spLocks noChangeArrowheads="1"/>
          </p:cNvSpPr>
          <p:nvPr/>
        </p:nvSpPr>
        <p:spPr bwMode="auto">
          <a:xfrm>
            <a:off x="8637588" y="4394200"/>
            <a:ext cx="665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r>
              <a:rPr lang="ja-JP" altLang="en-US"/>
              <a:t>・・・</a:t>
            </a:r>
          </a:p>
        </p:txBody>
      </p:sp>
      <p:sp>
        <p:nvSpPr>
          <p:cNvPr id="451" name="左中かっこ 450"/>
          <p:cNvSpPr/>
          <p:nvPr/>
        </p:nvSpPr>
        <p:spPr>
          <a:xfrm rot="16200000">
            <a:off x="8080375" y="3810000"/>
            <a:ext cx="304800" cy="2057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27" name="テキスト ボックス 451"/>
          <p:cNvSpPr txBox="1">
            <a:spLocks noChangeArrowheads="1"/>
          </p:cNvSpPr>
          <p:nvPr/>
        </p:nvSpPr>
        <p:spPr bwMode="auto">
          <a:xfrm>
            <a:off x="7388225" y="4962526"/>
            <a:ext cx="1746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同一入力語における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文脈ベクトルの和</a:t>
            </a:r>
            <a:endParaRPr lang="en-US" altLang="ja-JP" sz="1400"/>
          </a:p>
        </p:txBody>
      </p:sp>
      <p:sp>
        <p:nvSpPr>
          <p:cNvPr id="453" name="左中かっこ 452"/>
          <p:cNvSpPr/>
          <p:nvPr/>
        </p:nvSpPr>
        <p:spPr>
          <a:xfrm rot="16200000">
            <a:off x="6727825" y="4629150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29" name="テキスト ボックス 453"/>
          <p:cNvSpPr txBox="1">
            <a:spLocks noChangeArrowheads="1"/>
          </p:cNvSpPr>
          <p:nvPr/>
        </p:nvSpPr>
        <p:spPr bwMode="auto">
          <a:xfrm>
            <a:off x="6442075" y="4914901"/>
            <a:ext cx="795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入力語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ベクトル</a:t>
            </a:r>
            <a:endParaRPr lang="en-US" altLang="ja-JP" sz="1400"/>
          </a:p>
        </p:txBody>
      </p:sp>
      <p:cxnSp>
        <p:nvCxnSpPr>
          <p:cNvPr id="456" name="直線矢印コネクタ 455"/>
          <p:cNvCxnSpPr/>
          <p:nvPr/>
        </p:nvCxnSpPr>
        <p:spPr>
          <a:xfrm>
            <a:off x="10193338" y="45037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31" name="正方形/長方形 456"/>
          <p:cNvSpPr>
            <a:spLocks noChangeArrowheads="1"/>
          </p:cNvSpPr>
          <p:nvPr/>
        </p:nvSpPr>
        <p:spPr bwMode="auto">
          <a:xfrm>
            <a:off x="10102851" y="44323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3</a:t>
            </a:r>
            <a:endParaRPr lang="ja-JP" altLang="en-US" sz="1200"/>
          </a:p>
        </p:txBody>
      </p:sp>
      <p:cxnSp>
        <p:nvCxnSpPr>
          <p:cNvPr id="459" name="直線矢印コネクタ 458"/>
          <p:cNvCxnSpPr/>
          <p:nvPr/>
        </p:nvCxnSpPr>
        <p:spPr>
          <a:xfrm>
            <a:off x="12250738" y="45037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33" name="正方形/長方形 459"/>
          <p:cNvSpPr>
            <a:spLocks noChangeArrowheads="1"/>
          </p:cNvSpPr>
          <p:nvPr/>
        </p:nvSpPr>
        <p:spPr bwMode="auto">
          <a:xfrm>
            <a:off x="10636251" y="44323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6</a:t>
            </a:r>
            <a:endParaRPr lang="ja-JP" altLang="en-US" sz="1200"/>
          </a:p>
        </p:txBody>
      </p:sp>
      <p:sp>
        <p:nvSpPr>
          <p:cNvPr id="54434" name="正方形/長方形 463"/>
          <p:cNvSpPr>
            <a:spLocks noChangeArrowheads="1"/>
          </p:cNvSpPr>
          <p:nvPr/>
        </p:nvSpPr>
        <p:spPr bwMode="auto">
          <a:xfrm>
            <a:off x="9566275" y="4432300"/>
            <a:ext cx="368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i</a:t>
            </a:r>
            <a:endParaRPr lang="ja-JP" altLang="en-US" sz="1200"/>
          </a:p>
        </p:txBody>
      </p:sp>
      <p:cxnSp>
        <p:nvCxnSpPr>
          <p:cNvPr id="465" name="直線矢印コネクタ 464"/>
          <p:cNvCxnSpPr/>
          <p:nvPr/>
        </p:nvCxnSpPr>
        <p:spPr>
          <a:xfrm>
            <a:off x="9671050" y="44862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36" name="テキスト ボックス 465"/>
          <p:cNvSpPr txBox="1">
            <a:spLocks noChangeArrowheads="1"/>
          </p:cNvSpPr>
          <p:nvPr/>
        </p:nvSpPr>
        <p:spPr bwMode="auto">
          <a:xfrm>
            <a:off x="9871075" y="4422775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=</a:t>
            </a:r>
            <a:endParaRPr lang="ja-JP" altLang="en-US"/>
          </a:p>
        </p:txBody>
      </p:sp>
      <p:sp>
        <p:nvSpPr>
          <p:cNvPr id="54437" name="テキスト ボックス 466"/>
          <p:cNvSpPr txBox="1">
            <a:spLocks noChangeArrowheads="1"/>
          </p:cNvSpPr>
          <p:nvPr/>
        </p:nvSpPr>
        <p:spPr bwMode="auto">
          <a:xfrm>
            <a:off x="10404475" y="4432300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endParaRPr lang="ja-JP" altLang="en-US"/>
          </a:p>
        </p:txBody>
      </p:sp>
      <p:sp>
        <p:nvSpPr>
          <p:cNvPr id="54438" name="テキスト ボックス 468"/>
          <p:cNvSpPr txBox="1">
            <a:spLocks noChangeArrowheads="1"/>
          </p:cNvSpPr>
          <p:nvPr/>
        </p:nvSpPr>
        <p:spPr bwMode="auto">
          <a:xfrm>
            <a:off x="12538075" y="4432300"/>
            <a:ext cx="665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r>
              <a:rPr lang="ja-JP" altLang="en-US"/>
              <a:t>・・・</a:t>
            </a:r>
          </a:p>
        </p:txBody>
      </p:sp>
      <p:sp>
        <p:nvSpPr>
          <p:cNvPr id="470" name="左中かっこ 469"/>
          <p:cNvSpPr/>
          <p:nvPr/>
        </p:nvSpPr>
        <p:spPr>
          <a:xfrm rot="16200000">
            <a:off x="10975975" y="3849688"/>
            <a:ext cx="304800" cy="2057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40" name="テキスト ボックス 470"/>
          <p:cNvSpPr txBox="1">
            <a:spLocks noChangeArrowheads="1"/>
          </p:cNvSpPr>
          <p:nvPr/>
        </p:nvSpPr>
        <p:spPr bwMode="auto">
          <a:xfrm>
            <a:off x="10099676" y="5002214"/>
            <a:ext cx="2397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入力概念</a:t>
            </a:r>
            <a:r>
              <a:rPr lang="en-US" altLang="ja-JP" sz="1400">
                <a:latin typeface="Times New Roman" charset="0"/>
              </a:rPr>
              <a:t>C</a:t>
            </a:r>
            <a:r>
              <a:rPr lang="en-US" altLang="ja-JP" sz="1400" baseline="-25000">
                <a:latin typeface="Times New Roman" charset="0"/>
              </a:rPr>
              <a:t>i</a:t>
            </a:r>
            <a:r>
              <a:rPr lang="ja-JP" altLang="en-US" sz="1400"/>
              <a:t>の見出しにおける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入力語ベクトルの和</a:t>
            </a:r>
            <a:endParaRPr lang="en-US" altLang="ja-JP" sz="1400"/>
          </a:p>
        </p:txBody>
      </p:sp>
      <p:sp>
        <p:nvSpPr>
          <p:cNvPr id="472" name="左中かっこ 471"/>
          <p:cNvSpPr/>
          <p:nvPr/>
        </p:nvSpPr>
        <p:spPr>
          <a:xfrm rot="16200000">
            <a:off x="9623425" y="4668838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42" name="テキスト ボックス 472"/>
          <p:cNvSpPr txBox="1">
            <a:spLocks noChangeArrowheads="1"/>
          </p:cNvSpPr>
          <p:nvPr/>
        </p:nvSpPr>
        <p:spPr bwMode="auto">
          <a:xfrm>
            <a:off x="9337675" y="4954589"/>
            <a:ext cx="825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概念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ベクトル</a:t>
            </a:r>
            <a:endParaRPr lang="en-US" altLang="ja-JP" sz="1400"/>
          </a:p>
        </p:txBody>
      </p:sp>
      <p:sp>
        <p:nvSpPr>
          <p:cNvPr id="54443" name="正方形/長方形 482"/>
          <p:cNvSpPr>
            <a:spLocks noChangeArrowheads="1"/>
          </p:cNvSpPr>
          <p:nvPr/>
        </p:nvSpPr>
        <p:spPr bwMode="auto">
          <a:xfrm>
            <a:off x="3241676" y="4394200"/>
            <a:ext cx="403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cxnSp>
        <p:nvCxnSpPr>
          <p:cNvPr id="484" name="直線矢印コネクタ 483"/>
          <p:cNvCxnSpPr/>
          <p:nvPr/>
        </p:nvCxnSpPr>
        <p:spPr>
          <a:xfrm>
            <a:off x="3268663" y="44465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45" name="テキスト ボックス 484"/>
          <p:cNvSpPr txBox="1">
            <a:spLocks noChangeArrowheads="1"/>
          </p:cNvSpPr>
          <p:nvPr/>
        </p:nvSpPr>
        <p:spPr bwMode="auto">
          <a:xfrm>
            <a:off x="3546476" y="4384675"/>
            <a:ext cx="25574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= </a:t>
            </a:r>
            <a:r>
              <a:rPr lang="en-US" altLang="ja-JP">
                <a:latin typeface="Times New Roman" charset="0"/>
              </a:rPr>
              <a:t>(3, 1, 1, 1, 2, 0, 0, 1,…)</a:t>
            </a:r>
            <a:endParaRPr lang="ja-JP" altLang="en-US">
              <a:latin typeface="Times New Roman" charset="0"/>
            </a:endParaRPr>
          </a:p>
        </p:txBody>
      </p:sp>
      <p:sp>
        <p:nvSpPr>
          <p:cNvPr id="491" name="左中かっこ 490"/>
          <p:cNvSpPr/>
          <p:nvPr/>
        </p:nvSpPr>
        <p:spPr>
          <a:xfrm rot="16200000">
            <a:off x="3298825" y="4629150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47" name="テキスト ボックス 491"/>
          <p:cNvSpPr txBox="1">
            <a:spLocks noChangeArrowheads="1"/>
          </p:cNvSpPr>
          <p:nvPr/>
        </p:nvSpPr>
        <p:spPr bwMode="auto">
          <a:xfrm>
            <a:off x="3013075" y="4914901"/>
            <a:ext cx="795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文脈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ベクトル</a:t>
            </a:r>
            <a:endParaRPr lang="en-US" altLang="ja-JP" sz="1400"/>
          </a:p>
        </p:txBody>
      </p:sp>
      <p:sp>
        <p:nvSpPr>
          <p:cNvPr id="54448" name="テキスト ボックス 492"/>
          <p:cNvSpPr txBox="1">
            <a:spLocks noChangeArrowheads="1"/>
          </p:cNvSpPr>
          <p:nvPr/>
        </p:nvSpPr>
        <p:spPr bwMode="auto">
          <a:xfrm>
            <a:off x="3836989" y="4603750"/>
            <a:ext cx="22240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>
                <a:latin typeface="Times New Roman" charset="0"/>
              </a:rPr>
              <a:t>g</a:t>
            </a:r>
            <a:r>
              <a:rPr lang="en-US" altLang="ja-JP" sz="1600" baseline="-25000">
                <a:latin typeface="Times New Roman" charset="0"/>
              </a:rPr>
              <a:t>1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2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3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4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5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6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7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8</a:t>
            </a:r>
            <a:r>
              <a:rPr lang="en-US" altLang="ja-JP" sz="1600">
                <a:latin typeface="Times New Roman" charset="0"/>
              </a:rPr>
              <a:t> …</a:t>
            </a:r>
            <a:endParaRPr lang="ja-JP" altLang="en-US" sz="1600">
              <a:latin typeface="Times New Roman" charset="0"/>
            </a:endParaRPr>
          </a:p>
        </p:txBody>
      </p:sp>
      <p:sp>
        <p:nvSpPr>
          <p:cNvPr id="497" name="左中かっこ 496"/>
          <p:cNvSpPr/>
          <p:nvPr/>
        </p:nvSpPr>
        <p:spPr>
          <a:xfrm rot="16200000">
            <a:off x="4727575" y="3962400"/>
            <a:ext cx="304800" cy="2057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50" name="テキスト ボックス 497"/>
          <p:cNvSpPr txBox="1">
            <a:spLocks noChangeArrowheads="1"/>
          </p:cNvSpPr>
          <p:nvPr/>
        </p:nvSpPr>
        <p:spPr bwMode="auto">
          <a:xfrm>
            <a:off x="3794125" y="5114926"/>
            <a:ext cx="2705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の要素</a:t>
            </a:r>
            <a:r>
              <a:rPr lang="en-US" altLang="ja-JP" sz="1400">
                <a:latin typeface="Times New Roman" charset="0"/>
              </a:rPr>
              <a:t>a</a:t>
            </a:r>
            <a:r>
              <a:rPr lang="en-US" altLang="ja-JP" sz="1400" baseline="-25000">
                <a:latin typeface="Times New Roman" charset="0"/>
              </a:rPr>
              <a:t>i,j</a:t>
            </a:r>
            <a:r>
              <a:rPr lang="ja-JP" altLang="en-US" sz="1400"/>
              <a:t>は，入力語</a:t>
            </a:r>
            <a:r>
              <a:rPr lang="en-US" altLang="ja-JP" sz="1400">
                <a:latin typeface="Times New Roman" charset="0"/>
              </a:rPr>
              <a:t>w</a:t>
            </a:r>
            <a:r>
              <a:rPr lang="en-US" altLang="ja-JP" sz="1400" baseline="-25000">
                <a:latin typeface="Times New Roman" charset="0"/>
              </a:rPr>
              <a:t>i</a:t>
            </a:r>
            <a:r>
              <a:rPr lang="ja-JP" altLang="en-US" sz="1400"/>
              <a:t>周辺の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高頻度単語</a:t>
            </a:r>
            <a:r>
              <a:rPr lang="en-US" altLang="ja-JP" sz="1400">
                <a:latin typeface="Times New Roman" charset="0"/>
              </a:rPr>
              <a:t>N-gram g</a:t>
            </a:r>
            <a:r>
              <a:rPr lang="en-US" altLang="ja-JP" sz="1400" baseline="-25000">
                <a:latin typeface="Times New Roman" charset="0"/>
              </a:rPr>
              <a:t>j</a:t>
            </a:r>
            <a:r>
              <a:rPr lang="ja-JP" altLang="en-US" sz="1400"/>
              <a:t>の出現回数</a:t>
            </a:r>
            <a:endParaRPr lang="en-US" altLang="ja-JP" sz="1400"/>
          </a:p>
        </p:txBody>
      </p:sp>
      <p:sp>
        <p:nvSpPr>
          <p:cNvPr id="54451" name="正方形/長方形 498"/>
          <p:cNvSpPr>
            <a:spLocks noChangeArrowheads="1"/>
          </p:cNvSpPr>
          <p:nvPr/>
        </p:nvSpPr>
        <p:spPr bwMode="auto">
          <a:xfrm>
            <a:off x="3698875" y="5070475"/>
            <a:ext cx="381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i</a:t>
            </a:r>
            <a:endParaRPr lang="ja-JP" altLang="en-US" sz="1200"/>
          </a:p>
        </p:txBody>
      </p:sp>
      <p:cxnSp>
        <p:nvCxnSpPr>
          <p:cNvPr id="500" name="直線矢印コネクタ 499"/>
          <p:cNvCxnSpPr/>
          <p:nvPr/>
        </p:nvCxnSpPr>
        <p:spPr>
          <a:xfrm>
            <a:off x="3803650" y="51228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53" name="正方形/長方形 501"/>
          <p:cNvSpPr>
            <a:spLocks noChangeArrowheads="1"/>
          </p:cNvSpPr>
          <p:nvPr/>
        </p:nvSpPr>
        <p:spPr bwMode="auto">
          <a:xfrm>
            <a:off x="1039813" y="4384675"/>
            <a:ext cx="1897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   g</a:t>
            </a:r>
            <a:r>
              <a:rPr lang="en-US" altLang="ja-JP" baseline="-25000">
                <a:latin typeface="Times New Roman" charset="0"/>
              </a:rPr>
              <a:t>i</a:t>
            </a:r>
            <a:r>
              <a:rPr lang="en-US" altLang="ja-JP">
                <a:latin typeface="Times New Roman" charset="0"/>
              </a:rPr>
              <a:t> = w</a:t>
            </a:r>
            <a:r>
              <a:rPr lang="en-US" altLang="ja-JP" sz="1400" baseline="-25000">
                <a:latin typeface="Times New Roman" charset="0"/>
              </a:rPr>
              <a:t>5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6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4</a:t>
            </a:r>
            <a:r>
              <a:rPr lang="en-US" altLang="ja-JP">
                <a:latin typeface="Times New Roman" charset="0"/>
              </a:rPr>
              <a:t> </a:t>
            </a:r>
            <a:endParaRPr lang="ja-JP" altLang="en-US"/>
          </a:p>
        </p:txBody>
      </p:sp>
      <p:sp>
        <p:nvSpPr>
          <p:cNvPr id="503" name="左中かっこ 502"/>
          <p:cNvSpPr/>
          <p:nvPr/>
        </p:nvSpPr>
        <p:spPr>
          <a:xfrm rot="16200000">
            <a:off x="1203325" y="4619625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55" name="テキスト ボックス 503"/>
          <p:cNvSpPr txBox="1">
            <a:spLocks noChangeArrowheads="1"/>
          </p:cNvSpPr>
          <p:nvPr/>
        </p:nvSpPr>
        <p:spPr bwMode="auto">
          <a:xfrm>
            <a:off x="727075" y="4959351"/>
            <a:ext cx="1258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単語 </a:t>
            </a:r>
            <a:r>
              <a:rPr lang="en-US" altLang="ja-JP" sz="1400"/>
              <a:t>N-gram</a:t>
            </a:r>
          </a:p>
          <a:p>
            <a:pPr algn="ctr" eaLnBrk="1" hangingPunct="1"/>
            <a:r>
              <a:rPr lang="ja-JP" altLang="en-US" sz="1400"/>
              <a:t>（</a:t>
            </a:r>
            <a:r>
              <a:rPr lang="en-US" altLang="ja-JP" sz="1400"/>
              <a:t>N=4</a:t>
            </a:r>
            <a:r>
              <a:rPr lang="ja-JP" altLang="en-US" sz="1400"/>
              <a:t>の場合）</a:t>
            </a:r>
            <a:endParaRPr lang="en-US" altLang="ja-JP" sz="14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074022"/>
              </p:ext>
            </p:extLst>
          </p:nvPr>
        </p:nvGraphicFramePr>
        <p:xfrm>
          <a:off x="1524001" y="304800"/>
          <a:ext cx="944563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4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T</a:t>
                      </a:r>
                      <a:endParaRPr kumimoji="1" lang="ja-JP" altLang="en-US" b="1" dirty="0"/>
                    </a:p>
                  </a:txBody>
                  <a:tcPr marL="91409" marR="9140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1,3,4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2,3,5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1,2,3,5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2,5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208583"/>
              </p:ext>
            </p:extLst>
          </p:nvPr>
        </p:nvGraphicFramePr>
        <p:xfrm>
          <a:off x="4857750" y="304800"/>
          <a:ext cx="2057400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1</a:t>
                      </a:r>
                      <a:endParaRPr kumimoji="1" lang="ja-JP" altLang="en-US" sz="1800" b="1" baseline="-25000" dirty="0"/>
                    </a:p>
                  </a:txBody>
                  <a:tcPr marT="45733" marB="45733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T="45733" marB="45733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 = 0.75 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 =</a:t>
                      </a:r>
                      <a:r>
                        <a:rPr kumimoji="1" lang="en-US" altLang="ja-JP" sz="1800" baseline="0" dirty="0"/>
                        <a:t> 0.75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{4}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1/4 =</a:t>
                      </a:r>
                      <a:r>
                        <a:rPr kumimoji="1" lang="en-US" altLang="ja-JP" sz="1800" baseline="0" dirty="0"/>
                        <a:t> 0.25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{5}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 =</a:t>
                      </a:r>
                      <a:r>
                        <a:rPr kumimoji="1" lang="en-US" altLang="ja-JP" sz="1800" baseline="0" dirty="0"/>
                        <a:t> 0.75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17015"/>
              </p:ext>
            </p:extLst>
          </p:nvPr>
        </p:nvGraphicFramePr>
        <p:xfrm>
          <a:off x="3048000" y="304800"/>
          <a:ext cx="990600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1</a:t>
                      </a:r>
                      <a:endParaRPr kumimoji="1" lang="ja-JP" altLang="en-US" sz="1800" b="1" baseline="-25000" dirty="0"/>
                    </a:p>
                  </a:txBody>
                  <a:tcPr marT="45733" marB="45733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{4}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{5}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993357"/>
              </p:ext>
            </p:extLst>
          </p:nvPr>
        </p:nvGraphicFramePr>
        <p:xfrm>
          <a:off x="7620000" y="333375"/>
          <a:ext cx="18288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1</a:t>
                      </a:r>
                      <a:endParaRPr kumimoji="1" lang="ja-JP" altLang="en-US" b="1" baseline="-25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支持度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{5}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775436"/>
              </p:ext>
            </p:extLst>
          </p:nvPr>
        </p:nvGraphicFramePr>
        <p:xfrm>
          <a:off x="4857750" y="2819401"/>
          <a:ext cx="2057400" cy="259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2</a:t>
                      </a:r>
                      <a:endParaRPr kumimoji="1" lang="ja-JP" altLang="en-US" sz="1800" b="1" baseline="-25000" dirty="0"/>
                    </a:p>
                  </a:txBody>
                  <a:tcPr marT="45714" marB="45714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T="45714" marB="45714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{1,2}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1/4 = 0.25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{1,3}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</a:t>
                      </a:r>
                      <a:r>
                        <a:rPr kumimoji="1" lang="en-US" altLang="ja-JP" sz="1800" baseline="0" dirty="0"/>
                        <a:t> = 0.50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{1,5}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1/4 = 0.25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{2,5}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</a:t>
                      </a:r>
                      <a:r>
                        <a:rPr kumimoji="1" lang="en-US" altLang="ja-JP" sz="1800" baseline="0" dirty="0"/>
                        <a:t> = 0.75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{3,5}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表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451312"/>
              </p:ext>
            </p:extLst>
          </p:nvPr>
        </p:nvGraphicFramePr>
        <p:xfrm>
          <a:off x="3048001" y="2819401"/>
          <a:ext cx="1020763" cy="259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0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2</a:t>
                      </a:r>
                      <a:endParaRPr kumimoji="1" lang="ja-JP" altLang="en-US" sz="1800" b="1" baseline="-25000" dirty="0"/>
                    </a:p>
                  </a:txBody>
                  <a:tcPr marL="91412" marR="91412" marT="45714" marB="45714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{1,2}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{1,3}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{1,5}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{2,5}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{3,5}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表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178012"/>
              </p:ext>
            </p:extLst>
          </p:nvPr>
        </p:nvGraphicFramePr>
        <p:xfrm>
          <a:off x="7639051" y="2809875"/>
          <a:ext cx="187642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2</a:t>
                      </a:r>
                      <a:endParaRPr kumimoji="1" lang="ja-JP" altLang="en-US" b="1" baseline="-25000" dirty="0"/>
                    </a:p>
                  </a:txBody>
                  <a:tcPr marL="91409" marR="9140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支持度</a:t>
                      </a:r>
                    </a:p>
                  </a:txBody>
                  <a:tcPr marL="91409" marR="9140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{1,3}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{2,3}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{2,5}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{3,5}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563306"/>
              </p:ext>
            </p:extLst>
          </p:nvPr>
        </p:nvGraphicFramePr>
        <p:xfrm>
          <a:off x="3057525" y="5715000"/>
          <a:ext cx="9906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3</a:t>
                      </a:r>
                      <a:endParaRPr kumimoji="1" lang="ja-JP" altLang="en-US" sz="1800" b="1" baseline="-25000" dirty="0"/>
                    </a:p>
                  </a:txBody>
                  <a:tcPr marT="45700" marB="457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{1,2,3}</a:t>
                      </a:r>
                      <a:endParaRPr kumimoji="1" lang="ja-JP" altLang="en-US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{1,3,5}</a:t>
                      </a:r>
                      <a:endParaRPr kumimoji="1" lang="ja-JP" altLang="en-US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{2,3,5}</a:t>
                      </a:r>
                      <a:endParaRPr kumimoji="1" lang="ja-JP" altLang="en-US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798081"/>
              </p:ext>
            </p:extLst>
          </p:nvPr>
        </p:nvGraphicFramePr>
        <p:xfrm>
          <a:off x="4857751" y="5726113"/>
          <a:ext cx="2066925" cy="741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3</a:t>
                      </a:r>
                      <a:endParaRPr kumimoji="1" lang="ja-JP" altLang="en-US" sz="1800" b="1" baseline="-25000" dirty="0"/>
                    </a:p>
                  </a:txBody>
                  <a:tcPr marL="91412" marR="91412" marT="45700" marB="457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L="91412" marR="91412" marT="45700" marB="457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{2,3,5}</a:t>
                      </a:r>
                      <a:endParaRPr kumimoji="1" lang="ja-JP" altLang="en-US" sz="1800" dirty="0"/>
                    </a:p>
                  </a:txBody>
                  <a:tcPr marL="91412" marR="91412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</a:p>
                  </a:txBody>
                  <a:tcPr marL="91412" marR="91412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025020"/>
              </p:ext>
            </p:extLst>
          </p:nvPr>
        </p:nvGraphicFramePr>
        <p:xfrm>
          <a:off x="7686676" y="5735638"/>
          <a:ext cx="2066925" cy="741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6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F</a:t>
                      </a:r>
                      <a:r>
                        <a:rPr kumimoji="1" lang="en-US" altLang="ja-JP" sz="1800" b="1" baseline="-25000" dirty="0"/>
                        <a:t>3</a:t>
                      </a:r>
                      <a:endParaRPr kumimoji="1" lang="ja-JP" altLang="en-US" sz="1800" b="1" baseline="-25000" dirty="0"/>
                    </a:p>
                  </a:txBody>
                  <a:tcPr marL="91412" marR="91412" marT="45700" marB="457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L="91412" marR="91412" marT="45700" marB="457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{2,3,5}</a:t>
                      </a:r>
                      <a:endParaRPr kumimoji="1" lang="ja-JP" altLang="en-US" sz="1800" dirty="0"/>
                    </a:p>
                  </a:txBody>
                  <a:tcPr marL="91412" marR="91412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0.50</a:t>
                      </a:r>
                    </a:p>
                  </a:txBody>
                  <a:tcPr marL="91412" marR="91412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右矢印 12"/>
          <p:cNvSpPr/>
          <p:nvPr/>
        </p:nvSpPr>
        <p:spPr bwMode="auto">
          <a:xfrm>
            <a:off x="2514600" y="1066800"/>
            <a:ext cx="533400" cy="484188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右矢印 13"/>
          <p:cNvSpPr/>
          <p:nvPr/>
        </p:nvSpPr>
        <p:spPr bwMode="auto">
          <a:xfrm>
            <a:off x="4191000" y="1066800"/>
            <a:ext cx="533400" cy="484188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右矢印 14"/>
          <p:cNvSpPr/>
          <p:nvPr/>
        </p:nvSpPr>
        <p:spPr bwMode="auto">
          <a:xfrm>
            <a:off x="7010400" y="1066800"/>
            <a:ext cx="533400" cy="484188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右矢印 15"/>
          <p:cNvSpPr/>
          <p:nvPr/>
        </p:nvSpPr>
        <p:spPr bwMode="auto">
          <a:xfrm>
            <a:off x="4191000" y="3706814"/>
            <a:ext cx="533400" cy="484187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右矢印 16"/>
          <p:cNvSpPr/>
          <p:nvPr/>
        </p:nvSpPr>
        <p:spPr bwMode="auto">
          <a:xfrm>
            <a:off x="7010400" y="3733800"/>
            <a:ext cx="533400" cy="484188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右矢印 17"/>
          <p:cNvSpPr/>
          <p:nvPr/>
        </p:nvSpPr>
        <p:spPr bwMode="auto">
          <a:xfrm>
            <a:off x="4191000" y="5840414"/>
            <a:ext cx="533400" cy="484187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右矢印 18"/>
          <p:cNvSpPr/>
          <p:nvPr/>
        </p:nvSpPr>
        <p:spPr bwMode="auto">
          <a:xfrm>
            <a:off x="7086600" y="5840414"/>
            <a:ext cx="533400" cy="484187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20" name="表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817844"/>
              </p:ext>
            </p:extLst>
          </p:nvPr>
        </p:nvGraphicFramePr>
        <p:xfrm>
          <a:off x="1676400" y="2819400"/>
          <a:ext cx="762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1</a:t>
                      </a:r>
                      <a:endParaRPr kumimoji="1" lang="ja-JP" altLang="en-US" b="1" baseline="-25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{5}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表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241801"/>
              </p:ext>
            </p:extLst>
          </p:nvPr>
        </p:nvGraphicFramePr>
        <p:xfrm>
          <a:off x="1676400" y="5689600"/>
          <a:ext cx="762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2</a:t>
                      </a:r>
                      <a:endParaRPr kumimoji="1" lang="ja-JP" altLang="en-US" b="1" baseline="-25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{1,3}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{2,3}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{2,5}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{3,5}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右矢印 21"/>
          <p:cNvSpPr/>
          <p:nvPr/>
        </p:nvSpPr>
        <p:spPr bwMode="auto">
          <a:xfrm>
            <a:off x="2514600" y="3657600"/>
            <a:ext cx="533400" cy="484188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右矢印 22"/>
          <p:cNvSpPr/>
          <p:nvPr/>
        </p:nvSpPr>
        <p:spPr bwMode="auto">
          <a:xfrm>
            <a:off x="2514600" y="5867400"/>
            <a:ext cx="533400" cy="484188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506" name="テキスト ボックス 23"/>
          <p:cNvSpPr txBox="1">
            <a:spLocks noChangeArrowheads="1"/>
          </p:cNvSpPr>
          <p:nvPr/>
        </p:nvSpPr>
        <p:spPr bwMode="auto">
          <a:xfrm>
            <a:off x="2514601" y="3200400"/>
            <a:ext cx="529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(1)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507" name="テキスト ボックス 24"/>
          <p:cNvSpPr txBox="1">
            <a:spLocks noChangeArrowheads="1"/>
          </p:cNvSpPr>
          <p:nvPr/>
        </p:nvSpPr>
        <p:spPr bwMode="auto">
          <a:xfrm>
            <a:off x="2514601" y="5410200"/>
            <a:ext cx="529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(1)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508" name="テキスト ボックス 25"/>
          <p:cNvSpPr txBox="1">
            <a:spLocks noChangeArrowheads="1"/>
          </p:cNvSpPr>
          <p:nvPr/>
        </p:nvSpPr>
        <p:spPr bwMode="auto">
          <a:xfrm>
            <a:off x="4181476" y="533400"/>
            <a:ext cx="529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(2)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509" name="テキスト ボックス 26"/>
          <p:cNvSpPr txBox="1">
            <a:spLocks noChangeArrowheads="1"/>
          </p:cNvSpPr>
          <p:nvPr/>
        </p:nvSpPr>
        <p:spPr bwMode="auto">
          <a:xfrm>
            <a:off x="4191001" y="3200400"/>
            <a:ext cx="529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(2)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510" name="テキスト ボックス 27"/>
          <p:cNvSpPr txBox="1">
            <a:spLocks noChangeArrowheads="1"/>
          </p:cNvSpPr>
          <p:nvPr/>
        </p:nvSpPr>
        <p:spPr bwMode="auto">
          <a:xfrm>
            <a:off x="4191001" y="5421314"/>
            <a:ext cx="529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(2)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511" name="テキスト ボックス 28"/>
          <p:cNvSpPr txBox="1">
            <a:spLocks noChangeArrowheads="1"/>
          </p:cNvSpPr>
          <p:nvPr/>
        </p:nvSpPr>
        <p:spPr bwMode="auto">
          <a:xfrm>
            <a:off x="7010401" y="533400"/>
            <a:ext cx="529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(3)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512" name="テキスト ボックス 29"/>
          <p:cNvSpPr txBox="1">
            <a:spLocks noChangeArrowheads="1"/>
          </p:cNvSpPr>
          <p:nvPr/>
        </p:nvSpPr>
        <p:spPr bwMode="auto">
          <a:xfrm>
            <a:off x="7010401" y="3211514"/>
            <a:ext cx="529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(3)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513" name="テキスト ボックス 30"/>
          <p:cNvSpPr txBox="1">
            <a:spLocks noChangeArrowheads="1"/>
          </p:cNvSpPr>
          <p:nvPr/>
        </p:nvSpPr>
        <p:spPr bwMode="auto">
          <a:xfrm>
            <a:off x="7077076" y="5486400"/>
            <a:ext cx="529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(3)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33" name="直線コネクタ 32"/>
          <p:cNvCxnSpPr/>
          <p:nvPr/>
        </p:nvCxnSpPr>
        <p:spPr>
          <a:xfrm>
            <a:off x="3200400" y="62484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>
            <a:off x="3200400" y="63246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>
            <a:off x="3200400" y="66294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3200400" y="67056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正方形/長方形 160"/>
          <p:cNvSpPr/>
          <p:nvPr/>
        </p:nvSpPr>
        <p:spPr>
          <a:xfrm>
            <a:off x="4159251" y="838200"/>
            <a:ext cx="3649662" cy="76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23" name="Oval 4"/>
          <p:cNvSpPr>
            <a:spLocks noChangeArrowheads="1"/>
          </p:cNvSpPr>
          <p:nvPr/>
        </p:nvSpPr>
        <p:spPr bwMode="auto">
          <a:xfrm>
            <a:off x="8624888" y="3859212"/>
            <a:ext cx="311150" cy="2270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A</a:t>
            </a:r>
            <a:endParaRPr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24" name="Oval 5"/>
          <p:cNvSpPr>
            <a:spLocks noChangeArrowheads="1"/>
          </p:cNvSpPr>
          <p:nvPr/>
        </p:nvSpPr>
        <p:spPr bwMode="auto">
          <a:xfrm>
            <a:off x="8648700" y="5083174"/>
            <a:ext cx="312738" cy="2270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D</a:t>
            </a:r>
            <a:endParaRPr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25" name="Oval 6"/>
          <p:cNvSpPr>
            <a:spLocks noChangeArrowheads="1"/>
          </p:cNvSpPr>
          <p:nvPr/>
        </p:nvSpPr>
        <p:spPr bwMode="auto">
          <a:xfrm>
            <a:off x="8634414" y="4487862"/>
            <a:ext cx="312737" cy="2270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C</a:t>
            </a:r>
            <a:endParaRPr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26" name="Oval 7"/>
          <p:cNvSpPr>
            <a:spLocks noChangeArrowheads="1"/>
          </p:cNvSpPr>
          <p:nvPr/>
        </p:nvSpPr>
        <p:spPr bwMode="auto">
          <a:xfrm>
            <a:off x="8237539" y="4473574"/>
            <a:ext cx="312737" cy="2270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B</a:t>
            </a:r>
            <a:endParaRPr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27" name="Oval 8"/>
          <p:cNvSpPr>
            <a:spLocks noChangeArrowheads="1"/>
          </p:cNvSpPr>
          <p:nvPr/>
        </p:nvSpPr>
        <p:spPr bwMode="auto">
          <a:xfrm>
            <a:off x="6534150" y="3775074"/>
            <a:ext cx="312738" cy="25876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A</a:t>
            </a:r>
            <a:endParaRPr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705" name="Oval 9"/>
          <p:cNvSpPr>
            <a:spLocks noChangeArrowheads="1"/>
          </p:cNvSpPr>
          <p:nvPr/>
        </p:nvSpPr>
        <p:spPr bwMode="auto">
          <a:xfrm>
            <a:off x="6924675" y="4429124"/>
            <a:ext cx="312738" cy="258764"/>
          </a:xfrm>
          <a:prstGeom prst="ellipse">
            <a:avLst/>
          </a:prstGeom>
          <a:noFill/>
          <a:ln w="9525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D</a:t>
            </a:r>
            <a:endParaRPr lang="ja-JP" alt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29" name="Oval 10"/>
          <p:cNvSpPr>
            <a:spLocks noChangeArrowheads="1"/>
          </p:cNvSpPr>
          <p:nvPr/>
        </p:nvSpPr>
        <p:spPr bwMode="auto">
          <a:xfrm>
            <a:off x="6548438" y="4429124"/>
            <a:ext cx="311150" cy="258764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C</a:t>
            </a:r>
            <a:endParaRPr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707" name="Oval 11"/>
          <p:cNvSpPr>
            <a:spLocks noChangeArrowheads="1"/>
          </p:cNvSpPr>
          <p:nvPr/>
        </p:nvSpPr>
        <p:spPr bwMode="auto">
          <a:xfrm>
            <a:off x="6208713" y="4429124"/>
            <a:ext cx="311150" cy="258764"/>
          </a:xfrm>
          <a:prstGeom prst="ellipse">
            <a:avLst/>
          </a:prstGeom>
          <a:noFill/>
          <a:ln w="9525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B</a:t>
            </a:r>
            <a:endParaRPr lang="ja-JP" alt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31" name="Oval 13"/>
          <p:cNvSpPr>
            <a:spLocks noChangeArrowheads="1"/>
          </p:cNvSpPr>
          <p:nvPr/>
        </p:nvSpPr>
        <p:spPr bwMode="auto">
          <a:xfrm>
            <a:off x="4704335" y="5154485"/>
            <a:ext cx="312738" cy="1936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D</a:t>
            </a:r>
          </a:p>
        </p:txBody>
      </p:sp>
      <p:sp>
        <p:nvSpPr>
          <p:cNvPr id="56332" name="Oval 14"/>
          <p:cNvSpPr>
            <a:spLocks noChangeArrowheads="1"/>
          </p:cNvSpPr>
          <p:nvPr/>
        </p:nvSpPr>
        <p:spPr bwMode="auto">
          <a:xfrm>
            <a:off x="4154489" y="4056063"/>
            <a:ext cx="312737" cy="1936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C</a:t>
            </a:r>
          </a:p>
        </p:txBody>
      </p:sp>
      <p:sp>
        <p:nvSpPr>
          <p:cNvPr id="56333" name="Oval 15"/>
          <p:cNvSpPr>
            <a:spLocks noChangeArrowheads="1"/>
          </p:cNvSpPr>
          <p:nvPr/>
        </p:nvSpPr>
        <p:spPr bwMode="auto">
          <a:xfrm>
            <a:off x="3841750" y="4056063"/>
            <a:ext cx="312738" cy="1936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B</a:t>
            </a:r>
            <a:endParaRPr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712" name="AutoShape 16"/>
          <p:cNvSpPr>
            <a:spLocks noChangeArrowheads="1"/>
          </p:cNvSpPr>
          <p:nvPr/>
        </p:nvSpPr>
        <p:spPr bwMode="auto">
          <a:xfrm rot="5400000">
            <a:off x="4327526" y="3862388"/>
            <a:ext cx="1446212" cy="1147763"/>
          </a:xfrm>
          <a:prstGeom prst="flowChartManualInput">
            <a:avLst/>
          </a:prstGeom>
          <a:gradFill rotWithShape="0">
            <a:gsLst>
              <a:gs pos="0">
                <a:schemeClr val="bg1">
                  <a:lumMod val="75000"/>
                </a:schemeClr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174" name="Oval 24"/>
          <p:cNvSpPr>
            <a:spLocks noChangeArrowheads="1"/>
          </p:cNvSpPr>
          <p:nvPr/>
        </p:nvSpPr>
        <p:spPr bwMode="auto">
          <a:xfrm>
            <a:off x="4676776" y="4051300"/>
            <a:ext cx="79375" cy="698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176" name="Oval 27"/>
          <p:cNvSpPr>
            <a:spLocks noChangeArrowheads="1"/>
          </p:cNvSpPr>
          <p:nvPr/>
        </p:nvSpPr>
        <p:spPr bwMode="auto">
          <a:xfrm>
            <a:off x="5011739" y="4425951"/>
            <a:ext cx="79375" cy="666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178" name="Oval 29"/>
          <p:cNvSpPr>
            <a:spLocks noChangeArrowheads="1"/>
          </p:cNvSpPr>
          <p:nvPr/>
        </p:nvSpPr>
        <p:spPr bwMode="auto">
          <a:xfrm>
            <a:off x="4819651" y="4756150"/>
            <a:ext cx="79375" cy="698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38" name="Rectangle 34"/>
          <p:cNvSpPr>
            <a:spLocks noChangeArrowheads="1"/>
          </p:cNvSpPr>
          <p:nvPr/>
        </p:nvSpPr>
        <p:spPr bwMode="auto">
          <a:xfrm>
            <a:off x="4668839" y="3787776"/>
            <a:ext cx="904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除去領域</a:t>
            </a:r>
          </a:p>
        </p:txBody>
      </p:sp>
      <p:sp>
        <p:nvSpPr>
          <p:cNvPr id="56339" name="Rectangle 35"/>
          <p:cNvSpPr>
            <a:spLocks noChangeArrowheads="1"/>
          </p:cNvSpPr>
          <p:nvPr/>
        </p:nvSpPr>
        <p:spPr bwMode="auto">
          <a:xfrm>
            <a:off x="6117128" y="4800600"/>
            <a:ext cx="1211871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概念階層</a:t>
            </a:r>
            <a:endParaRPr lang="en-US" altLang="ja-JP" sz="1600" b="1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 eaLnBrk="1" hangingPunct="1"/>
            <a:r>
              <a:rPr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初期モデル</a:t>
            </a:r>
          </a:p>
        </p:txBody>
      </p:sp>
      <p:sp>
        <p:nvSpPr>
          <p:cNvPr id="56340" name="Rectangle 39"/>
          <p:cNvSpPr>
            <a:spLocks noChangeArrowheads="1"/>
          </p:cNvSpPr>
          <p:nvPr/>
        </p:nvSpPr>
        <p:spPr bwMode="auto">
          <a:xfrm>
            <a:off x="6183313" y="4125913"/>
            <a:ext cx="247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>
                <a:latin typeface="Meiryo" panose="020B0604030504040204" pitchFamily="34" charset="-128"/>
                <a:ea typeface="Meiryo" panose="020B0604030504040204" pitchFamily="34" charset="-128"/>
              </a:rPr>
              <a:t>0</a:t>
            </a:r>
          </a:p>
        </p:txBody>
      </p:sp>
      <p:sp>
        <p:nvSpPr>
          <p:cNvPr id="56341" name="Rectangle 40"/>
          <p:cNvSpPr>
            <a:spLocks noChangeArrowheads="1"/>
          </p:cNvSpPr>
          <p:nvPr/>
        </p:nvSpPr>
        <p:spPr bwMode="auto">
          <a:xfrm>
            <a:off x="6472239" y="4130675"/>
            <a:ext cx="314189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>
                <a:latin typeface="Meiryo" panose="020B0604030504040204" pitchFamily="34" charset="-128"/>
                <a:ea typeface="Meiryo" panose="020B0604030504040204" pitchFamily="34" charset="-128"/>
              </a:rPr>
              <a:t>0</a:t>
            </a:r>
          </a:p>
        </p:txBody>
      </p:sp>
      <p:sp>
        <p:nvSpPr>
          <p:cNvPr id="56342" name="Rectangle 41"/>
          <p:cNvSpPr>
            <a:spLocks noChangeArrowheads="1"/>
          </p:cNvSpPr>
          <p:nvPr/>
        </p:nvSpPr>
        <p:spPr bwMode="auto">
          <a:xfrm>
            <a:off x="6959601" y="4119564"/>
            <a:ext cx="325410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 b="1"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</a:p>
        </p:txBody>
      </p:sp>
      <p:sp>
        <p:nvSpPr>
          <p:cNvPr id="56343" name="Rectangle 48"/>
          <p:cNvSpPr>
            <a:spLocks noChangeArrowheads="1"/>
          </p:cNvSpPr>
          <p:nvPr/>
        </p:nvSpPr>
        <p:spPr bwMode="auto">
          <a:xfrm>
            <a:off x="5481639" y="4016376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剪定</a:t>
            </a:r>
          </a:p>
        </p:txBody>
      </p:sp>
      <p:sp>
        <p:nvSpPr>
          <p:cNvPr id="56344" name="Rectangle 54"/>
          <p:cNvSpPr>
            <a:spLocks noChangeArrowheads="1"/>
          </p:cNvSpPr>
          <p:nvPr/>
        </p:nvSpPr>
        <p:spPr bwMode="auto">
          <a:xfrm>
            <a:off x="7169150" y="3656014"/>
            <a:ext cx="1519647" cy="693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300" b="1">
                <a:latin typeface="Meiryo" panose="020B0604030504040204" pitchFamily="34" charset="-128"/>
                <a:ea typeface="Meiryo" panose="020B0604030504040204" pitchFamily="34" charset="-128"/>
              </a:rPr>
              <a:t>概念Ａの再分化</a:t>
            </a:r>
          </a:p>
          <a:p>
            <a:pPr eaLnBrk="1" hangingPunct="1"/>
            <a:r>
              <a:rPr lang="ja-JP" altLang="en-US" sz="1300" b="1">
                <a:latin typeface="Meiryo" panose="020B0604030504040204" pitchFamily="34" charset="-128"/>
                <a:ea typeface="Meiryo" panose="020B0604030504040204" pitchFamily="34" charset="-128"/>
              </a:rPr>
              <a:t>（階層の再構成）</a:t>
            </a:r>
          </a:p>
          <a:p>
            <a:pPr eaLnBrk="1" hangingPunct="1"/>
            <a:r>
              <a:rPr lang="ja-JP" altLang="en-US" sz="1300" b="1">
                <a:latin typeface="Meiryo" panose="020B0604030504040204" pitchFamily="34" charset="-128"/>
                <a:ea typeface="Meiryo" panose="020B0604030504040204" pitchFamily="34" charset="-128"/>
              </a:rPr>
              <a:t>を示唆</a:t>
            </a:r>
          </a:p>
        </p:txBody>
      </p:sp>
      <p:sp>
        <p:nvSpPr>
          <p:cNvPr id="56345" name="Rectangle 59"/>
          <p:cNvSpPr>
            <a:spLocks noChangeArrowheads="1"/>
          </p:cNvSpPr>
          <p:nvPr/>
        </p:nvSpPr>
        <p:spPr bwMode="auto">
          <a:xfrm>
            <a:off x="4540250" y="969964"/>
            <a:ext cx="1801775" cy="30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 b="1">
                <a:latin typeface="Meiryo" panose="020B0604030504040204" pitchFamily="34" charset="-128"/>
                <a:ea typeface="Meiryo" panose="020B0604030504040204" pitchFamily="34" charset="-128"/>
              </a:rPr>
              <a:t>ベストマッチノード</a:t>
            </a:r>
          </a:p>
        </p:txBody>
      </p:sp>
      <p:sp>
        <p:nvSpPr>
          <p:cNvPr id="56346" name="Rectangle 91"/>
          <p:cNvSpPr>
            <a:spLocks noChangeArrowheads="1"/>
          </p:cNvSpPr>
          <p:nvPr/>
        </p:nvSpPr>
        <p:spPr bwMode="auto">
          <a:xfrm>
            <a:off x="4527551" y="29718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移動</a:t>
            </a:r>
          </a:p>
        </p:txBody>
      </p:sp>
      <p:sp>
        <p:nvSpPr>
          <p:cNvPr id="56347" name="Rectangle 92"/>
          <p:cNvSpPr>
            <a:spLocks noChangeArrowheads="1"/>
          </p:cNvSpPr>
          <p:nvPr/>
        </p:nvSpPr>
        <p:spPr bwMode="auto">
          <a:xfrm>
            <a:off x="6432551" y="28194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移動</a:t>
            </a:r>
          </a:p>
        </p:txBody>
      </p:sp>
      <p:sp>
        <p:nvSpPr>
          <p:cNvPr id="56348" name="Rectangle 93"/>
          <p:cNvSpPr>
            <a:spLocks noChangeArrowheads="1"/>
          </p:cNvSpPr>
          <p:nvPr/>
        </p:nvSpPr>
        <p:spPr bwMode="auto">
          <a:xfrm>
            <a:off x="6432551" y="22098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移動</a:t>
            </a:r>
          </a:p>
        </p:txBody>
      </p:sp>
      <p:sp>
        <p:nvSpPr>
          <p:cNvPr id="56349" name="Rectangle 94"/>
          <p:cNvSpPr>
            <a:spLocks noChangeArrowheads="1"/>
          </p:cNvSpPr>
          <p:nvPr/>
        </p:nvSpPr>
        <p:spPr bwMode="auto">
          <a:xfrm>
            <a:off x="5213351" y="29718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確定</a:t>
            </a:r>
          </a:p>
        </p:txBody>
      </p:sp>
      <p:sp>
        <p:nvSpPr>
          <p:cNvPr id="56350" name="Rectangle 97"/>
          <p:cNvSpPr>
            <a:spLocks noChangeArrowheads="1"/>
          </p:cNvSpPr>
          <p:nvPr/>
        </p:nvSpPr>
        <p:spPr bwMode="auto">
          <a:xfrm>
            <a:off x="4579938" y="1246188"/>
            <a:ext cx="545021" cy="30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400" b="1">
                <a:latin typeface="Meiryo" panose="020B0604030504040204" pitchFamily="34" charset="-128"/>
                <a:ea typeface="Meiryo" panose="020B0604030504040204" pitchFamily="34" charset="-128"/>
              </a:rPr>
              <a:t>SIN</a:t>
            </a:r>
            <a:endParaRPr lang="ja-JP" altLang="en-US" sz="14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51" name="Rectangle 118"/>
          <p:cNvSpPr>
            <a:spLocks noChangeArrowheads="1"/>
          </p:cNvSpPr>
          <p:nvPr/>
        </p:nvSpPr>
        <p:spPr bwMode="auto">
          <a:xfrm>
            <a:off x="5865814" y="5756276"/>
            <a:ext cx="16335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多重継承の除去</a:t>
            </a:r>
          </a:p>
        </p:txBody>
      </p:sp>
      <p:sp>
        <p:nvSpPr>
          <p:cNvPr id="56352" name="Rectangle 119"/>
          <p:cNvSpPr>
            <a:spLocks noChangeArrowheads="1"/>
          </p:cNvSpPr>
          <p:nvPr/>
        </p:nvSpPr>
        <p:spPr bwMode="auto">
          <a:xfrm>
            <a:off x="6324600" y="990600"/>
            <a:ext cx="304800" cy="228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53" name="Rectangle 120"/>
          <p:cNvSpPr>
            <a:spLocks noChangeArrowheads="1"/>
          </p:cNvSpPr>
          <p:nvPr/>
        </p:nvSpPr>
        <p:spPr bwMode="auto">
          <a:xfrm>
            <a:off x="6324600" y="1295400"/>
            <a:ext cx="304800" cy="228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817" name="Text Box 121"/>
          <p:cNvSpPr txBox="1">
            <a:spLocks noChangeArrowheads="1"/>
          </p:cNvSpPr>
          <p:nvPr/>
        </p:nvSpPr>
        <p:spPr bwMode="auto">
          <a:xfrm>
            <a:off x="6629400" y="914401"/>
            <a:ext cx="56521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PAB</a:t>
            </a:r>
          </a:p>
        </p:txBody>
      </p:sp>
      <p:sp>
        <p:nvSpPr>
          <p:cNvPr id="29818" name="Text Box 122"/>
          <p:cNvSpPr txBox="1">
            <a:spLocks noChangeArrowheads="1"/>
          </p:cNvSpPr>
          <p:nvPr/>
        </p:nvSpPr>
        <p:spPr bwMode="auto">
          <a:xfrm>
            <a:off x="6629401" y="1219201"/>
            <a:ext cx="5852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ja-JP" sz="1400" b="1" dirty="0">
                <a:latin typeface="Meiryo" panose="020B0604030504040204" pitchFamily="34" charset="-128"/>
                <a:ea typeface="Meiryo" panose="020B0604030504040204" pitchFamily="34" charset="-128"/>
              </a:rPr>
              <a:t>STM</a:t>
            </a:r>
          </a:p>
        </p:txBody>
      </p:sp>
      <p:sp>
        <p:nvSpPr>
          <p:cNvPr id="49266" name="Oval 25"/>
          <p:cNvSpPr>
            <a:spLocks noChangeArrowheads="1"/>
          </p:cNvSpPr>
          <p:nvPr/>
        </p:nvSpPr>
        <p:spPr bwMode="auto">
          <a:xfrm>
            <a:off x="4524376" y="4425951"/>
            <a:ext cx="80963" cy="666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267" name="Oval 42"/>
          <p:cNvSpPr>
            <a:spLocks noChangeArrowheads="1"/>
          </p:cNvSpPr>
          <p:nvPr/>
        </p:nvSpPr>
        <p:spPr bwMode="auto">
          <a:xfrm>
            <a:off x="5249863" y="4756150"/>
            <a:ext cx="80962" cy="698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9" name="AutoShape 146"/>
          <p:cNvSpPr>
            <a:spLocks noChangeArrowheads="1"/>
          </p:cNvSpPr>
          <p:nvPr/>
        </p:nvSpPr>
        <p:spPr bwMode="auto">
          <a:xfrm>
            <a:off x="5583238" y="437832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0" name="AutoShape 146"/>
          <p:cNvSpPr>
            <a:spLocks noChangeArrowheads="1"/>
          </p:cNvSpPr>
          <p:nvPr/>
        </p:nvSpPr>
        <p:spPr bwMode="auto">
          <a:xfrm>
            <a:off x="7640638" y="437832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1" name="AutoShape 146"/>
          <p:cNvSpPr>
            <a:spLocks noChangeArrowheads="1"/>
          </p:cNvSpPr>
          <p:nvPr/>
        </p:nvSpPr>
        <p:spPr bwMode="auto">
          <a:xfrm>
            <a:off x="6432550" y="60960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61" name="Oval 12"/>
          <p:cNvSpPr>
            <a:spLocks noChangeArrowheads="1"/>
          </p:cNvSpPr>
          <p:nvPr/>
        </p:nvSpPr>
        <p:spPr bwMode="auto">
          <a:xfrm>
            <a:off x="4160839" y="3581400"/>
            <a:ext cx="312737" cy="1936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A</a:t>
            </a:r>
            <a:endParaRPr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23" name="直線矢印コネクタ 122"/>
          <p:cNvCxnSpPr>
            <a:stCxn id="56333" idx="0"/>
            <a:endCxn id="56361" idx="3"/>
          </p:cNvCxnSpPr>
          <p:nvPr/>
        </p:nvCxnSpPr>
        <p:spPr>
          <a:xfrm flipV="1">
            <a:off x="3998119" y="3746712"/>
            <a:ext cx="208519" cy="3093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/>
          <p:cNvCxnSpPr>
            <a:stCxn id="56332" idx="0"/>
            <a:endCxn id="56361" idx="4"/>
          </p:cNvCxnSpPr>
          <p:nvPr/>
        </p:nvCxnSpPr>
        <p:spPr>
          <a:xfrm flipV="1">
            <a:off x="4310858" y="3775075"/>
            <a:ext cx="6350" cy="2809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/>
          <p:cNvCxnSpPr>
            <a:stCxn id="49174" idx="0"/>
            <a:endCxn id="56361" idx="5"/>
          </p:cNvCxnSpPr>
          <p:nvPr/>
        </p:nvCxnSpPr>
        <p:spPr>
          <a:xfrm flipH="1" flipV="1">
            <a:off x="4427777" y="3746712"/>
            <a:ext cx="288687" cy="30458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/>
          <p:cNvCxnSpPr>
            <a:stCxn id="49176" idx="0"/>
            <a:endCxn id="49174" idx="5"/>
          </p:cNvCxnSpPr>
          <p:nvPr/>
        </p:nvCxnSpPr>
        <p:spPr>
          <a:xfrm rot="16200000" flipV="1">
            <a:off x="4741070" y="4115595"/>
            <a:ext cx="314325" cy="30638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矢印コネクタ 140"/>
          <p:cNvCxnSpPr>
            <a:stCxn id="49178" idx="0"/>
            <a:endCxn id="49176" idx="2"/>
          </p:cNvCxnSpPr>
          <p:nvPr/>
        </p:nvCxnSpPr>
        <p:spPr>
          <a:xfrm rot="5400000" flipH="1" flipV="1">
            <a:off x="4787107" y="4531519"/>
            <a:ext cx="296862" cy="15240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矢印コネクタ 146"/>
          <p:cNvCxnSpPr>
            <a:stCxn id="56331" idx="0"/>
            <a:endCxn id="49178" idx="4"/>
          </p:cNvCxnSpPr>
          <p:nvPr/>
        </p:nvCxnSpPr>
        <p:spPr>
          <a:xfrm flipH="1" flipV="1">
            <a:off x="4859339" y="4826000"/>
            <a:ext cx="1365" cy="32848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矢印コネクタ 153"/>
          <p:cNvCxnSpPr>
            <a:stCxn id="49267" idx="0"/>
            <a:endCxn id="49176" idx="5"/>
          </p:cNvCxnSpPr>
          <p:nvPr/>
        </p:nvCxnSpPr>
        <p:spPr>
          <a:xfrm rot="16200000" flipV="1">
            <a:off x="5049044" y="4514056"/>
            <a:ext cx="273050" cy="21113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/>
          <p:cNvCxnSpPr>
            <a:stCxn id="49266" idx="0"/>
            <a:endCxn id="49174" idx="3"/>
          </p:cNvCxnSpPr>
          <p:nvPr/>
        </p:nvCxnSpPr>
        <p:spPr>
          <a:xfrm rot="5400000" flipH="1" flipV="1">
            <a:off x="4470401" y="4206876"/>
            <a:ext cx="314325" cy="12382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63"/>
          <p:cNvCxnSpPr>
            <a:endCxn id="49267" idx="5"/>
          </p:cNvCxnSpPr>
          <p:nvPr/>
        </p:nvCxnSpPr>
        <p:spPr>
          <a:xfrm rot="16200000" flipV="1">
            <a:off x="5130007" y="5006182"/>
            <a:ext cx="419100" cy="3968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/>
          <p:cNvCxnSpPr>
            <a:stCxn id="29707" idx="0"/>
            <a:endCxn id="56327" idx="3"/>
          </p:cNvCxnSpPr>
          <p:nvPr/>
        </p:nvCxnSpPr>
        <p:spPr>
          <a:xfrm flipV="1">
            <a:off x="6364288" y="3995943"/>
            <a:ext cx="215661" cy="433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/>
          <p:cNvCxnSpPr>
            <a:stCxn id="56329" idx="0"/>
            <a:endCxn id="56327" idx="4"/>
          </p:cNvCxnSpPr>
          <p:nvPr/>
        </p:nvCxnSpPr>
        <p:spPr>
          <a:xfrm flipH="1" flipV="1">
            <a:off x="6690519" y="4033838"/>
            <a:ext cx="13494" cy="3952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/>
          <p:cNvCxnSpPr>
            <a:stCxn id="29705" idx="0"/>
            <a:endCxn id="56327" idx="5"/>
          </p:cNvCxnSpPr>
          <p:nvPr/>
        </p:nvCxnSpPr>
        <p:spPr>
          <a:xfrm flipH="1" flipV="1">
            <a:off x="6801089" y="3995943"/>
            <a:ext cx="279955" cy="43318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矢印コネクタ 176"/>
          <p:cNvCxnSpPr>
            <a:stCxn id="56326" idx="0"/>
            <a:endCxn id="56323" idx="3"/>
          </p:cNvCxnSpPr>
          <p:nvPr/>
        </p:nvCxnSpPr>
        <p:spPr>
          <a:xfrm flipV="1">
            <a:off x="8393908" y="4052980"/>
            <a:ext cx="276547" cy="4205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矢印コネクタ 179"/>
          <p:cNvCxnSpPr>
            <a:stCxn id="56325" idx="0"/>
            <a:endCxn id="56323" idx="4"/>
          </p:cNvCxnSpPr>
          <p:nvPr/>
        </p:nvCxnSpPr>
        <p:spPr>
          <a:xfrm flipH="1" flipV="1">
            <a:off x="8780463" y="4086225"/>
            <a:ext cx="10320" cy="4016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矢印コネクタ 185"/>
          <p:cNvCxnSpPr>
            <a:stCxn id="56324" idx="0"/>
            <a:endCxn id="56325" idx="4"/>
          </p:cNvCxnSpPr>
          <p:nvPr/>
        </p:nvCxnSpPr>
        <p:spPr>
          <a:xfrm flipH="1" flipV="1">
            <a:off x="8790783" y="4714875"/>
            <a:ext cx="14286" cy="36829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77" name="Oval 14"/>
          <p:cNvSpPr>
            <a:spLocks noChangeArrowheads="1"/>
          </p:cNvSpPr>
          <p:nvPr/>
        </p:nvSpPr>
        <p:spPr bwMode="auto">
          <a:xfrm>
            <a:off x="5518150" y="5788152"/>
            <a:ext cx="312738" cy="24434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C</a:t>
            </a:r>
          </a:p>
        </p:txBody>
      </p:sp>
      <p:sp>
        <p:nvSpPr>
          <p:cNvPr id="56378" name="Oval 15"/>
          <p:cNvSpPr>
            <a:spLocks noChangeArrowheads="1"/>
          </p:cNvSpPr>
          <p:nvPr/>
        </p:nvSpPr>
        <p:spPr bwMode="auto">
          <a:xfrm>
            <a:off x="5060950" y="5775452"/>
            <a:ext cx="312738" cy="24434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B</a:t>
            </a:r>
            <a:endParaRPr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79" name="Oval 12"/>
          <p:cNvSpPr>
            <a:spLocks noChangeArrowheads="1"/>
          </p:cNvSpPr>
          <p:nvPr/>
        </p:nvSpPr>
        <p:spPr bwMode="auto">
          <a:xfrm>
            <a:off x="4603750" y="5775452"/>
            <a:ext cx="312738" cy="24434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A</a:t>
            </a:r>
            <a:endParaRPr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80" name="Oval 13"/>
          <p:cNvSpPr>
            <a:spLocks noChangeArrowheads="1"/>
          </p:cNvSpPr>
          <p:nvPr/>
        </p:nvSpPr>
        <p:spPr bwMode="auto">
          <a:xfrm>
            <a:off x="5072064" y="6489700"/>
            <a:ext cx="312737" cy="24434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D</a:t>
            </a:r>
          </a:p>
        </p:txBody>
      </p:sp>
      <p:cxnSp>
        <p:nvCxnSpPr>
          <p:cNvPr id="193" name="直線矢印コネクタ 192"/>
          <p:cNvCxnSpPr>
            <a:stCxn id="56380" idx="0"/>
            <a:endCxn id="56379" idx="4"/>
          </p:cNvCxnSpPr>
          <p:nvPr/>
        </p:nvCxnSpPr>
        <p:spPr>
          <a:xfrm flipH="1" flipV="1">
            <a:off x="4760119" y="6019800"/>
            <a:ext cx="468314" cy="469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矢印コネクタ 195"/>
          <p:cNvCxnSpPr>
            <a:stCxn id="56380" idx="0"/>
            <a:endCxn id="56377" idx="4"/>
          </p:cNvCxnSpPr>
          <p:nvPr/>
        </p:nvCxnSpPr>
        <p:spPr>
          <a:xfrm flipV="1">
            <a:off x="5228433" y="6032500"/>
            <a:ext cx="446086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矢印コネクタ 198"/>
          <p:cNvCxnSpPr>
            <a:stCxn id="56380" idx="0"/>
            <a:endCxn id="56378" idx="4"/>
          </p:cNvCxnSpPr>
          <p:nvPr/>
        </p:nvCxnSpPr>
        <p:spPr>
          <a:xfrm flipH="1" flipV="1">
            <a:off x="5217319" y="6019800"/>
            <a:ext cx="11114" cy="4699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84" name="Oval 15"/>
          <p:cNvSpPr>
            <a:spLocks noChangeArrowheads="1"/>
          </p:cNvSpPr>
          <p:nvPr/>
        </p:nvSpPr>
        <p:spPr bwMode="auto">
          <a:xfrm>
            <a:off x="7651750" y="5788152"/>
            <a:ext cx="312738" cy="24752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>
                <a:latin typeface="Meiryo" panose="020B0604030504040204" pitchFamily="34" charset="-128"/>
                <a:ea typeface="Meiryo" panose="020B0604030504040204" pitchFamily="34" charset="-128"/>
              </a:rPr>
              <a:t>B</a:t>
            </a:r>
            <a:endParaRPr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85" name="Oval 13"/>
          <p:cNvSpPr>
            <a:spLocks noChangeArrowheads="1"/>
          </p:cNvSpPr>
          <p:nvPr/>
        </p:nvSpPr>
        <p:spPr bwMode="auto">
          <a:xfrm>
            <a:off x="7662864" y="6397752"/>
            <a:ext cx="312737" cy="24752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D</a:t>
            </a:r>
          </a:p>
        </p:txBody>
      </p:sp>
      <p:cxnSp>
        <p:nvCxnSpPr>
          <p:cNvPr id="204" name="直線矢印コネクタ 203"/>
          <p:cNvCxnSpPr>
            <a:stCxn id="56385" idx="0"/>
            <a:endCxn id="56384" idx="4"/>
          </p:cNvCxnSpPr>
          <p:nvPr/>
        </p:nvCxnSpPr>
        <p:spPr>
          <a:xfrm flipH="1" flipV="1">
            <a:off x="7808119" y="6035675"/>
            <a:ext cx="11114" cy="36207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87" name="Oval 118"/>
          <p:cNvSpPr>
            <a:spLocks noChangeArrowheads="1"/>
          </p:cNvSpPr>
          <p:nvPr/>
        </p:nvSpPr>
        <p:spPr bwMode="auto">
          <a:xfrm>
            <a:off x="4700589" y="2057401"/>
            <a:ext cx="242887" cy="131763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88" name="Oval 119"/>
          <p:cNvSpPr>
            <a:spLocks noChangeArrowheads="1"/>
          </p:cNvSpPr>
          <p:nvPr/>
        </p:nvSpPr>
        <p:spPr bwMode="auto">
          <a:xfrm>
            <a:off x="6013450" y="2743200"/>
            <a:ext cx="242888" cy="133350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8" name="Oval 120"/>
          <p:cNvSpPr>
            <a:spLocks noChangeArrowheads="1"/>
          </p:cNvSpPr>
          <p:nvPr/>
        </p:nvSpPr>
        <p:spPr bwMode="auto">
          <a:xfrm>
            <a:off x="4835525" y="2387601"/>
            <a:ext cx="242888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9" name="Oval 121"/>
          <p:cNvSpPr>
            <a:spLocks noChangeArrowheads="1"/>
          </p:cNvSpPr>
          <p:nvPr/>
        </p:nvSpPr>
        <p:spPr bwMode="auto">
          <a:xfrm>
            <a:off x="5867400" y="3087689"/>
            <a:ext cx="241300" cy="1301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0" name="Oval 129"/>
          <p:cNvSpPr>
            <a:spLocks noChangeArrowheads="1"/>
          </p:cNvSpPr>
          <p:nvPr/>
        </p:nvSpPr>
        <p:spPr bwMode="auto">
          <a:xfrm>
            <a:off x="6157914" y="3087689"/>
            <a:ext cx="242887" cy="1301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1" name="Oval 130"/>
          <p:cNvSpPr>
            <a:spLocks noChangeArrowheads="1"/>
          </p:cNvSpPr>
          <p:nvPr/>
        </p:nvSpPr>
        <p:spPr bwMode="auto">
          <a:xfrm>
            <a:off x="4541839" y="2392363"/>
            <a:ext cx="242887" cy="1317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2" name="Oval 132"/>
          <p:cNvSpPr>
            <a:spLocks noChangeArrowheads="1"/>
          </p:cNvSpPr>
          <p:nvPr/>
        </p:nvSpPr>
        <p:spPr bwMode="auto">
          <a:xfrm>
            <a:off x="6013451" y="2425700"/>
            <a:ext cx="244475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394" name="Oval 133"/>
          <p:cNvSpPr>
            <a:spLocks noChangeArrowheads="1"/>
          </p:cNvSpPr>
          <p:nvPr/>
        </p:nvSpPr>
        <p:spPr bwMode="auto">
          <a:xfrm>
            <a:off x="6013450" y="2068513"/>
            <a:ext cx="242888" cy="131762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4" name="Oval 120"/>
          <p:cNvSpPr>
            <a:spLocks noChangeArrowheads="1"/>
          </p:cNvSpPr>
          <p:nvPr/>
        </p:nvSpPr>
        <p:spPr bwMode="auto">
          <a:xfrm>
            <a:off x="5365750" y="1714500"/>
            <a:ext cx="242888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56396" name="AutoShape 24"/>
          <p:cNvCxnSpPr>
            <a:cxnSpLocks noChangeShapeType="1"/>
          </p:cNvCxnSpPr>
          <p:nvPr/>
        </p:nvCxnSpPr>
        <p:spPr bwMode="auto">
          <a:xfrm rot="5400000">
            <a:off x="4640263" y="2211388"/>
            <a:ext cx="203200" cy="1587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97" name="AutoShape 24"/>
          <p:cNvCxnSpPr>
            <a:cxnSpLocks noChangeShapeType="1"/>
          </p:cNvCxnSpPr>
          <p:nvPr/>
        </p:nvCxnSpPr>
        <p:spPr bwMode="auto">
          <a:xfrm rot="16200000" flipH="1">
            <a:off x="4789489" y="2220914"/>
            <a:ext cx="198437" cy="134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98" name="AutoShape 24"/>
          <p:cNvCxnSpPr>
            <a:cxnSpLocks noChangeShapeType="1"/>
            <a:stCxn id="56388" idx="4"/>
            <a:endCxn id="209" idx="0"/>
          </p:cNvCxnSpPr>
          <p:nvPr/>
        </p:nvCxnSpPr>
        <p:spPr bwMode="auto">
          <a:xfrm rot="5400000">
            <a:off x="5955506" y="2909094"/>
            <a:ext cx="211138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99" name="AutoShape 24"/>
          <p:cNvCxnSpPr>
            <a:cxnSpLocks noChangeShapeType="1"/>
            <a:stCxn id="56388" idx="4"/>
            <a:endCxn id="210" idx="0"/>
          </p:cNvCxnSpPr>
          <p:nvPr/>
        </p:nvCxnSpPr>
        <p:spPr bwMode="auto">
          <a:xfrm rot="16200000" flipH="1">
            <a:off x="6101556" y="2909094"/>
            <a:ext cx="211138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0" name="AutoShape 24"/>
          <p:cNvCxnSpPr>
            <a:cxnSpLocks noChangeShapeType="1"/>
            <a:stCxn id="212" idx="4"/>
            <a:endCxn id="56388" idx="0"/>
          </p:cNvCxnSpPr>
          <p:nvPr/>
        </p:nvCxnSpPr>
        <p:spPr bwMode="auto">
          <a:xfrm rot="5400000">
            <a:off x="6042819" y="2650331"/>
            <a:ext cx="184150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1" name="AutoShape 24"/>
          <p:cNvCxnSpPr>
            <a:cxnSpLocks noChangeShapeType="1"/>
            <a:stCxn id="56394" idx="4"/>
            <a:endCxn id="212" idx="0"/>
          </p:cNvCxnSpPr>
          <p:nvPr/>
        </p:nvCxnSpPr>
        <p:spPr bwMode="auto">
          <a:xfrm rot="16200000" flipH="1">
            <a:off x="6022976" y="2312988"/>
            <a:ext cx="2254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2" name="AutoShape 24"/>
          <p:cNvCxnSpPr>
            <a:cxnSpLocks noChangeShapeType="1"/>
            <a:stCxn id="214" idx="3"/>
            <a:endCxn id="56387" idx="0"/>
          </p:cNvCxnSpPr>
          <p:nvPr/>
        </p:nvCxnSpPr>
        <p:spPr bwMode="auto">
          <a:xfrm rot="5400000">
            <a:off x="4997451" y="1652588"/>
            <a:ext cx="228600" cy="581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3" name="AutoShape 24"/>
          <p:cNvCxnSpPr>
            <a:cxnSpLocks noChangeShapeType="1"/>
            <a:stCxn id="214" idx="5"/>
            <a:endCxn id="56394" idx="0"/>
          </p:cNvCxnSpPr>
          <p:nvPr/>
        </p:nvCxnSpPr>
        <p:spPr bwMode="auto">
          <a:xfrm rot="16200000" flipH="1">
            <a:off x="5734845" y="1667670"/>
            <a:ext cx="239713" cy="5619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3" name="Oval 130"/>
          <p:cNvSpPr>
            <a:spLocks noChangeArrowheads="1"/>
          </p:cNvSpPr>
          <p:nvPr/>
        </p:nvSpPr>
        <p:spPr bwMode="auto">
          <a:xfrm>
            <a:off x="4541839" y="2771776"/>
            <a:ext cx="242887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56405" name="AutoShape 24"/>
          <p:cNvCxnSpPr>
            <a:cxnSpLocks noChangeShapeType="1"/>
            <a:stCxn id="211" idx="4"/>
            <a:endCxn id="223" idx="0"/>
          </p:cNvCxnSpPr>
          <p:nvPr/>
        </p:nvCxnSpPr>
        <p:spPr bwMode="auto">
          <a:xfrm rot="5400000">
            <a:off x="4538663" y="2647951"/>
            <a:ext cx="249238" cy="15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" name="Oval 132"/>
          <p:cNvSpPr>
            <a:spLocks noChangeArrowheads="1"/>
          </p:cNvSpPr>
          <p:nvPr/>
        </p:nvSpPr>
        <p:spPr bwMode="auto">
          <a:xfrm>
            <a:off x="5373689" y="2070101"/>
            <a:ext cx="244475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6" name="Oval 132"/>
          <p:cNvSpPr>
            <a:spLocks noChangeArrowheads="1"/>
          </p:cNvSpPr>
          <p:nvPr/>
        </p:nvSpPr>
        <p:spPr bwMode="auto">
          <a:xfrm>
            <a:off x="5373689" y="2405063"/>
            <a:ext cx="244475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7" name="Oval 121"/>
          <p:cNvSpPr>
            <a:spLocks noChangeArrowheads="1"/>
          </p:cNvSpPr>
          <p:nvPr/>
        </p:nvSpPr>
        <p:spPr bwMode="auto">
          <a:xfrm>
            <a:off x="5213350" y="2746376"/>
            <a:ext cx="242888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8" name="Oval 129"/>
          <p:cNvSpPr>
            <a:spLocks noChangeArrowheads="1"/>
          </p:cNvSpPr>
          <p:nvPr/>
        </p:nvSpPr>
        <p:spPr bwMode="auto">
          <a:xfrm>
            <a:off x="5505450" y="2746376"/>
            <a:ext cx="242888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56410" name="AutoShape 24"/>
          <p:cNvCxnSpPr>
            <a:cxnSpLocks noChangeShapeType="1"/>
            <a:stCxn id="236" idx="4"/>
          </p:cNvCxnSpPr>
          <p:nvPr/>
        </p:nvCxnSpPr>
        <p:spPr bwMode="auto">
          <a:xfrm rot="5400000">
            <a:off x="5311776" y="2562226"/>
            <a:ext cx="207962" cy="1603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11" name="AutoShape 24"/>
          <p:cNvCxnSpPr>
            <a:cxnSpLocks noChangeShapeType="1"/>
            <a:stCxn id="236" idx="4"/>
          </p:cNvCxnSpPr>
          <p:nvPr/>
        </p:nvCxnSpPr>
        <p:spPr bwMode="auto">
          <a:xfrm rot="16200000" flipH="1">
            <a:off x="5457032" y="2577307"/>
            <a:ext cx="207962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12" name="AutoShape 24"/>
          <p:cNvCxnSpPr>
            <a:cxnSpLocks noChangeShapeType="1"/>
            <a:stCxn id="214" idx="4"/>
            <a:endCxn id="235" idx="0"/>
          </p:cNvCxnSpPr>
          <p:nvPr/>
        </p:nvCxnSpPr>
        <p:spPr bwMode="auto">
          <a:xfrm rot="16200000" flipH="1">
            <a:off x="5380832" y="1955007"/>
            <a:ext cx="222250" cy="7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13" name="AutoShape 24"/>
          <p:cNvCxnSpPr>
            <a:cxnSpLocks noChangeShapeType="1"/>
            <a:stCxn id="235" idx="4"/>
            <a:endCxn id="236" idx="0"/>
          </p:cNvCxnSpPr>
          <p:nvPr/>
        </p:nvCxnSpPr>
        <p:spPr bwMode="auto">
          <a:xfrm rot="16200000" flipH="1">
            <a:off x="5394325" y="2303463"/>
            <a:ext cx="20320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414" name="Rectangle 62"/>
          <p:cNvSpPr>
            <a:spLocks noChangeArrowheads="1"/>
          </p:cNvSpPr>
          <p:nvPr/>
        </p:nvSpPr>
        <p:spPr bwMode="auto">
          <a:xfrm>
            <a:off x="5181600" y="1676400"/>
            <a:ext cx="609600" cy="12779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415" name="Rectangle 88"/>
          <p:cNvSpPr>
            <a:spLocks noChangeArrowheads="1"/>
          </p:cNvSpPr>
          <p:nvPr/>
        </p:nvSpPr>
        <p:spPr bwMode="auto">
          <a:xfrm>
            <a:off x="5849938" y="2667000"/>
            <a:ext cx="582612" cy="609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416" name="Rectangle 88"/>
          <p:cNvSpPr>
            <a:spLocks noChangeArrowheads="1"/>
          </p:cNvSpPr>
          <p:nvPr/>
        </p:nvSpPr>
        <p:spPr bwMode="auto">
          <a:xfrm>
            <a:off x="5849938" y="2017713"/>
            <a:ext cx="582612" cy="609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417" name="Rectangle 88"/>
          <p:cNvSpPr>
            <a:spLocks noChangeArrowheads="1"/>
          </p:cNvSpPr>
          <p:nvPr/>
        </p:nvSpPr>
        <p:spPr bwMode="auto">
          <a:xfrm>
            <a:off x="4527551" y="1981200"/>
            <a:ext cx="582613" cy="990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418" name="Oval 118"/>
          <p:cNvSpPr>
            <a:spLocks noChangeArrowheads="1"/>
          </p:cNvSpPr>
          <p:nvPr/>
        </p:nvSpPr>
        <p:spPr bwMode="auto">
          <a:xfrm>
            <a:off x="4319589" y="1330326"/>
            <a:ext cx="242887" cy="131763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0" name="Oval 120"/>
          <p:cNvSpPr>
            <a:spLocks noChangeArrowheads="1"/>
          </p:cNvSpPr>
          <p:nvPr/>
        </p:nvSpPr>
        <p:spPr bwMode="auto">
          <a:xfrm>
            <a:off x="4319589" y="1054100"/>
            <a:ext cx="242887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AutoShape 4"/>
          <p:cNvSpPr>
            <a:spLocks noChangeArrowheads="1"/>
          </p:cNvSpPr>
          <p:nvPr/>
        </p:nvSpPr>
        <p:spPr bwMode="auto">
          <a:xfrm>
            <a:off x="6927850" y="2192339"/>
            <a:ext cx="2865438" cy="8413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76200">
            <a:solidFill>
              <a:srgbClr val="00E1D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b="1">
              <a:latin typeface="Times New Roman" charset="0"/>
            </a:endParaRPr>
          </a:p>
        </p:txBody>
      </p:sp>
      <p:grpSp>
        <p:nvGrpSpPr>
          <p:cNvPr id="57347" name="Group 5"/>
          <p:cNvGrpSpPr>
            <a:grpSpLocks/>
          </p:cNvGrpSpPr>
          <p:nvPr/>
        </p:nvGrpSpPr>
        <p:grpSpPr bwMode="auto">
          <a:xfrm>
            <a:off x="7040563" y="609601"/>
            <a:ext cx="1227221" cy="1125207"/>
            <a:chOff x="2424" y="0"/>
            <a:chExt cx="864" cy="811"/>
          </a:xfrm>
        </p:grpSpPr>
        <p:sp>
          <p:nvSpPr>
            <p:cNvPr id="57558" name="Rectangle 6"/>
            <p:cNvSpPr>
              <a:spLocks noChangeArrowheads="1"/>
            </p:cNvSpPr>
            <p:nvPr/>
          </p:nvSpPr>
          <p:spPr bwMode="auto">
            <a:xfrm>
              <a:off x="2424" y="309"/>
              <a:ext cx="130" cy="266"/>
            </a:xfrm>
            <a:prstGeom prst="rect">
              <a:avLst/>
            </a:prstGeom>
            <a:gradFill rotWithShape="0">
              <a:gsLst>
                <a:gs pos="0">
                  <a:srgbClr val="F2FFF2"/>
                </a:gs>
                <a:gs pos="100000">
                  <a:srgbClr val="7FFF7F"/>
                </a:gs>
              </a:gsLst>
              <a:lin ang="5400000" scaled="1"/>
            </a:gradFill>
            <a:ln w="38100">
              <a:solidFill>
                <a:srgbClr val="00FF00"/>
              </a:solidFill>
              <a:miter lim="800000"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 useBgFill="1">
          <p:nvSpPr>
            <p:cNvPr id="57559" name="Text Box 7"/>
            <p:cNvSpPr txBox="1">
              <a:spLocks noChangeArrowheads="1"/>
            </p:cNvSpPr>
            <p:nvPr/>
          </p:nvSpPr>
          <p:spPr bwMode="auto">
            <a:xfrm>
              <a:off x="2472" y="0"/>
              <a:ext cx="816" cy="264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359" tIns="45680" rIns="91359" bIns="4568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ja-JP" altLang="en-US" b="1">
                  <a:latin typeface="Times New Roman" charset="0"/>
                </a:rPr>
                <a:t>入力概念</a:t>
              </a:r>
            </a:p>
          </p:txBody>
        </p:sp>
        <p:sp>
          <p:nvSpPr>
            <p:cNvPr id="57560" name="Oval 8"/>
            <p:cNvSpPr>
              <a:spLocks noChangeArrowheads="1"/>
            </p:cNvSpPr>
            <p:nvPr/>
          </p:nvSpPr>
          <p:spPr bwMode="auto">
            <a:xfrm>
              <a:off x="2568" y="159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1" name="Oval 9"/>
            <p:cNvSpPr>
              <a:spLocks noChangeArrowheads="1"/>
            </p:cNvSpPr>
            <p:nvPr/>
          </p:nvSpPr>
          <p:spPr bwMode="auto">
            <a:xfrm>
              <a:off x="2856" y="303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2" name="Oval 10"/>
            <p:cNvSpPr>
              <a:spLocks noChangeArrowheads="1"/>
            </p:cNvSpPr>
            <p:nvPr/>
          </p:nvSpPr>
          <p:spPr bwMode="auto">
            <a:xfrm>
              <a:off x="3000" y="159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3" name="Oval 11"/>
            <p:cNvSpPr>
              <a:spLocks noChangeArrowheads="1"/>
            </p:cNvSpPr>
            <p:nvPr/>
          </p:nvSpPr>
          <p:spPr bwMode="auto">
            <a:xfrm>
              <a:off x="2544" y="389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4" name="Oval 12"/>
            <p:cNvSpPr>
              <a:spLocks noChangeArrowheads="1"/>
            </p:cNvSpPr>
            <p:nvPr/>
          </p:nvSpPr>
          <p:spPr bwMode="auto">
            <a:xfrm>
              <a:off x="3024" y="437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</p:grpSp>
      <p:sp>
        <p:nvSpPr>
          <p:cNvPr id="57348" name="Text Box 15"/>
          <p:cNvSpPr txBox="1">
            <a:spLocks noChangeArrowheads="1"/>
          </p:cNvSpPr>
          <p:nvPr/>
        </p:nvSpPr>
        <p:spPr bwMode="auto">
          <a:xfrm>
            <a:off x="7426326" y="2130425"/>
            <a:ext cx="19796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ja-JP" altLang="en-US" sz="2000" b="1">
                <a:solidFill>
                  <a:srgbClr val="FF3300"/>
                </a:solidFill>
                <a:latin typeface="Times New Roman" charset="0"/>
              </a:rPr>
              <a:t>関係構築モジュール</a:t>
            </a:r>
          </a:p>
        </p:txBody>
      </p:sp>
      <p:grpSp>
        <p:nvGrpSpPr>
          <p:cNvPr id="57349" name="Group 16"/>
          <p:cNvGrpSpPr>
            <a:grpSpLocks/>
          </p:cNvGrpSpPr>
          <p:nvPr/>
        </p:nvGrpSpPr>
        <p:grpSpPr bwMode="auto">
          <a:xfrm>
            <a:off x="6781800" y="2628901"/>
            <a:ext cx="3352800" cy="1516063"/>
            <a:chOff x="3243" y="2882"/>
            <a:chExt cx="2359" cy="1092"/>
          </a:xfrm>
        </p:grpSpPr>
        <p:grpSp>
          <p:nvGrpSpPr>
            <p:cNvPr id="57503" name="Group 17"/>
            <p:cNvGrpSpPr>
              <a:grpSpLocks/>
            </p:cNvGrpSpPr>
            <p:nvPr/>
          </p:nvGrpSpPr>
          <p:grpSpPr bwMode="auto">
            <a:xfrm>
              <a:off x="3243" y="3294"/>
              <a:ext cx="2359" cy="680"/>
              <a:chOff x="3243" y="3294"/>
              <a:chExt cx="2359" cy="680"/>
            </a:xfrm>
          </p:grpSpPr>
          <p:grpSp>
            <p:nvGrpSpPr>
              <p:cNvPr id="57511" name="Group 18"/>
              <p:cNvGrpSpPr>
                <a:grpSpLocks/>
              </p:cNvGrpSpPr>
              <p:nvPr/>
            </p:nvGrpSpPr>
            <p:grpSpPr bwMode="auto">
              <a:xfrm>
                <a:off x="3470" y="3336"/>
                <a:ext cx="1859" cy="544"/>
                <a:chOff x="3470" y="3336"/>
                <a:chExt cx="1859" cy="544"/>
              </a:xfrm>
            </p:grpSpPr>
            <p:sp>
              <p:nvSpPr>
                <p:cNvPr id="57513" name="Oval 19"/>
                <p:cNvSpPr>
                  <a:spLocks noChangeArrowheads="1"/>
                </p:cNvSpPr>
                <p:nvPr/>
              </p:nvSpPr>
              <p:spPr bwMode="auto">
                <a:xfrm>
                  <a:off x="4196" y="3472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14" name="Oval 20"/>
                <p:cNvSpPr>
                  <a:spLocks noChangeArrowheads="1"/>
                </p:cNvSpPr>
                <p:nvPr/>
              </p:nvSpPr>
              <p:spPr bwMode="auto">
                <a:xfrm>
                  <a:off x="4514" y="347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15" name="AutoShape 21"/>
                <p:cNvCxnSpPr>
                  <a:cxnSpLocks noChangeShapeType="1"/>
                  <a:stCxn id="57513" idx="6"/>
                  <a:endCxn id="57514" idx="2"/>
                </p:cNvCxnSpPr>
                <p:nvPr/>
              </p:nvCxnSpPr>
              <p:spPr bwMode="auto">
                <a:xfrm>
                  <a:off x="4294" y="3498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16" name="Oval 22"/>
                <p:cNvSpPr>
                  <a:spLocks noChangeArrowheads="1"/>
                </p:cNvSpPr>
                <p:nvPr/>
              </p:nvSpPr>
              <p:spPr bwMode="auto">
                <a:xfrm>
                  <a:off x="4259" y="360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17" name="Oval 23"/>
                <p:cNvSpPr>
                  <a:spLocks noChangeArrowheads="1"/>
                </p:cNvSpPr>
                <p:nvPr/>
              </p:nvSpPr>
              <p:spPr bwMode="auto">
                <a:xfrm>
                  <a:off x="4577" y="3610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18" name="AutoShape 24"/>
                <p:cNvCxnSpPr>
                  <a:cxnSpLocks noChangeShapeType="1"/>
                  <a:stCxn id="57516" idx="6"/>
                  <a:endCxn id="57517" idx="2"/>
                </p:cNvCxnSpPr>
                <p:nvPr/>
              </p:nvCxnSpPr>
              <p:spPr bwMode="auto">
                <a:xfrm>
                  <a:off x="4357" y="3634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19" name="Oval 25"/>
                <p:cNvSpPr>
                  <a:spLocks noChangeArrowheads="1"/>
                </p:cNvSpPr>
                <p:nvPr/>
              </p:nvSpPr>
              <p:spPr bwMode="auto">
                <a:xfrm>
                  <a:off x="4196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0" name="Oval 26"/>
                <p:cNvSpPr>
                  <a:spLocks noChangeArrowheads="1"/>
                </p:cNvSpPr>
                <p:nvPr/>
              </p:nvSpPr>
              <p:spPr bwMode="auto">
                <a:xfrm>
                  <a:off x="4514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21" name="AutoShape 27"/>
                <p:cNvCxnSpPr>
                  <a:cxnSpLocks noChangeShapeType="1"/>
                  <a:stCxn id="57519" idx="6"/>
                  <a:endCxn id="57520" idx="2"/>
                </p:cNvCxnSpPr>
                <p:nvPr/>
              </p:nvCxnSpPr>
              <p:spPr bwMode="auto">
                <a:xfrm>
                  <a:off x="4294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22" name="Oval 28"/>
                <p:cNvSpPr>
                  <a:spLocks noChangeArrowheads="1"/>
                </p:cNvSpPr>
                <p:nvPr/>
              </p:nvSpPr>
              <p:spPr bwMode="auto">
                <a:xfrm>
                  <a:off x="4740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3" name="Oval 29"/>
                <p:cNvSpPr>
                  <a:spLocks noChangeArrowheads="1"/>
                </p:cNvSpPr>
                <p:nvPr/>
              </p:nvSpPr>
              <p:spPr bwMode="auto">
                <a:xfrm>
                  <a:off x="5058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24" name="AutoShape 30"/>
                <p:cNvCxnSpPr>
                  <a:cxnSpLocks noChangeShapeType="1"/>
                  <a:stCxn id="57522" idx="6"/>
                  <a:endCxn id="57523" idx="2"/>
                </p:cNvCxnSpPr>
                <p:nvPr/>
              </p:nvCxnSpPr>
              <p:spPr bwMode="auto">
                <a:xfrm>
                  <a:off x="4838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25" name="Oval 31"/>
                <p:cNvSpPr>
                  <a:spLocks noChangeArrowheads="1"/>
                </p:cNvSpPr>
                <p:nvPr/>
              </p:nvSpPr>
              <p:spPr bwMode="auto">
                <a:xfrm>
                  <a:off x="4921" y="356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6" name="Oval 32"/>
                <p:cNvSpPr>
                  <a:spLocks noChangeArrowheads="1"/>
                </p:cNvSpPr>
                <p:nvPr/>
              </p:nvSpPr>
              <p:spPr bwMode="auto">
                <a:xfrm>
                  <a:off x="5239" y="356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27" name="AutoShape 33"/>
                <p:cNvCxnSpPr>
                  <a:cxnSpLocks noChangeShapeType="1"/>
                  <a:stCxn id="57525" idx="6"/>
                  <a:endCxn id="57526" idx="2"/>
                </p:cNvCxnSpPr>
                <p:nvPr/>
              </p:nvCxnSpPr>
              <p:spPr bwMode="auto">
                <a:xfrm>
                  <a:off x="5019" y="358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28" name="Oval 34"/>
                <p:cNvSpPr>
                  <a:spLocks noChangeArrowheads="1"/>
                </p:cNvSpPr>
                <p:nvPr/>
              </p:nvSpPr>
              <p:spPr bwMode="auto">
                <a:xfrm>
                  <a:off x="4740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9" name="Oval 35"/>
                <p:cNvSpPr>
                  <a:spLocks noChangeArrowheads="1"/>
                </p:cNvSpPr>
                <p:nvPr/>
              </p:nvSpPr>
              <p:spPr bwMode="auto">
                <a:xfrm>
                  <a:off x="5058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0" name="AutoShape 36"/>
                <p:cNvCxnSpPr>
                  <a:cxnSpLocks noChangeShapeType="1"/>
                  <a:stCxn id="57528" idx="6"/>
                  <a:endCxn id="57529" idx="2"/>
                </p:cNvCxnSpPr>
                <p:nvPr/>
              </p:nvCxnSpPr>
              <p:spPr bwMode="auto">
                <a:xfrm>
                  <a:off x="4838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31" name="Oval 37"/>
                <p:cNvSpPr>
                  <a:spLocks noChangeArrowheads="1"/>
                </p:cNvSpPr>
                <p:nvPr/>
              </p:nvSpPr>
              <p:spPr bwMode="auto">
                <a:xfrm>
                  <a:off x="4694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32" name="Oval 38"/>
                <p:cNvSpPr>
                  <a:spLocks noChangeArrowheads="1"/>
                </p:cNvSpPr>
                <p:nvPr/>
              </p:nvSpPr>
              <p:spPr bwMode="auto">
                <a:xfrm>
                  <a:off x="5012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3" name="AutoShape 39"/>
                <p:cNvCxnSpPr>
                  <a:cxnSpLocks noChangeShapeType="1"/>
                  <a:stCxn id="57531" idx="6"/>
                  <a:endCxn id="57532" idx="2"/>
                </p:cNvCxnSpPr>
                <p:nvPr/>
              </p:nvCxnSpPr>
              <p:spPr bwMode="auto">
                <a:xfrm>
                  <a:off x="4792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34" name="Oval 40"/>
                <p:cNvSpPr>
                  <a:spLocks noChangeArrowheads="1"/>
                </p:cNvSpPr>
                <p:nvPr/>
              </p:nvSpPr>
              <p:spPr bwMode="auto">
                <a:xfrm>
                  <a:off x="3651" y="3381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35" name="Oval 41"/>
                <p:cNvSpPr>
                  <a:spLocks noChangeArrowheads="1"/>
                </p:cNvSpPr>
                <p:nvPr/>
              </p:nvSpPr>
              <p:spPr bwMode="auto">
                <a:xfrm>
                  <a:off x="3969" y="338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6" name="AutoShape 42"/>
                <p:cNvCxnSpPr>
                  <a:cxnSpLocks noChangeShapeType="1"/>
                  <a:stCxn id="57534" idx="6"/>
                  <a:endCxn id="57535" idx="2"/>
                </p:cNvCxnSpPr>
                <p:nvPr/>
              </p:nvCxnSpPr>
              <p:spPr bwMode="auto">
                <a:xfrm>
                  <a:off x="3749" y="3407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37" name="Oval 43"/>
                <p:cNvSpPr>
                  <a:spLocks noChangeArrowheads="1"/>
                </p:cNvSpPr>
                <p:nvPr/>
              </p:nvSpPr>
              <p:spPr bwMode="auto">
                <a:xfrm>
                  <a:off x="3470" y="35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38" name="Oval 44"/>
                <p:cNvSpPr>
                  <a:spLocks noChangeArrowheads="1"/>
                </p:cNvSpPr>
                <p:nvPr/>
              </p:nvSpPr>
              <p:spPr bwMode="auto">
                <a:xfrm>
                  <a:off x="3788" y="355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9" name="AutoShape 45"/>
                <p:cNvCxnSpPr>
                  <a:cxnSpLocks noChangeShapeType="1"/>
                  <a:stCxn id="57537" idx="6"/>
                  <a:endCxn id="57538" idx="2"/>
                </p:cNvCxnSpPr>
                <p:nvPr/>
              </p:nvCxnSpPr>
              <p:spPr bwMode="auto">
                <a:xfrm>
                  <a:off x="3568" y="3581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0" name="Oval 46"/>
                <p:cNvSpPr>
                  <a:spLocks noChangeArrowheads="1"/>
                </p:cNvSpPr>
                <p:nvPr/>
              </p:nvSpPr>
              <p:spPr bwMode="auto">
                <a:xfrm>
                  <a:off x="3606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41" name="Oval 47"/>
                <p:cNvSpPr>
                  <a:spLocks noChangeArrowheads="1"/>
                </p:cNvSpPr>
                <p:nvPr/>
              </p:nvSpPr>
              <p:spPr bwMode="auto">
                <a:xfrm>
                  <a:off x="3924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42" name="AutoShape 48"/>
                <p:cNvCxnSpPr>
                  <a:cxnSpLocks noChangeShapeType="1"/>
                  <a:stCxn id="57540" idx="6"/>
                  <a:endCxn id="57541" idx="2"/>
                </p:cNvCxnSpPr>
                <p:nvPr/>
              </p:nvCxnSpPr>
              <p:spPr bwMode="auto">
                <a:xfrm>
                  <a:off x="3704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3" name="Oval 49"/>
                <p:cNvSpPr>
                  <a:spLocks noChangeArrowheads="1"/>
                </p:cNvSpPr>
                <p:nvPr/>
              </p:nvSpPr>
              <p:spPr bwMode="auto">
                <a:xfrm>
                  <a:off x="3742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44" name="Oval 50"/>
                <p:cNvSpPr>
                  <a:spLocks noChangeArrowheads="1"/>
                </p:cNvSpPr>
                <p:nvPr/>
              </p:nvSpPr>
              <p:spPr bwMode="auto">
                <a:xfrm>
                  <a:off x="4060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45" name="AutoShape 51"/>
                <p:cNvCxnSpPr>
                  <a:cxnSpLocks noChangeShapeType="1"/>
                  <a:stCxn id="57543" idx="6"/>
                  <a:endCxn id="57544" idx="2"/>
                </p:cNvCxnSpPr>
                <p:nvPr/>
              </p:nvCxnSpPr>
              <p:spPr bwMode="auto">
                <a:xfrm>
                  <a:off x="3840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6" name="Oval 52"/>
                <p:cNvSpPr>
                  <a:spLocks noChangeArrowheads="1"/>
                </p:cNvSpPr>
                <p:nvPr/>
              </p:nvSpPr>
              <p:spPr bwMode="auto">
                <a:xfrm>
                  <a:off x="483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47" name="Oval 53"/>
                <p:cNvSpPr>
                  <a:spLocks noChangeArrowheads="1"/>
                </p:cNvSpPr>
                <p:nvPr/>
              </p:nvSpPr>
              <p:spPr bwMode="auto">
                <a:xfrm>
                  <a:off x="514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48" name="AutoShape 54"/>
                <p:cNvCxnSpPr>
                  <a:cxnSpLocks noChangeShapeType="1"/>
                  <a:stCxn id="57546" idx="6"/>
                  <a:endCxn id="57547" idx="2"/>
                </p:cNvCxnSpPr>
                <p:nvPr/>
              </p:nvCxnSpPr>
              <p:spPr bwMode="auto">
                <a:xfrm>
                  <a:off x="492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9" name="Oval 55"/>
                <p:cNvSpPr>
                  <a:spLocks noChangeArrowheads="1"/>
                </p:cNvSpPr>
                <p:nvPr/>
              </p:nvSpPr>
              <p:spPr bwMode="auto">
                <a:xfrm>
                  <a:off x="4604" y="333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50" name="Oval 56"/>
                <p:cNvSpPr>
                  <a:spLocks noChangeArrowheads="1"/>
                </p:cNvSpPr>
                <p:nvPr/>
              </p:nvSpPr>
              <p:spPr bwMode="auto">
                <a:xfrm>
                  <a:off x="4922" y="333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51" name="AutoShape 57"/>
                <p:cNvCxnSpPr>
                  <a:cxnSpLocks noChangeShapeType="1"/>
                  <a:stCxn id="57549" idx="6"/>
                  <a:endCxn id="57550" idx="2"/>
                </p:cNvCxnSpPr>
                <p:nvPr/>
              </p:nvCxnSpPr>
              <p:spPr bwMode="auto">
                <a:xfrm>
                  <a:off x="4702" y="3362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52" name="Oval 58"/>
                <p:cNvSpPr>
                  <a:spLocks noChangeArrowheads="1"/>
                </p:cNvSpPr>
                <p:nvPr/>
              </p:nvSpPr>
              <p:spPr bwMode="auto">
                <a:xfrm>
                  <a:off x="347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53" name="Oval 59"/>
                <p:cNvSpPr>
                  <a:spLocks noChangeArrowheads="1"/>
                </p:cNvSpPr>
                <p:nvPr/>
              </p:nvSpPr>
              <p:spPr bwMode="auto">
                <a:xfrm>
                  <a:off x="378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54" name="AutoShape 60"/>
                <p:cNvCxnSpPr>
                  <a:cxnSpLocks noChangeShapeType="1"/>
                  <a:stCxn id="57552" idx="6"/>
                  <a:endCxn id="57553" idx="2"/>
                </p:cNvCxnSpPr>
                <p:nvPr/>
              </p:nvCxnSpPr>
              <p:spPr bwMode="auto">
                <a:xfrm>
                  <a:off x="356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55" name="Oval 61"/>
                <p:cNvSpPr>
                  <a:spLocks noChangeArrowheads="1"/>
                </p:cNvSpPr>
                <p:nvPr/>
              </p:nvSpPr>
              <p:spPr bwMode="auto">
                <a:xfrm>
                  <a:off x="3697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56" name="Oval 62"/>
                <p:cNvSpPr>
                  <a:spLocks noChangeArrowheads="1"/>
                </p:cNvSpPr>
                <p:nvPr/>
              </p:nvSpPr>
              <p:spPr bwMode="auto">
                <a:xfrm>
                  <a:off x="4015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57" name="AutoShape 63"/>
                <p:cNvCxnSpPr>
                  <a:cxnSpLocks noChangeShapeType="1"/>
                  <a:stCxn id="57555" idx="6"/>
                  <a:endCxn id="57556" idx="2"/>
                </p:cNvCxnSpPr>
                <p:nvPr/>
              </p:nvCxnSpPr>
              <p:spPr bwMode="auto">
                <a:xfrm>
                  <a:off x="3795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7512" name="Oval 64"/>
              <p:cNvSpPr>
                <a:spLocks noChangeArrowheads="1"/>
              </p:cNvSpPr>
              <p:nvPr/>
            </p:nvSpPr>
            <p:spPr bwMode="auto">
              <a:xfrm>
                <a:off x="3243" y="3294"/>
                <a:ext cx="2359" cy="680"/>
              </a:xfrm>
              <a:prstGeom prst="ellips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</p:grpSp>
        <p:grpSp>
          <p:nvGrpSpPr>
            <p:cNvPr id="57504" name="Group 65"/>
            <p:cNvGrpSpPr>
              <a:grpSpLocks/>
            </p:cNvGrpSpPr>
            <p:nvPr/>
          </p:nvGrpSpPr>
          <p:grpSpPr bwMode="auto">
            <a:xfrm>
              <a:off x="3352" y="2882"/>
              <a:ext cx="2060" cy="1092"/>
              <a:chOff x="3379" y="2882"/>
              <a:chExt cx="2060" cy="1092"/>
            </a:xfrm>
          </p:grpSpPr>
          <p:sp>
            <p:nvSpPr>
              <p:cNvPr id="57505" name="Oval 66"/>
              <p:cNvSpPr>
                <a:spLocks noChangeArrowheads="1"/>
              </p:cNvSpPr>
              <p:nvPr/>
            </p:nvSpPr>
            <p:spPr bwMode="auto">
              <a:xfrm>
                <a:off x="3379" y="3290"/>
                <a:ext cx="1361" cy="681"/>
              </a:xfrm>
              <a:prstGeom prst="ellips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6" name="Oval 67"/>
              <p:cNvSpPr>
                <a:spLocks noChangeArrowheads="1"/>
              </p:cNvSpPr>
              <p:nvPr/>
            </p:nvSpPr>
            <p:spPr bwMode="auto">
              <a:xfrm>
                <a:off x="4078" y="3293"/>
                <a:ext cx="1361" cy="681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7" name="AutoShape 68"/>
              <p:cNvSpPr>
                <a:spLocks noChangeArrowheads="1"/>
              </p:cNvSpPr>
              <p:nvPr/>
            </p:nvSpPr>
            <p:spPr bwMode="auto">
              <a:xfrm flipV="1">
                <a:off x="3379" y="2973"/>
                <a:ext cx="1361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952 w 21600"/>
                  <a:gd name="T13" fmla="*/ 3954 h 21600"/>
                  <a:gd name="T14" fmla="*/ 17648 w 21600"/>
                  <a:gd name="T15" fmla="*/ 176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316" y="21600"/>
                    </a:lnTo>
                    <a:lnTo>
                      <a:pt x="1728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E2EDF6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8" name="AutoShape 69"/>
              <p:cNvSpPr>
                <a:spLocks noChangeArrowheads="1"/>
              </p:cNvSpPr>
              <p:nvPr/>
            </p:nvSpPr>
            <p:spPr bwMode="auto">
              <a:xfrm flipV="1">
                <a:off x="4105" y="2968"/>
                <a:ext cx="1323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245 w 21600"/>
                  <a:gd name="T13" fmla="*/ 4247 h 21600"/>
                  <a:gd name="T14" fmla="*/ 17355 w 21600"/>
                  <a:gd name="T15" fmla="*/ 1735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881" y="21600"/>
                    </a:lnTo>
                    <a:lnTo>
                      <a:pt x="1671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FFFF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9" name="AutoShape 70"/>
              <p:cNvSpPr>
                <a:spLocks noChangeArrowheads="1"/>
              </p:cNvSpPr>
              <p:nvPr/>
            </p:nvSpPr>
            <p:spPr bwMode="auto">
              <a:xfrm>
                <a:off x="3569" y="2882"/>
                <a:ext cx="817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en-US" altLang="ja-JP" sz="1600" b="1">
                    <a:solidFill>
                      <a:schemeClr val="accent2"/>
                    </a:solidFill>
                  </a:rPr>
                  <a:t>WordSpace</a:t>
                </a:r>
              </a:p>
            </p:txBody>
          </p:sp>
          <p:sp>
            <p:nvSpPr>
              <p:cNvPr id="57510" name="AutoShape 71"/>
              <p:cNvSpPr>
                <a:spLocks noChangeArrowheads="1"/>
              </p:cNvSpPr>
              <p:nvPr/>
            </p:nvSpPr>
            <p:spPr bwMode="auto">
              <a:xfrm>
                <a:off x="4423" y="2882"/>
                <a:ext cx="816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ja-JP" altLang="en-US" sz="1600" b="1">
                    <a:solidFill>
                      <a:schemeClr val="accent2"/>
                    </a:solidFill>
                  </a:rPr>
                  <a:t>相関ルール</a:t>
                </a:r>
              </a:p>
            </p:txBody>
          </p:sp>
        </p:grpSp>
      </p:grpSp>
      <p:sp>
        <p:nvSpPr>
          <p:cNvPr id="57350" name="Text Box 72"/>
          <p:cNvSpPr txBox="1">
            <a:spLocks noChangeArrowheads="1"/>
          </p:cNvSpPr>
          <p:nvPr/>
        </p:nvSpPr>
        <p:spPr bwMode="auto">
          <a:xfrm>
            <a:off x="7620001" y="3200400"/>
            <a:ext cx="1471613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概念対集合</a:t>
            </a:r>
          </a:p>
        </p:txBody>
      </p:sp>
      <p:grpSp>
        <p:nvGrpSpPr>
          <p:cNvPr id="57351" name="Group 73"/>
          <p:cNvGrpSpPr>
            <a:grpSpLocks/>
          </p:cNvGrpSpPr>
          <p:nvPr/>
        </p:nvGrpSpPr>
        <p:grpSpPr bwMode="auto">
          <a:xfrm>
            <a:off x="8615364" y="682626"/>
            <a:ext cx="1176337" cy="1006475"/>
            <a:chOff x="249" y="2118"/>
            <a:chExt cx="788" cy="855"/>
          </a:xfrm>
        </p:grpSpPr>
        <p:grpSp>
          <p:nvGrpSpPr>
            <p:cNvPr id="57463" name="Group 74"/>
            <p:cNvGrpSpPr>
              <a:grpSpLocks/>
            </p:cNvGrpSpPr>
            <p:nvPr/>
          </p:nvGrpSpPr>
          <p:grpSpPr bwMode="auto">
            <a:xfrm>
              <a:off x="249" y="2118"/>
              <a:ext cx="652" cy="722"/>
              <a:chOff x="4785" y="2563"/>
              <a:chExt cx="912" cy="912"/>
            </a:xfrm>
          </p:grpSpPr>
          <p:sp>
            <p:nvSpPr>
              <p:cNvPr id="57494" name="Rectangle 7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95" name="Rectangle 7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96" name="Line 7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7" name="Line 7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8" name="Line 7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9" name="Line 8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500" name="Line 8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501" name="Line 8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502" name="Line 8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7464" name="Group 84"/>
            <p:cNvGrpSpPr>
              <a:grpSpLocks/>
            </p:cNvGrpSpPr>
            <p:nvPr/>
          </p:nvGrpSpPr>
          <p:grpSpPr bwMode="auto">
            <a:xfrm>
              <a:off x="294" y="2164"/>
              <a:ext cx="652" cy="722"/>
              <a:chOff x="4785" y="2563"/>
              <a:chExt cx="912" cy="912"/>
            </a:xfrm>
          </p:grpSpPr>
          <p:sp>
            <p:nvSpPr>
              <p:cNvPr id="57485" name="Rectangle 8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86" name="Rectangle 8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87" name="Line 8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8" name="Line 8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9" name="Line 8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0" name="Line 9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1" name="Line 9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2" name="Line 9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3" name="Line 9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7465" name="Group 94"/>
            <p:cNvGrpSpPr>
              <a:grpSpLocks/>
            </p:cNvGrpSpPr>
            <p:nvPr/>
          </p:nvGrpSpPr>
          <p:grpSpPr bwMode="auto">
            <a:xfrm>
              <a:off x="340" y="2205"/>
              <a:ext cx="652" cy="722"/>
              <a:chOff x="4785" y="2563"/>
              <a:chExt cx="912" cy="912"/>
            </a:xfrm>
          </p:grpSpPr>
          <p:sp>
            <p:nvSpPr>
              <p:cNvPr id="57476" name="Rectangle 9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77" name="Rectangle 9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78" name="Line 9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9" name="Line 9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0" name="Line 9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1" name="Line 10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2" name="Line 10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3" name="Line 10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4" name="Line 10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7466" name="Group 104"/>
            <p:cNvGrpSpPr>
              <a:grpSpLocks/>
            </p:cNvGrpSpPr>
            <p:nvPr/>
          </p:nvGrpSpPr>
          <p:grpSpPr bwMode="auto">
            <a:xfrm>
              <a:off x="385" y="2251"/>
              <a:ext cx="652" cy="722"/>
              <a:chOff x="4785" y="2563"/>
              <a:chExt cx="912" cy="912"/>
            </a:xfrm>
          </p:grpSpPr>
          <p:sp>
            <p:nvSpPr>
              <p:cNvPr id="57467" name="Rectangle 10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68" name="Rectangle 10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69" name="Line 10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0" name="Line 10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1" name="Line 10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2" name="Line 11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3" name="Line 11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4" name="Line 11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5" name="Line 11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</p:grpSp>
      <p:grpSp>
        <p:nvGrpSpPr>
          <p:cNvPr id="57352" name="Group 114"/>
          <p:cNvGrpSpPr>
            <a:grpSpLocks/>
          </p:cNvGrpSpPr>
          <p:nvPr/>
        </p:nvGrpSpPr>
        <p:grpSpPr bwMode="auto">
          <a:xfrm>
            <a:off x="9001125" y="1187451"/>
            <a:ext cx="528638" cy="390525"/>
            <a:chOff x="4241" y="1525"/>
            <a:chExt cx="407" cy="317"/>
          </a:xfrm>
        </p:grpSpPr>
        <p:sp>
          <p:nvSpPr>
            <p:cNvPr id="57457" name="Oval 115"/>
            <p:cNvSpPr>
              <a:spLocks noChangeArrowheads="1"/>
            </p:cNvSpPr>
            <p:nvPr/>
          </p:nvSpPr>
          <p:spPr bwMode="auto">
            <a:xfrm>
              <a:off x="4241" y="1525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58" name="Oval 116"/>
            <p:cNvSpPr>
              <a:spLocks noChangeArrowheads="1"/>
            </p:cNvSpPr>
            <p:nvPr/>
          </p:nvSpPr>
          <p:spPr bwMode="auto">
            <a:xfrm>
              <a:off x="4422" y="1525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59" name="Oval 117"/>
            <p:cNvSpPr>
              <a:spLocks noChangeArrowheads="1"/>
            </p:cNvSpPr>
            <p:nvPr/>
          </p:nvSpPr>
          <p:spPr bwMode="auto">
            <a:xfrm>
              <a:off x="4377" y="1637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60" name="Oval 118"/>
            <p:cNvSpPr>
              <a:spLocks noChangeArrowheads="1"/>
            </p:cNvSpPr>
            <p:nvPr/>
          </p:nvSpPr>
          <p:spPr bwMode="auto">
            <a:xfrm>
              <a:off x="4558" y="1637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61" name="Oval 119"/>
            <p:cNvSpPr>
              <a:spLocks noChangeArrowheads="1"/>
            </p:cNvSpPr>
            <p:nvPr/>
          </p:nvSpPr>
          <p:spPr bwMode="auto">
            <a:xfrm>
              <a:off x="4287" y="1791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62" name="Oval 120"/>
            <p:cNvSpPr>
              <a:spLocks noChangeArrowheads="1"/>
            </p:cNvSpPr>
            <p:nvPr/>
          </p:nvSpPr>
          <p:spPr bwMode="auto">
            <a:xfrm>
              <a:off x="4468" y="1791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</p:grpSp>
      <p:sp>
        <p:nvSpPr>
          <p:cNvPr id="57353" name="Text Box 121"/>
          <p:cNvSpPr txBox="1">
            <a:spLocks noChangeArrowheads="1"/>
          </p:cNvSpPr>
          <p:nvPr/>
        </p:nvSpPr>
        <p:spPr bwMode="auto">
          <a:xfrm>
            <a:off x="8753475" y="833438"/>
            <a:ext cx="1003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Ctr="1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 b="1"/>
              <a:t>専門文書</a:t>
            </a:r>
          </a:p>
        </p:txBody>
      </p:sp>
      <p:grpSp>
        <p:nvGrpSpPr>
          <p:cNvPr id="57354" name="Group 139"/>
          <p:cNvGrpSpPr>
            <a:grpSpLocks/>
          </p:cNvGrpSpPr>
          <p:nvPr/>
        </p:nvGrpSpPr>
        <p:grpSpPr bwMode="auto">
          <a:xfrm>
            <a:off x="7620000" y="4952999"/>
            <a:ext cx="1828800" cy="1046476"/>
            <a:chOff x="3564" y="3322"/>
            <a:chExt cx="1452" cy="900"/>
          </a:xfrm>
        </p:grpSpPr>
        <p:sp>
          <p:nvSpPr>
            <p:cNvPr id="57441" name="Oval 123"/>
            <p:cNvSpPr>
              <a:spLocks noChangeArrowheads="1"/>
            </p:cNvSpPr>
            <p:nvPr/>
          </p:nvSpPr>
          <p:spPr bwMode="auto">
            <a:xfrm>
              <a:off x="3564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42" name="Oval 124"/>
            <p:cNvSpPr>
              <a:spLocks noChangeArrowheads="1"/>
            </p:cNvSpPr>
            <p:nvPr/>
          </p:nvSpPr>
          <p:spPr bwMode="auto">
            <a:xfrm>
              <a:off x="4290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43" name="AutoShape 125"/>
            <p:cNvCxnSpPr>
              <a:cxnSpLocks noChangeShapeType="1"/>
              <a:stCxn id="57441" idx="6"/>
              <a:endCxn id="57442" idx="2"/>
            </p:cNvCxnSpPr>
            <p:nvPr/>
          </p:nvCxnSpPr>
          <p:spPr bwMode="auto">
            <a:xfrm>
              <a:off x="3972" y="3513"/>
              <a:ext cx="31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44" name="Oval 126"/>
            <p:cNvSpPr>
              <a:spLocks noChangeArrowheads="1"/>
            </p:cNvSpPr>
            <p:nvPr/>
          </p:nvSpPr>
          <p:spPr bwMode="auto">
            <a:xfrm>
              <a:off x="3654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45" name="Oval 127"/>
            <p:cNvSpPr>
              <a:spLocks noChangeArrowheads="1"/>
            </p:cNvSpPr>
            <p:nvPr/>
          </p:nvSpPr>
          <p:spPr bwMode="auto">
            <a:xfrm>
              <a:off x="4426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46" name="AutoShape 128"/>
            <p:cNvCxnSpPr>
              <a:cxnSpLocks noChangeShapeType="1"/>
              <a:stCxn id="57444" idx="6"/>
              <a:endCxn id="57445" idx="2"/>
            </p:cNvCxnSpPr>
            <p:nvPr/>
          </p:nvCxnSpPr>
          <p:spPr bwMode="auto">
            <a:xfrm>
              <a:off x="4062" y="3739"/>
              <a:ext cx="36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47" name="Oval 129"/>
            <p:cNvSpPr>
              <a:spLocks noChangeArrowheads="1"/>
            </p:cNvSpPr>
            <p:nvPr/>
          </p:nvSpPr>
          <p:spPr bwMode="auto">
            <a:xfrm>
              <a:off x="3836" y="3853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48" name="Oval 130"/>
            <p:cNvSpPr>
              <a:spLocks noChangeArrowheads="1"/>
            </p:cNvSpPr>
            <p:nvPr/>
          </p:nvSpPr>
          <p:spPr bwMode="auto">
            <a:xfrm>
              <a:off x="4517" y="3854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49" name="AutoShape 131"/>
            <p:cNvCxnSpPr>
              <a:cxnSpLocks noChangeShapeType="1"/>
              <a:stCxn id="57447" idx="6"/>
              <a:endCxn id="57448" idx="2"/>
            </p:cNvCxnSpPr>
            <p:nvPr/>
          </p:nvCxnSpPr>
          <p:spPr bwMode="auto">
            <a:xfrm>
              <a:off x="4244" y="3921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50" name="Oval 132"/>
            <p:cNvSpPr>
              <a:spLocks noChangeArrowheads="1"/>
            </p:cNvSpPr>
            <p:nvPr/>
          </p:nvSpPr>
          <p:spPr bwMode="auto">
            <a:xfrm>
              <a:off x="3927" y="4079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51" name="Oval 133"/>
            <p:cNvSpPr>
              <a:spLocks noChangeArrowheads="1"/>
            </p:cNvSpPr>
            <p:nvPr/>
          </p:nvSpPr>
          <p:spPr bwMode="auto">
            <a:xfrm>
              <a:off x="4608" y="4080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52" name="AutoShape 134"/>
            <p:cNvCxnSpPr>
              <a:cxnSpLocks noChangeShapeType="1"/>
              <a:stCxn id="57450" idx="6"/>
              <a:endCxn id="57451" idx="2"/>
            </p:cNvCxnSpPr>
            <p:nvPr/>
          </p:nvCxnSpPr>
          <p:spPr bwMode="auto">
            <a:xfrm>
              <a:off x="4335" y="4147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53" name="Text Box 135"/>
            <p:cNvSpPr txBox="1">
              <a:spLocks noChangeArrowheads="1"/>
            </p:cNvSpPr>
            <p:nvPr/>
          </p:nvSpPr>
          <p:spPr bwMode="auto">
            <a:xfrm>
              <a:off x="3882" y="3322"/>
              <a:ext cx="50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has-a</a:t>
              </a:r>
            </a:p>
          </p:txBody>
        </p:sp>
        <p:sp>
          <p:nvSpPr>
            <p:cNvPr id="57454" name="Text Box 136"/>
            <p:cNvSpPr txBox="1">
              <a:spLocks noChangeArrowheads="1"/>
            </p:cNvSpPr>
            <p:nvPr/>
          </p:nvSpPr>
          <p:spPr bwMode="auto">
            <a:xfrm>
              <a:off x="4024" y="3570"/>
              <a:ext cx="358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link</a:t>
              </a:r>
            </a:p>
          </p:txBody>
        </p:sp>
        <p:sp>
          <p:nvSpPr>
            <p:cNvPr id="57455" name="Text Box 137"/>
            <p:cNvSpPr txBox="1">
              <a:spLocks noChangeArrowheads="1"/>
            </p:cNvSpPr>
            <p:nvPr/>
          </p:nvSpPr>
          <p:spPr bwMode="auto">
            <a:xfrm>
              <a:off x="4197" y="3753"/>
              <a:ext cx="368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title</a:t>
              </a:r>
            </a:p>
          </p:txBody>
        </p:sp>
        <p:sp>
          <p:nvSpPr>
            <p:cNvPr id="57456" name="Text Box 138"/>
            <p:cNvSpPr txBox="1">
              <a:spLocks noChangeArrowheads="1"/>
            </p:cNvSpPr>
            <p:nvPr/>
          </p:nvSpPr>
          <p:spPr bwMode="auto">
            <a:xfrm>
              <a:off x="4154" y="3957"/>
              <a:ext cx="55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knows</a:t>
              </a:r>
            </a:p>
          </p:txBody>
        </p:sp>
      </p:grpSp>
      <p:sp>
        <p:nvSpPr>
          <p:cNvPr id="57355" name="Oval 141"/>
          <p:cNvSpPr>
            <a:spLocks noChangeArrowheads="1"/>
          </p:cNvSpPr>
          <p:nvPr/>
        </p:nvSpPr>
        <p:spPr bwMode="auto">
          <a:xfrm>
            <a:off x="7162800" y="4572000"/>
            <a:ext cx="2667000" cy="1524000"/>
          </a:xfrm>
          <a:prstGeom prst="ellipse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7356" name="Text Box 142"/>
          <p:cNvSpPr txBox="1">
            <a:spLocks noChangeArrowheads="1"/>
          </p:cNvSpPr>
          <p:nvPr/>
        </p:nvSpPr>
        <p:spPr bwMode="auto">
          <a:xfrm>
            <a:off x="8750300" y="4165601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Comic Sans MS" charset="0"/>
              </a:rPr>
              <a:t>関係洗練</a:t>
            </a:r>
          </a:p>
        </p:txBody>
      </p:sp>
      <p:sp>
        <p:nvSpPr>
          <p:cNvPr id="57357" name="Text Box 144"/>
          <p:cNvSpPr txBox="1">
            <a:spLocks noChangeArrowheads="1"/>
          </p:cNvSpPr>
          <p:nvPr/>
        </p:nvSpPr>
        <p:spPr bwMode="auto">
          <a:xfrm>
            <a:off x="7745414" y="4629150"/>
            <a:ext cx="1474787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非階層関係</a:t>
            </a:r>
          </a:p>
        </p:txBody>
      </p:sp>
      <p:sp>
        <p:nvSpPr>
          <p:cNvPr id="57358" name="AutoShape 4"/>
          <p:cNvSpPr>
            <a:spLocks noChangeArrowheads="1"/>
          </p:cNvSpPr>
          <p:nvPr/>
        </p:nvSpPr>
        <p:spPr bwMode="auto">
          <a:xfrm>
            <a:off x="2432050" y="2116139"/>
            <a:ext cx="2865438" cy="8413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76200">
            <a:solidFill>
              <a:srgbClr val="00E1D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b="1">
              <a:latin typeface="Times New Roman" charset="0"/>
            </a:endParaRPr>
          </a:p>
        </p:txBody>
      </p:sp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2930526" y="2054225"/>
            <a:ext cx="19796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ja-JP" altLang="en-US" sz="2000" b="1">
                <a:solidFill>
                  <a:srgbClr val="FF3300"/>
                </a:solidFill>
                <a:latin typeface="Times New Roman" charset="0"/>
              </a:rPr>
              <a:t>関係構築モジュール</a:t>
            </a:r>
          </a:p>
        </p:txBody>
      </p:sp>
      <p:grpSp>
        <p:nvGrpSpPr>
          <p:cNvPr id="57360" name="Group 16"/>
          <p:cNvGrpSpPr>
            <a:grpSpLocks/>
          </p:cNvGrpSpPr>
          <p:nvPr/>
        </p:nvGrpSpPr>
        <p:grpSpPr bwMode="auto">
          <a:xfrm>
            <a:off x="2286000" y="2552701"/>
            <a:ext cx="3352800" cy="1516063"/>
            <a:chOff x="3243" y="2882"/>
            <a:chExt cx="2359" cy="1092"/>
          </a:xfrm>
        </p:grpSpPr>
        <p:grpSp>
          <p:nvGrpSpPr>
            <p:cNvPr id="57386" name="Group 17"/>
            <p:cNvGrpSpPr>
              <a:grpSpLocks/>
            </p:cNvGrpSpPr>
            <p:nvPr/>
          </p:nvGrpSpPr>
          <p:grpSpPr bwMode="auto">
            <a:xfrm>
              <a:off x="3243" y="3294"/>
              <a:ext cx="2359" cy="680"/>
              <a:chOff x="3243" y="3294"/>
              <a:chExt cx="2359" cy="680"/>
            </a:xfrm>
          </p:grpSpPr>
          <p:grpSp>
            <p:nvGrpSpPr>
              <p:cNvPr id="57394" name="Group 18"/>
              <p:cNvGrpSpPr>
                <a:grpSpLocks/>
              </p:cNvGrpSpPr>
              <p:nvPr/>
            </p:nvGrpSpPr>
            <p:grpSpPr bwMode="auto">
              <a:xfrm>
                <a:off x="3470" y="3336"/>
                <a:ext cx="1859" cy="544"/>
                <a:chOff x="3470" y="3336"/>
                <a:chExt cx="1859" cy="544"/>
              </a:xfrm>
            </p:grpSpPr>
            <p:sp>
              <p:nvSpPr>
                <p:cNvPr id="57396" name="Oval 19"/>
                <p:cNvSpPr>
                  <a:spLocks noChangeArrowheads="1"/>
                </p:cNvSpPr>
                <p:nvPr/>
              </p:nvSpPr>
              <p:spPr bwMode="auto">
                <a:xfrm>
                  <a:off x="4196" y="3472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397" name="Oval 20"/>
                <p:cNvSpPr>
                  <a:spLocks noChangeArrowheads="1"/>
                </p:cNvSpPr>
                <p:nvPr/>
              </p:nvSpPr>
              <p:spPr bwMode="auto">
                <a:xfrm>
                  <a:off x="4514" y="347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398" name="AutoShape 21"/>
                <p:cNvCxnSpPr>
                  <a:cxnSpLocks noChangeShapeType="1"/>
                  <a:stCxn id="57396" idx="6"/>
                  <a:endCxn id="57397" idx="2"/>
                </p:cNvCxnSpPr>
                <p:nvPr/>
              </p:nvCxnSpPr>
              <p:spPr bwMode="auto">
                <a:xfrm>
                  <a:off x="4294" y="3498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399" name="Oval 22"/>
                <p:cNvSpPr>
                  <a:spLocks noChangeArrowheads="1"/>
                </p:cNvSpPr>
                <p:nvPr/>
              </p:nvSpPr>
              <p:spPr bwMode="auto">
                <a:xfrm>
                  <a:off x="4259" y="360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0" name="Oval 23"/>
                <p:cNvSpPr>
                  <a:spLocks noChangeArrowheads="1"/>
                </p:cNvSpPr>
                <p:nvPr/>
              </p:nvSpPr>
              <p:spPr bwMode="auto">
                <a:xfrm>
                  <a:off x="4577" y="3610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01" name="AutoShape 24"/>
                <p:cNvCxnSpPr>
                  <a:cxnSpLocks noChangeShapeType="1"/>
                  <a:stCxn id="57399" idx="6"/>
                  <a:endCxn id="57400" idx="2"/>
                </p:cNvCxnSpPr>
                <p:nvPr/>
              </p:nvCxnSpPr>
              <p:spPr bwMode="auto">
                <a:xfrm>
                  <a:off x="4357" y="3634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02" name="Oval 25"/>
                <p:cNvSpPr>
                  <a:spLocks noChangeArrowheads="1"/>
                </p:cNvSpPr>
                <p:nvPr/>
              </p:nvSpPr>
              <p:spPr bwMode="auto">
                <a:xfrm>
                  <a:off x="4196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3" name="Oval 26"/>
                <p:cNvSpPr>
                  <a:spLocks noChangeArrowheads="1"/>
                </p:cNvSpPr>
                <p:nvPr/>
              </p:nvSpPr>
              <p:spPr bwMode="auto">
                <a:xfrm>
                  <a:off x="4514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04" name="AutoShape 27"/>
                <p:cNvCxnSpPr>
                  <a:cxnSpLocks noChangeShapeType="1"/>
                  <a:stCxn id="57402" idx="6"/>
                  <a:endCxn id="57403" idx="2"/>
                </p:cNvCxnSpPr>
                <p:nvPr/>
              </p:nvCxnSpPr>
              <p:spPr bwMode="auto">
                <a:xfrm>
                  <a:off x="4294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05" name="Oval 28"/>
                <p:cNvSpPr>
                  <a:spLocks noChangeArrowheads="1"/>
                </p:cNvSpPr>
                <p:nvPr/>
              </p:nvSpPr>
              <p:spPr bwMode="auto">
                <a:xfrm>
                  <a:off x="4740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6" name="Oval 29"/>
                <p:cNvSpPr>
                  <a:spLocks noChangeArrowheads="1"/>
                </p:cNvSpPr>
                <p:nvPr/>
              </p:nvSpPr>
              <p:spPr bwMode="auto">
                <a:xfrm>
                  <a:off x="5058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07" name="AutoShape 30"/>
                <p:cNvCxnSpPr>
                  <a:cxnSpLocks noChangeShapeType="1"/>
                  <a:stCxn id="57405" idx="6"/>
                  <a:endCxn id="57406" idx="2"/>
                </p:cNvCxnSpPr>
                <p:nvPr/>
              </p:nvCxnSpPr>
              <p:spPr bwMode="auto">
                <a:xfrm>
                  <a:off x="4838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08" name="Oval 31"/>
                <p:cNvSpPr>
                  <a:spLocks noChangeArrowheads="1"/>
                </p:cNvSpPr>
                <p:nvPr/>
              </p:nvSpPr>
              <p:spPr bwMode="auto">
                <a:xfrm>
                  <a:off x="4921" y="356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9" name="Oval 32"/>
                <p:cNvSpPr>
                  <a:spLocks noChangeArrowheads="1"/>
                </p:cNvSpPr>
                <p:nvPr/>
              </p:nvSpPr>
              <p:spPr bwMode="auto">
                <a:xfrm>
                  <a:off x="5239" y="356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0" name="AutoShape 33"/>
                <p:cNvCxnSpPr>
                  <a:cxnSpLocks noChangeShapeType="1"/>
                  <a:stCxn id="57408" idx="6"/>
                  <a:endCxn id="57409" idx="2"/>
                </p:cNvCxnSpPr>
                <p:nvPr/>
              </p:nvCxnSpPr>
              <p:spPr bwMode="auto">
                <a:xfrm>
                  <a:off x="5019" y="358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11" name="Oval 34"/>
                <p:cNvSpPr>
                  <a:spLocks noChangeArrowheads="1"/>
                </p:cNvSpPr>
                <p:nvPr/>
              </p:nvSpPr>
              <p:spPr bwMode="auto">
                <a:xfrm>
                  <a:off x="4740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12" name="Oval 35"/>
                <p:cNvSpPr>
                  <a:spLocks noChangeArrowheads="1"/>
                </p:cNvSpPr>
                <p:nvPr/>
              </p:nvSpPr>
              <p:spPr bwMode="auto">
                <a:xfrm>
                  <a:off x="5058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3" name="AutoShape 36"/>
                <p:cNvCxnSpPr>
                  <a:cxnSpLocks noChangeShapeType="1"/>
                  <a:stCxn id="57411" idx="6"/>
                  <a:endCxn id="57412" idx="2"/>
                </p:cNvCxnSpPr>
                <p:nvPr/>
              </p:nvCxnSpPr>
              <p:spPr bwMode="auto">
                <a:xfrm>
                  <a:off x="4838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14" name="Oval 37"/>
                <p:cNvSpPr>
                  <a:spLocks noChangeArrowheads="1"/>
                </p:cNvSpPr>
                <p:nvPr/>
              </p:nvSpPr>
              <p:spPr bwMode="auto">
                <a:xfrm>
                  <a:off x="4694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15" name="Oval 38"/>
                <p:cNvSpPr>
                  <a:spLocks noChangeArrowheads="1"/>
                </p:cNvSpPr>
                <p:nvPr/>
              </p:nvSpPr>
              <p:spPr bwMode="auto">
                <a:xfrm>
                  <a:off x="5012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6" name="AutoShape 39"/>
                <p:cNvCxnSpPr>
                  <a:cxnSpLocks noChangeShapeType="1"/>
                  <a:stCxn id="57414" idx="6"/>
                  <a:endCxn id="57415" idx="2"/>
                </p:cNvCxnSpPr>
                <p:nvPr/>
              </p:nvCxnSpPr>
              <p:spPr bwMode="auto">
                <a:xfrm>
                  <a:off x="4792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17" name="Oval 40"/>
                <p:cNvSpPr>
                  <a:spLocks noChangeArrowheads="1"/>
                </p:cNvSpPr>
                <p:nvPr/>
              </p:nvSpPr>
              <p:spPr bwMode="auto">
                <a:xfrm>
                  <a:off x="3651" y="3381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18" name="Oval 41"/>
                <p:cNvSpPr>
                  <a:spLocks noChangeArrowheads="1"/>
                </p:cNvSpPr>
                <p:nvPr/>
              </p:nvSpPr>
              <p:spPr bwMode="auto">
                <a:xfrm>
                  <a:off x="3969" y="338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9" name="AutoShape 42"/>
                <p:cNvCxnSpPr>
                  <a:cxnSpLocks noChangeShapeType="1"/>
                  <a:stCxn id="57417" idx="6"/>
                  <a:endCxn id="57418" idx="2"/>
                </p:cNvCxnSpPr>
                <p:nvPr/>
              </p:nvCxnSpPr>
              <p:spPr bwMode="auto">
                <a:xfrm>
                  <a:off x="3749" y="3407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0" name="Oval 43"/>
                <p:cNvSpPr>
                  <a:spLocks noChangeArrowheads="1"/>
                </p:cNvSpPr>
                <p:nvPr/>
              </p:nvSpPr>
              <p:spPr bwMode="auto">
                <a:xfrm>
                  <a:off x="3470" y="35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21" name="Oval 44"/>
                <p:cNvSpPr>
                  <a:spLocks noChangeArrowheads="1"/>
                </p:cNvSpPr>
                <p:nvPr/>
              </p:nvSpPr>
              <p:spPr bwMode="auto">
                <a:xfrm>
                  <a:off x="3788" y="355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22" name="AutoShape 45"/>
                <p:cNvCxnSpPr>
                  <a:cxnSpLocks noChangeShapeType="1"/>
                  <a:stCxn id="57420" idx="6"/>
                  <a:endCxn id="57421" idx="2"/>
                </p:cNvCxnSpPr>
                <p:nvPr/>
              </p:nvCxnSpPr>
              <p:spPr bwMode="auto">
                <a:xfrm>
                  <a:off x="3568" y="3581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3" name="Oval 46"/>
                <p:cNvSpPr>
                  <a:spLocks noChangeArrowheads="1"/>
                </p:cNvSpPr>
                <p:nvPr/>
              </p:nvSpPr>
              <p:spPr bwMode="auto">
                <a:xfrm>
                  <a:off x="3606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24" name="Oval 47"/>
                <p:cNvSpPr>
                  <a:spLocks noChangeArrowheads="1"/>
                </p:cNvSpPr>
                <p:nvPr/>
              </p:nvSpPr>
              <p:spPr bwMode="auto">
                <a:xfrm>
                  <a:off x="3924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25" name="AutoShape 48"/>
                <p:cNvCxnSpPr>
                  <a:cxnSpLocks noChangeShapeType="1"/>
                  <a:stCxn id="57423" idx="6"/>
                  <a:endCxn id="57424" idx="2"/>
                </p:cNvCxnSpPr>
                <p:nvPr/>
              </p:nvCxnSpPr>
              <p:spPr bwMode="auto">
                <a:xfrm>
                  <a:off x="3704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6" name="Oval 49"/>
                <p:cNvSpPr>
                  <a:spLocks noChangeArrowheads="1"/>
                </p:cNvSpPr>
                <p:nvPr/>
              </p:nvSpPr>
              <p:spPr bwMode="auto">
                <a:xfrm>
                  <a:off x="3742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27" name="Oval 50"/>
                <p:cNvSpPr>
                  <a:spLocks noChangeArrowheads="1"/>
                </p:cNvSpPr>
                <p:nvPr/>
              </p:nvSpPr>
              <p:spPr bwMode="auto">
                <a:xfrm>
                  <a:off x="4060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28" name="AutoShape 51"/>
                <p:cNvCxnSpPr>
                  <a:cxnSpLocks noChangeShapeType="1"/>
                  <a:stCxn id="57426" idx="6"/>
                  <a:endCxn id="57427" idx="2"/>
                </p:cNvCxnSpPr>
                <p:nvPr/>
              </p:nvCxnSpPr>
              <p:spPr bwMode="auto">
                <a:xfrm>
                  <a:off x="3840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9" name="Oval 52"/>
                <p:cNvSpPr>
                  <a:spLocks noChangeArrowheads="1"/>
                </p:cNvSpPr>
                <p:nvPr/>
              </p:nvSpPr>
              <p:spPr bwMode="auto">
                <a:xfrm>
                  <a:off x="483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0" name="Oval 53"/>
                <p:cNvSpPr>
                  <a:spLocks noChangeArrowheads="1"/>
                </p:cNvSpPr>
                <p:nvPr/>
              </p:nvSpPr>
              <p:spPr bwMode="auto">
                <a:xfrm>
                  <a:off x="514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31" name="AutoShape 54"/>
                <p:cNvCxnSpPr>
                  <a:cxnSpLocks noChangeShapeType="1"/>
                  <a:stCxn id="57429" idx="6"/>
                  <a:endCxn id="57430" idx="2"/>
                </p:cNvCxnSpPr>
                <p:nvPr/>
              </p:nvCxnSpPr>
              <p:spPr bwMode="auto">
                <a:xfrm>
                  <a:off x="492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32" name="Oval 55"/>
                <p:cNvSpPr>
                  <a:spLocks noChangeArrowheads="1"/>
                </p:cNvSpPr>
                <p:nvPr/>
              </p:nvSpPr>
              <p:spPr bwMode="auto">
                <a:xfrm>
                  <a:off x="4604" y="333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3" name="Oval 56"/>
                <p:cNvSpPr>
                  <a:spLocks noChangeArrowheads="1"/>
                </p:cNvSpPr>
                <p:nvPr/>
              </p:nvSpPr>
              <p:spPr bwMode="auto">
                <a:xfrm>
                  <a:off x="4922" y="333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34" name="AutoShape 57"/>
                <p:cNvCxnSpPr>
                  <a:cxnSpLocks noChangeShapeType="1"/>
                  <a:stCxn id="57432" idx="6"/>
                  <a:endCxn id="57433" idx="2"/>
                </p:cNvCxnSpPr>
                <p:nvPr/>
              </p:nvCxnSpPr>
              <p:spPr bwMode="auto">
                <a:xfrm>
                  <a:off x="4702" y="3362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35" name="Oval 58"/>
                <p:cNvSpPr>
                  <a:spLocks noChangeArrowheads="1"/>
                </p:cNvSpPr>
                <p:nvPr/>
              </p:nvSpPr>
              <p:spPr bwMode="auto">
                <a:xfrm>
                  <a:off x="347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6" name="Oval 59"/>
                <p:cNvSpPr>
                  <a:spLocks noChangeArrowheads="1"/>
                </p:cNvSpPr>
                <p:nvPr/>
              </p:nvSpPr>
              <p:spPr bwMode="auto">
                <a:xfrm>
                  <a:off x="378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37" name="AutoShape 60"/>
                <p:cNvCxnSpPr>
                  <a:cxnSpLocks noChangeShapeType="1"/>
                  <a:stCxn id="57435" idx="6"/>
                  <a:endCxn id="57436" idx="2"/>
                </p:cNvCxnSpPr>
                <p:nvPr/>
              </p:nvCxnSpPr>
              <p:spPr bwMode="auto">
                <a:xfrm>
                  <a:off x="356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38" name="Oval 61"/>
                <p:cNvSpPr>
                  <a:spLocks noChangeArrowheads="1"/>
                </p:cNvSpPr>
                <p:nvPr/>
              </p:nvSpPr>
              <p:spPr bwMode="auto">
                <a:xfrm>
                  <a:off x="3697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9" name="Oval 62"/>
                <p:cNvSpPr>
                  <a:spLocks noChangeArrowheads="1"/>
                </p:cNvSpPr>
                <p:nvPr/>
              </p:nvSpPr>
              <p:spPr bwMode="auto">
                <a:xfrm>
                  <a:off x="4015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40" name="AutoShape 63"/>
                <p:cNvCxnSpPr>
                  <a:cxnSpLocks noChangeShapeType="1"/>
                  <a:stCxn id="57438" idx="6"/>
                  <a:endCxn id="57439" idx="2"/>
                </p:cNvCxnSpPr>
                <p:nvPr/>
              </p:nvCxnSpPr>
              <p:spPr bwMode="auto">
                <a:xfrm>
                  <a:off x="3795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7395" name="Oval 64"/>
              <p:cNvSpPr>
                <a:spLocks noChangeArrowheads="1"/>
              </p:cNvSpPr>
              <p:nvPr/>
            </p:nvSpPr>
            <p:spPr bwMode="auto">
              <a:xfrm>
                <a:off x="3243" y="3294"/>
                <a:ext cx="2359" cy="680"/>
              </a:xfrm>
              <a:prstGeom prst="ellips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</p:grpSp>
        <p:grpSp>
          <p:nvGrpSpPr>
            <p:cNvPr id="57387" name="Group 65"/>
            <p:cNvGrpSpPr>
              <a:grpSpLocks/>
            </p:cNvGrpSpPr>
            <p:nvPr/>
          </p:nvGrpSpPr>
          <p:grpSpPr bwMode="auto">
            <a:xfrm>
              <a:off x="3352" y="2882"/>
              <a:ext cx="2060" cy="1092"/>
              <a:chOff x="3379" y="2882"/>
              <a:chExt cx="2060" cy="1092"/>
            </a:xfrm>
          </p:grpSpPr>
          <p:sp>
            <p:nvSpPr>
              <p:cNvPr id="57388" name="Oval 66"/>
              <p:cNvSpPr>
                <a:spLocks noChangeArrowheads="1"/>
              </p:cNvSpPr>
              <p:nvPr/>
            </p:nvSpPr>
            <p:spPr bwMode="auto">
              <a:xfrm>
                <a:off x="3379" y="3290"/>
                <a:ext cx="1361" cy="681"/>
              </a:xfrm>
              <a:prstGeom prst="ellips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89" name="Oval 67"/>
              <p:cNvSpPr>
                <a:spLocks noChangeArrowheads="1"/>
              </p:cNvSpPr>
              <p:nvPr/>
            </p:nvSpPr>
            <p:spPr bwMode="auto">
              <a:xfrm>
                <a:off x="4078" y="3293"/>
                <a:ext cx="1361" cy="681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90" name="AutoShape 68"/>
              <p:cNvSpPr>
                <a:spLocks noChangeArrowheads="1"/>
              </p:cNvSpPr>
              <p:nvPr/>
            </p:nvSpPr>
            <p:spPr bwMode="auto">
              <a:xfrm flipV="1">
                <a:off x="3379" y="2973"/>
                <a:ext cx="1361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952 w 21600"/>
                  <a:gd name="T13" fmla="*/ 3954 h 21600"/>
                  <a:gd name="T14" fmla="*/ 17648 w 21600"/>
                  <a:gd name="T15" fmla="*/ 176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316" y="21600"/>
                    </a:lnTo>
                    <a:lnTo>
                      <a:pt x="1728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E2EDF6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91" name="AutoShape 69"/>
              <p:cNvSpPr>
                <a:spLocks noChangeArrowheads="1"/>
              </p:cNvSpPr>
              <p:nvPr/>
            </p:nvSpPr>
            <p:spPr bwMode="auto">
              <a:xfrm flipV="1">
                <a:off x="4105" y="2968"/>
                <a:ext cx="1323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245 w 21600"/>
                  <a:gd name="T13" fmla="*/ 4247 h 21600"/>
                  <a:gd name="T14" fmla="*/ 17355 w 21600"/>
                  <a:gd name="T15" fmla="*/ 1735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881" y="21600"/>
                    </a:lnTo>
                    <a:lnTo>
                      <a:pt x="1671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FFFF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92" name="AutoShape 70"/>
              <p:cNvSpPr>
                <a:spLocks noChangeArrowheads="1"/>
              </p:cNvSpPr>
              <p:nvPr/>
            </p:nvSpPr>
            <p:spPr bwMode="auto">
              <a:xfrm>
                <a:off x="3569" y="2882"/>
                <a:ext cx="817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en-US" altLang="ja-JP" sz="1600" b="1">
                    <a:solidFill>
                      <a:schemeClr val="accent2"/>
                    </a:solidFill>
                  </a:rPr>
                  <a:t>WordSpace</a:t>
                </a:r>
              </a:p>
            </p:txBody>
          </p:sp>
          <p:sp>
            <p:nvSpPr>
              <p:cNvPr id="57393" name="AutoShape 71"/>
              <p:cNvSpPr>
                <a:spLocks noChangeArrowheads="1"/>
              </p:cNvSpPr>
              <p:nvPr/>
            </p:nvSpPr>
            <p:spPr bwMode="auto">
              <a:xfrm>
                <a:off x="4423" y="2882"/>
                <a:ext cx="816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ja-JP" altLang="en-US" sz="1600" b="1">
                    <a:solidFill>
                      <a:schemeClr val="accent2"/>
                    </a:solidFill>
                  </a:rPr>
                  <a:t>相関ルール</a:t>
                </a:r>
              </a:p>
            </p:txBody>
          </p:sp>
        </p:grpSp>
      </p:grpSp>
      <p:sp>
        <p:nvSpPr>
          <p:cNvPr id="57361" name="Text Box 72"/>
          <p:cNvSpPr txBox="1">
            <a:spLocks noChangeArrowheads="1"/>
          </p:cNvSpPr>
          <p:nvPr/>
        </p:nvSpPr>
        <p:spPr bwMode="auto">
          <a:xfrm>
            <a:off x="3124201" y="3124200"/>
            <a:ext cx="1471613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概念対集合</a:t>
            </a:r>
          </a:p>
        </p:txBody>
      </p:sp>
      <p:grpSp>
        <p:nvGrpSpPr>
          <p:cNvPr id="57362" name="Group 139"/>
          <p:cNvGrpSpPr>
            <a:grpSpLocks/>
          </p:cNvGrpSpPr>
          <p:nvPr/>
        </p:nvGrpSpPr>
        <p:grpSpPr bwMode="auto">
          <a:xfrm>
            <a:off x="3124200" y="4876799"/>
            <a:ext cx="1828800" cy="1046476"/>
            <a:chOff x="3564" y="3322"/>
            <a:chExt cx="1452" cy="900"/>
          </a:xfrm>
        </p:grpSpPr>
        <p:sp>
          <p:nvSpPr>
            <p:cNvPr id="57370" name="Oval 123"/>
            <p:cNvSpPr>
              <a:spLocks noChangeArrowheads="1"/>
            </p:cNvSpPr>
            <p:nvPr/>
          </p:nvSpPr>
          <p:spPr bwMode="auto">
            <a:xfrm>
              <a:off x="3564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71" name="Oval 124"/>
            <p:cNvSpPr>
              <a:spLocks noChangeArrowheads="1"/>
            </p:cNvSpPr>
            <p:nvPr/>
          </p:nvSpPr>
          <p:spPr bwMode="auto">
            <a:xfrm>
              <a:off x="4290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72" name="AutoShape 125"/>
            <p:cNvCxnSpPr>
              <a:cxnSpLocks noChangeShapeType="1"/>
              <a:stCxn id="57370" idx="6"/>
              <a:endCxn id="57371" idx="2"/>
            </p:cNvCxnSpPr>
            <p:nvPr/>
          </p:nvCxnSpPr>
          <p:spPr bwMode="auto">
            <a:xfrm>
              <a:off x="3972" y="3513"/>
              <a:ext cx="31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73" name="Oval 126"/>
            <p:cNvSpPr>
              <a:spLocks noChangeArrowheads="1"/>
            </p:cNvSpPr>
            <p:nvPr/>
          </p:nvSpPr>
          <p:spPr bwMode="auto">
            <a:xfrm>
              <a:off x="3654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74" name="Oval 127"/>
            <p:cNvSpPr>
              <a:spLocks noChangeArrowheads="1"/>
            </p:cNvSpPr>
            <p:nvPr/>
          </p:nvSpPr>
          <p:spPr bwMode="auto">
            <a:xfrm>
              <a:off x="4426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75" name="AutoShape 128"/>
            <p:cNvCxnSpPr>
              <a:cxnSpLocks noChangeShapeType="1"/>
              <a:stCxn id="57373" idx="6"/>
              <a:endCxn id="57374" idx="2"/>
            </p:cNvCxnSpPr>
            <p:nvPr/>
          </p:nvCxnSpPr>
          <p:spPr bwMode="auto">
            <a:xfrm>
              <a:off x="4062" y="3739"/>
              <a:ext cx="36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76" name="Oval 129"/>
            <p:cNvSpPr>
              <a:spLocks noChangeArrowheads="1"/>
            </p:cNvSpPr>
            <p:nvPr/>
          </p:nvSpPr>
          <p:spPr bwMode="auto">
            <a:xfrm>
              <a:off x="3836" y="3853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77" name="Oval 130"/>
            <p:cNvSpPr>
              <a:spLocks noChangeArrowheads="1"/>
            </p:cNvSpPr>
            <p:nvPr/>
          </p:nvSpPr>
          <p:spPr bwMode="auto">
            <a:xfrm>
              <a:off x="4517" y="3854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78" name="AutoShape 131"/>
            <p:cNvCxnSpPr>
              <a:cxnSpLocks noChangeShapeType="1"/>
              <a:stCxn id="57376" idx="6"/>
              <a:endCxn id="57377" idx="2"/>
            </p:cNvCxnSpPr>
            <p:nvPr/>
          </p:nvCxnSpPr>
          <p:spPr bwMode="auto">
            <a:xfrm>
              <a:off x="4244" y="3921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79" name="Oval 132"/>
            <p:cNvSpPr>
              <a:spLocks noChangeArrowheads="1"/>
            </p:cNvSpPr>
            <p:nvPr/>
          </p:nvSpPr>
          <p:spPr bwMode="auto">
            <a:xfrm>
              <a:off x="3927" y="4079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80" name="Oval 133"/>
            <p:cNvSpPr>
              <a:spLocks noChangeArrowheads="1"/>
            </p:cNvSpPr>
            <p:nvPr/>
          </p:nvSpPr>
          <p:spPr bwMode="auto">
            <a:xfrm>
              <a:off x="4608" y="4080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81" name="AutoShape 134"/>
            <p:cNvCxnSpPr>
              <a:cxnSpLocks noChangeShapeType="1"/>
              <a:stCxn id="57379" idx="6"/>
              <a:endCxn id="57380" idx="2"/>
            </p:cNvCxnSpPr>
            <p:nvPr/>
          </p:nvCxnSpPr>
          <p:spPr bwMode="auto">
            <a:xfrm>
              <a:off x="4335" y="4147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82" name="Text Box 135"/>
            <p:cNvSpPr txBox="1">
              <a:spLocks noChangeArrowheads="1"/>
            </p:cNvSpPr>
            <p:nvPr/>
          </p:nvSpPr>
          <p:spPr bwMode="auto">
            <a:xfrm>
              <a:off x="3882" y="3322"/>
              <a:ext cx="50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has-a</a:t>
              </a:r>
            </a:p>
          </p:txBody>
        </p:sp>
        <p:sp>
          <p:nvSpPr>
            <p:cNvPr id="57383" name="Text Box 136"/>
            <p:cNvSpPr txBox="1">
              <a:spLocks noChangeArrowheads="1"/>
            </p:cNvSpPr>
            <p:nvPr/>
          </p:nvSpPr>
          <p:spPr bwMode="auto">
            <a:xfrm>
              <a:off x="4024" y="3570"/>
              <a:ext cx="358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link</a:t>
              </a:r>
            </a:p>
          </p:txBody>
        </p:sp>
        <p:sp>
          <p:nvSpPr>
            <p:cNvPr id="57384" name="Text Box 137"/>
            <p:cNvSpPr txBox="1">
              <a:spLocks noChangeArrowheads="1"/>
            </p:cNvSpPr>
            <p:nvPr/>
          </p:nvSpPr>
          <p:spPr bwMode="auto">
            <a:xfrm>
              <a:off x="4197" y="3753"/>
              <a:ext cx="368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title</a:t>
              </a:r>
            </a:p>
          </p:txBody>
        </p:sp>
        <p:sp>
          <p:nvSpPr>
            <p:cNvPr id="57385" name="Text Box 138"/>
            <p:cNvSpPr txBox="1">
              <a:spLocks noChangeArrowheads="1"/>
            </p:cNvSpPr>
            <p:nvPr/>
          </p:nvSpPr>
          <p:spPr bwMode="auto">
            <a:xfrm>
              <a:off x="4154" y="3957"/>
              <a:ext cx="55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knows</a:t>
              </a:r>
            </a:p>
          </p:txBody>
        </p:sp>
      </p:grpSp>
      <p:sp>
        <p:nvSpPr>
          <p:cNvPr id="57363" name="Oval 141"/>
          <p:cNvSpPr>
            <a:spLocks noChangeArrowheads="1"/>
          </p:cNvSpPr>
          <p:nvPr/>
        </p:nvSpPr>
        <p:spPr bwMode="auto">
          <a:xfrm>
            <a:off x="2667000" y="4495800"/>
            <a:ext cx="2667000" cy="1524000"/>
          </a:xfrm>
          <a:prstGeom prst="ellipse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7364" name="Text Box 142"/>
          <p:cNvSpPr txBox="1">
            <a:spLocks noChangeArrowheads="1"/>
          </p:cNvSpPr>
          <p:nvPr/>
        </p:nvSpPr>
        <p:spPr bwMode="auto">
          <a:xfrm>
            <a:off x="4254500" y="4089401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Comic Sans MS" charset="0"/>
              </a:rPr>
              <a:t>関係洗練</a:t>
            </a:r>
          </a:p>
        </p:txBody>
      </p:sp>
      <p:sp>
        <p:nvSpPr>
          <p:cNvPr id="57365" name="Text Box 144"/>
          <p:cNvSpPr txBox="1">
            <a:spLocks noChangeArrowheads="1"/>
          </p:cNvSpPr>
          <p:nvPr/>
        </p:nvSpPr>
        <p:spPr bwMode="auto">
          <a:xfrm>
            <a:off x="3200401" y="4572000"/>
            <a:ext cx="1712913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その他の関係</a:t>
            </a:r>
          </a:p>
        </p:txBody>
      </p:sp>
      <p:sp>
        <p:nvSpPr>
          <p:cNvPr id="57366" name="AutoShape 146"/>
          <p:cNvSpPr>
            <a:spLocks noChangeArrowheads="1"/>
          </p:cNvSpPr>
          <p:nvPr/>
        </p:nvSpPr>
        <p:spPr bwMode="auto">
          <a:xfrm rot="5400000">
            <a:off x="3732213" y="3997325"/>
            <a:ext cx="423862" cy="573088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21" name="AutoShape 146"/>
          <p:cNvSpPr>
            <a:spLocks noChangeArrowheads="1"/>
          </p:cNvSpPr>
          <p:nvPr/>
        </p:nvSpPr>
        <p:spPr bwMode="auto">
          <a:xfrm rot="2155567">
            <a:off x="7466013" y="1697038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22" name="AutoShape 146"/>
          <p:cNvSpPr>
            <a:spLocks noChangeArrowheads="1"/>
          </p:cNvSpPr>
          <p:nvPr/>
        </p:nvSpPr>
        <p:spPr bwMode="auto">
          <a:xfrm rot="8248395">
            <a:off x="8761413" y="17018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23" name="AutoShape 146"/>
          <p:cNvSpPr>
            <a:spLocks noChangeArrowheads="1"/>
          </p:cNvSpPr>
          <p:nvPr/>
        </p:nvSpPr>
        <p:spPr bwMode="auto">
          <a:xfrm rot="5400000">
            <a:off x="8277225" y="421957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Oval 4"/>
          <p:cNvSpPr>
            <a:spLocks noChangeArrowheads="1"/>
          </p:cNvSpPr>
          <p:nvPr/>
        </p:nvSpPr>
        <p:spPr bwMode="auto">
          <a:xfrm>
            <a:off x="573089" y="1154112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act</a:t>
            </a:r>
          </a:p>
        </p:txBody>
      </p:sp>
      <p:sp>
        <p:nvSpPr>
          <p:cNvPr id="58371" name="Oval 5"/>
          <p:cNvSpPr>
            <a:spLocks noChangeArrowheads="1"/>
          </p:cNvSpPr>
          <p:nvPr/>
        </p:nvSpPr>
        <p:spPr bwMode="auto">
          <a:xfrm>
            <a:off x="285751" y="2017712"/>
            <a:ext cx="898525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aim</a:t>
            </a:r>
          </a:p>
        </p:txBody>
      </p:sp>
      <p:sp>
        <p:nvSpPr>
          <p:cNvPr id="58372" name="Oval 6"/>
          <p:cNvSpPr>
            <a:spLocks noChangeArrowheads="1"/>
          </p:cNvSpPr>
          <p:nvPr/>
        </p:nvSpPr>
        <p:spPr bwMode="auto">
          <a:xfrm>
            <a:off x="1438275" y="2017712"/>
            <a:ext cx="1728788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behavior</a:t>
            </a:r>
          </a:p>
        </p:txBody>
      </p:sp>
      <p:cxnSp>
        <p:nvCxnSpPr>
          <p:cNvPr id="58373" name="AutoShape 7"/>
          <p:cNvCxnSpPr>
            <a:cxnSpLocks noChangeShapeType="1"/>
            <a:stCxn id="58371" idx="0"/>
            <a:endCxn id="58370" idx="4"/>
          </p:cNvCxnSpPr>
          <p:nvPr/>
        </p:nvCxnSpPr>
        <p:spPr bwMode="auto">
          <a:xfrm flipV="1">
            <a:off x="735013" y="1585912"/>
            <a:ext cx="703262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74" name="AutoShape 8"/>
          <p:cNvCxnSpPr>
            <a:cxnSpLocks noChangeShapeType="1"/>
            <a:stCxn id="58372" idx="0"/>
            <a:endCxn id="58370" idx="4"/>
          </p:cNvCxnSpPr>
          <p:nvPr/>
        </p:nvCxnSpPr>
        <p:spPr bwMode="auto">
          <a:xfrm flipH="1" flipV="1">
            <a:off x="1438275" y="1585912"/>
            <a:ext cx="865188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75" name="Oval 9"/>
          <p:cNvSpPr>
            <a:spLocks noChangeArrowheads="1"/>
          </p:cNvSpPr>
          <p:nvPr/>
        </p:nvSpPr>
        <p:spPr bwMode="auto">
          <a:xfrm>
            <a:off x="293688" y="4340225"/>
            <a:ext cx="647700" cy="576262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time</a:t>
            </a:r>
          </a:p>
        </p:txBody>
      </p:sp>
      <p:sp>
        <p:nvSpPr>
          <p:cNvPr id="58376" name="Oval 10"/>
          <p:cNvSpPr>
            <a:spLocks noChangeArrowheads="1"/>
          </p:cNvSpPr>
          <p:nvPr/>
        </p:nvSpPr>
        <p:spPr bwMode="auto">
          <a:xfrm>
            <a:off x="2346326" y="4340225"/>
            <a:ext cx="612775" cy="576262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offer</a:t>
            </a:r>
          </a:p>
        </p:txBody>
      </p:sp>
      <p:cxnSp>
        <p:nvCxnSpPr>
          <p:cNvPr id="58377" name="AutoShape 11"/>
          <p:cNvCxnSpPr>
            <a:cxnSpLocks noChangeShapeType="1"/>
            <a:stCxn id="58375" idx="6"/>
            <a:endCxn id="58376" idx="2"/>
          </p:cNvCxnSpPr>
          <p:nvPr/>
        </p:nvCxnSpPr>
        <p:spPr bwMode="auto">
          <a:xfrm>
            <a:off x="941389" y="4629150"/>
            <a:ext cx="140493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78" name="Text Box 12"/>
          <p:cNvSpPr txBox="1">
            <a:spLocks noChangeArrowheads="1"/>
          </p:cNvSpPr>
          <p:nvPr/>
        </p:nvSpPr>
        <p:spPr bwMode="auto">
          <a:xfrm>
            <a:off x="941389" y="4097337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attribute</a:t>
            </a:r>
          </a:p>
        </p:txBody>
      </p:sp>
      <p:sp>
        <p:nvSpPr>
          <p:cNvPr id="58379" name="Text Box 13"/>
          <p:cNvSpPr txBox="1">
            <a:spLocks noChangeArrowheads="1"/>
          </p:cNvSpPr>
          <p:nvPr/>
        </p:nvSpPr>
        <p:spPr bwMode="auto">
          <a:xfrm>
            <a:off x="1870076" y="1441450"/>
            <a:ext cx="67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is-a</a:t>
            </a:r>
          </a:p>
        </p:txBody>
      </p:sp>
      <p:sp>
        <p:nvSpPr>
          <p:cNvPr id="58380" name="Text Box 14"/>
          <p:cNvSpPr txBox="1">
            <a:spLocks noChangeArrowheads="1"/>
          </p:cNvSpPr>
          <p:nvPr/>
        </p:nvSpPr>
        <p:spPr bwMode="auto">
          <a:xfrm>
            <a:off x="357189" y="1514475"/>
            <a:ext cx="67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is-a</a:t>
            </a:r>
          </a:p>
        </p:txBody>
      </p:sp>
      <p:sp>
        <p:nvSpPr>
          <p:cNvPr id="58381" name="Rectangle 15"/>
          <p:cNvSpPr>
            <a:spLocks noChangeArrowheads="1"/>
          </p:cNvSpPr>
          <p:nvPr/>
        </p:nvSpPr>
        <p:spPr bwMode="auto">
          <a:xfrm>
            <a:off x="153988" y="896937"/>
            <a:ext cx="2881312" cy="1905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8382" name="Rectangle 16"/>
          <p:cNvSpPr>
            <a:spLocks noChangeArrowheads="1"/>
          </p:cNvSpPr>
          <p:nvPr/>
        </p:nvSpPr>
        <p:spPr bwMode="auto">
          <a:xfrm>
            <a:off x="153988" y="3563937"/>
            <a:ext cx="2881312" cy="2057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8383" name="Text Box 17"/>
          <p:cNvSpPr txBox="1">
            <a:spLocks noChangeArrowheads="1"/>
          </p:cNvSpPr>
          <p:nvPr/>
        </p:nvSpPr>
        <p:spPr bwMode="auto">
          <a:xfrm>
            <a:off x="153988" y="433070"/>
            <a:ext cx="2881312" cy="4667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400"/>
              <a:t>階層関係</a:t>
            </a:r>
          </a:p>
        </p:txBody>
      </p:sp>
      <p:sp>
        <p:nvSpPr>
          <p:cNvPr id="58384" name="Text Box 18"/>
          <p:cNvSpPr txBox="1">
            <a:spLocks noChangeArrowheads="1"/>
          </p:cNvSpPr>
          <p:nvPr/>
        </p:nvSpPr>
        <p:spPr bwMode="auto">
          <a:xfrm>
            <a:off x="153988" y="3097212"/>
            <a:ext cx="2881312" cy="4667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400"/>
              <a:t>非階層関係</a:t>
            </a:r>
          </a:p>
        </p:txBody>
      </p:sp>
      <p:sp>
        <p:nvSpPr>
          <p:cNvPr id="58385" name="Text Box 20"/>
          <p:cNvSpPr txBox="1">
            <a:spLocks noChangeArrowheads="1"/>
          </p:cNvSpPr>
          <p:nvPr/>
        </p:nvSpPr>
        <p:spPr bwMode="auto">
          <a:xfrm>
            <a:off x="5397501" y="4322762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attribute</a:t>
            </a:r>
          </a:p>
        </p:txBody>
      </p:sp>
      <p:sp>
        <p:nvSpPr>
          <p:cNvPr id="58386" name="Oval 21"/>
          <p:cNvSpPr>
            <a:spLocks noChangeArrowheads="1"/>
          </p:cNvSpPr>
          <p:nvPr/>
        </p:nvSpPr>
        <p:spPr bwMode="auto">
          <a:xfrm>
            <a:off x="5326064" y="1587500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act</a:t>
            </a:r>
          </a:p>
        </p:txBody>
      </p:sp>
      <p:sp>
        <p:nvSpPr>
          <p:cNvPr id="58387" name="Oval 22"/>
          <p:cNvSpPr>
            <a:spLocks noChangeArrowheads="1"/>
          </p:cNvSpPr>
          <p:nvPr/>
        </p:nvSpPr>
        <p:spPr bwMode="auto">
          <a:xfrm>
            <a:off x="4728373" y="2308225"/>
            <a:ext cx="898525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/>
              <a:t>aim</a:t>
            </a:r>
          </a:p>
        </p:txBody>
      </p:sp>
      <p:sp>
        <p:nvSpPr>
          <p:cNvPr id="58388" name="Oval 23"/>
          <p:cNvSpPr>
            <a:spLocks noChangeArrowheads="1"/>
          </p:cNvSpPr>
          <p:nvPr/>
        </p:nvSpPr>
        <p:spPr bwMode="auto">
          <a:xfrm>
            <a:off x="6312698" y="2308225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behavior</a:t>
            </a:r>
          </a:p>
        </p:txBody>
      </p:sp>
      <p:cxnSp>
        <p:nvCxnSpPr>
          <p:cNvPr id="58389" name="AutoShape 24"/>
          <p:cNvCxnSpPr>
            <a:cxnSpLocks noChangeShapeType="1"/>
            <a:stCxn id="58387" idx="0"/>
            <a:endCxn id="58386" idx="4"/>
          </p:cNvCxnSpPr>
          <p:nvPr/>
        </p:nvCxnSpPr>
        <p:spPr bwMode="auto">
          <a:xfrm flipV="1">
            <a:off x="5177636" y="2019300"/>
            <a:ext cx="1012822" cy="288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0" name="AutoShape 25"/>
          <p:cNvCxnSpPr>
            <a:cxnSpLocks noChangeShapeType="1"/>
            <a:stCxn id="58388" idx="0"/>
            <a:endCxn id="58386" idx="4"/>
          </p:cNvCxnSpPr>
          <p:nvPr/>
        </p:nvCxnSpPr>
        <p:spPr bwMode="auto">
          <a:xfrm flipH="1" flipV="1">
            <a:off x="6190458" y="2019300"/>
            <a:ext cx="986634" cy="288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1" name="AutoShape 26"/>
          <p:cNvCxnSpPr>
            <a:cxnSpLocks noChangeShapeType="1"/>
            <a:stCxn id="58387" idx="0"/>
            <a:endCxn id="58409" idx="3"/>
          </p:cNvCxnSpPr>
          <p:nvPr/>
        </p:nvCxnSpPr>
        <p:spPr bwMode="auto">
          <a:xfrm flipV="1">
            <a:off x="5177636" y="1235339"/>
            <a:ext cx="401603" cy="107288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2" name="AutoShape 27"/>
          <p:cNvCxnSpPr>
            <a:cxnSpLocks noChangeShapeType="1"/>
            <a:stCxn id="58386" idx="0"/>
            <a:endCxn id="58409" idx="4"/>
          </p:cNvCxnSpPr>
          <p:nvPr/>
        </p:nvCxnSpPr>
        <p:spPr bwMode="auto">
          <a:xfrm flipV="1">
            <a:off x="6191250" y="1298576"/>
            <a:ext cx="0" cy="2889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3" name="AutoShape 28"/>
          <p:cNvCxnSpPr>
            <a:cxnSpLocks noChangeShapeType="1"/>
            <a:stCxn id="58388" idx="0"/>
            <a:endCxn id="58409" idx="5"/>
          </p:cNvCxnSpPr>
          <p:nvPr/>
        </p:nvCxnSpPr>
        <p:spPr bwMode="auto">
          <a:xfrm flipH="1" flipV="1">
            <a:off x="6801676" y="1235339"/>
            <a:ext cx="375416" cy="1072886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4" name="AutoShape 30"/>
          <p:cNvCxnSpPr>
            <a:cxnSpLocks noChangeShapeType="1"/>
            <a:stCxn id="58385" idx="2"/>
            <a:endCxn id="58411" idx="0"/>
          </p:cNvCxnSpPr>
          <p:nvPr/>
        </p:nvCxnSpPr>
        <p:spPr bwMode="auto">
          <a:xfrm flipH="1">
            <a:off x="4699000" y="4779962"/>
            <a:ext cx="1341438" cy="406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5" name="AutoShape 31"/>
          <p:cNvCxnSpPr>
            <a:cxnSpLocks noChangeShapeType="1"/>
            <a:stCxn id="58385" idx="2"/>
            <a:endCxn id="58412" idx="0"/>
          </p:cNvCxnSpPr>
          <p:nvPr/>
        </p:nvCxnSpPr>
        <p:spPr bwMode="auto">
          <a:xfrm>
            <a:off x="6040439" y="4779962"/>
            <a:ext cx="1482725" cy="406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96" name="Text Box 32"/>
          <p:cNvSpPr txBox="1">
            <a:spLocks noChangeArrowheads="1"/>
          </p:cNvSpPr>
          <p:nvPr/>
        </p:nvSpPr>
        <p:spPr bwMode="auto">
          <a:xfrm>
            <a:off x="4010821" y="4597400"/>
            <a:ext cx="1509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/>
              <a:t>rdfs:domain</a:t>
            </a:r>
          </a:p>
        </p:txBody>
      </p:sp>
      <p:sp>
        <p:nvSpPr>
          <p:cNvPr id="58397" name="Text Box 33"/>
          <p:cNvSpPr txBox="1">
            <a:spLocks noChangeArrowheads="1"/>
          </p:cNvSpPr>
          <p:nvPr/>
        </p:nvSpPr>
        <p:spPr bwMode="auto">
          <a:xfrm>
            <a:off x="6665119" y="4568824"/>
            <a:ext cx="1325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 dirty="0" err="1"/>
              <a:t>rdfs:range</a:t>
            </a:r>
            <a:endParaRPr lang="en-US" altLang="ja-JP" sz="2000" dirty="0"/>
          </a:p>
        </p:txBody>
      </p:sp>
      <p:sp>
        <p:nvSpPr>
          <p:cNvPr id="58398" name="Oval 34"/>
          <p:cNvSpPr>
            <a:spLocks noChangeArrowheads="1"/>
          </p:cNvSpPr>
          <p:nvPr/>
        </p:nvSpPr>
        <p:spPr bwMode="auto">
          <a:xfrm>
            <a:off x="5182394" y="3603624"/>
            <a:ext cx="1728788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 err="1"/>
              <a:t>owl:ObjectProperty</a:t>
            </a:r>
            <a:endParaRPr lang="en-US" altLang="ja-JP" sz="2000" dirty="0"/>
          </a:p>
        </p:txBody>
      </p:sp>
      <p:sp>
        <p:nvSpPr>
          <p:cNvPr id="58399" name="Rectangle 35"/>
          <p:cNvSpPr>
            <a:spLocks noChangeArrowheads="1"/>
          </p:cNvSpPr>
          <p:nvPr/>
        </p:nvSpPr>
        <p:spPr bwMode="auto">
          <a:xfrm>
            <a:off x="3886201" y="866775"/>
            <a:ext cx="4537075" cy="19431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58400" name="AutoShape 36"/>
          <p:cNvCxnSpPr>
            <a:cxnSpLocks noChangeShapeType="1"/>
            <a:stCxn id="58385" idx="0"/>
            <a:endCxn id="58398" idx="4"/>
          </p:cNvCxnSpPr>
          <p:nvPr/>
        </p:nvCxnSpPr>
        <p:spPr bwMode="auto">
          <a:xfrm flipV="1">
            <a:off x="6040439" y="4035424"/>
            <a:ext cx="6349" cy="28733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401" name="Rectangle 37"/>
          <p:cNvSpPr>
            <a:spLocks noChangeArrowheads="1"/>
          </p:cNvSpPr>
          <p:nvPr/>
        </p:nvSpPr>
        <p:spPr bwMode="auto">
          <a:xfrm>
            <a:off x="3886201" y="3563938"/>
            <a:ext cx="4537075" cy="20542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58402" name="AutoShape 38"/>
          <p:cNvCxnSpPr>
            <a:cxnSpLocks noChangeShapeType="1"/>
          </p:cNvCxnSpPr>
          <p:nvPr/>
        </p:nvCxnSpPr>
        <p:spPr bwMode="auto">
          <a:xfrm>
            <a:off x="6189663" y="5984875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403" name="Text Box 39"/>
          <p:cNvSpPr txBox="1">
            <a:spLocks noChangeArrowheads="1"/>
          </p:cNvSpPr>
          <p:nvPr/>
        </p:nvSpPr>
        <p:spPr bwMode="auto">
          <a:xfrm>
            <a:off x="7342188" y="5762626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/>
              <a:t>rdf:type</a:t>
            </a:r>
          </a:p>
        </p:txBody>
      </p:sp>
      <p:sp>
        <p:nvSpPr>
          <p:cNvPr id="58404" name="Rectangle 40"/>
          <p:cNvSpPr>
            <a:spLocks noChangeArrowheads="1"/>
          </p:cNvSpPr>
          <p:nvPr/>
        </p:nvSpPr>
        <p:spPr bwMode="auto">
          <a:xfrm>
            <a:off x="6045200" y="5697537"/>
            <a:ext cx="2376488" cy="5032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8405" name="Text Box 41"/>
          <p:cNvSpPr txBox="1">
            <a:spLocks noChangeArrowheads="1"/>
          </p:cNvSpPr>
          <p:nvPr/>
        </p:nvSpPr>
        <p:spPr bwMode="auto">
          <a:xfrm>
            <a:off x="6542088" y="1801813"/>
            <a:ext cx="18097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rdfs:subClassOf</a:t>
            </a:r>
          </a:p>
        </p:txBody>
      </p:sp>
      <p:sp>
        <p:nvSpPr>
          <p:cNvPr id="58406" name="Text Box 42"/>
          <p:cNvSpPr txBox="1">
            <a:spLocks noChangeArrowheads="1"/>
          </p:cNvSpPr>
          <p:nvPr/>
        </p:nvSpPr>
        <p:spPr bwMode="auto">
          <a:xfrm>
            <a:off x="3957638" y="1801813"/>
            <a:ext cx="18097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rdfs:subClassOf</a:t>
            </a:r>
          </a:p>
        </p:txBody>
      </p:sp>
      <p:sp>
        <p:nvSpPr>
          <p:cNvPr id="58407" name="Text Box 43"/>
          <p:cNvSpPr txBox="1">
            <a:spLocks noChangeArrowheads="1"/>
          </p:cNvSpPr>
          <p:nvPr/>
        </p:nvSpPr>
        <p:spPr bwMode="auto">
          <a:xfrm>
            <a:off x="3886200" y="409575"/>
            <a:ext cx="4535488" cy="4619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400"/>
              <a:t>階層関係 </a:t>
            </a:r>
            <a:r>
              <a:rPr lang="en-US" altLang="ja-JP" sz="2400" dirty="0"/>
              <a:t>(RDF</a:t>
            </a:r>
            <a:r>
              <a:rPr lang="ja-JP" altLang="en-US" sz="2400"/>
              <a:t>モデル</a:t>
            </a:r>
            <a:r>
              <a:rPr lang="en-US" altLang="ja-JP" sz="2400" dirty="0"/>
              <a:t>)</a:t>
            </a:r>
          </a:p>
        </p:txBody>
      </p:sp>
      <p:sp>
        <p:nvSpPr>
          <p:cNvPr id="58408" name="Text Box 44"/>
          <p:cNvSpPr txBox="1">
            <a:spLocks noChangeArrowheads="1"/>
          </p:cNvSpPr>
          <p:nvPr/>
        </p:nvSpPr>
        <p:spPr bwMode="auto">
          <a:xfrm>
            <a:off x="3886201" y="3106738"/>
            <a:ext cx="4535487" cy="4619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400"/>
              <a:t>非階層関係 </a:t>
            </a:r>
            <a:r>
              <a:rPr lang="en-US" altLang="ja-JP" sz="2400" dirty="0"/>
              <a:t>(RDF</a:t>
            </a:r>
            <a:r>
              <a:rPr lang="ja-JP" altLang="en-US" sz="2400"/>
              <a:t>モデル</a:t>
            </a:r>
            <a:r>
              <a:rPr lang="en-US" altLang="ja-JP" sz="2400" dirty="0"/>
              <a:t>)</a:t>
            </a:r>
          </a:p>
        </p:txBody>
      </p:sp>
      <p:sp>
        <p:nvSpPr>
          <p:cNvPr id="58409" name="Oval 45"/>
          <p:cNvSpPr>
            <a:spLocks noChangeArrowheads="1"/>
          </p:cNvSpPr>
          <p:nvPr/>
        </p:nvSpPr>
        <p:spPr bwMode="auto">
          <a:xfrm>
            <a:off x="5326064" y="866775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/>
              <a:t>owl:Class</a:t>
            </a:r>
          </a:p>
        </p:txBody>
      </p:sp>
      <p:cxnSp>
        <p:nvCxnSpPr>
          <p:cNvPr id="58410" name="AutoShape 46"/>
          <p:cNvCxnSpPr>
            <a:cxnSpLocks noChangeShapeType="1"/>
            <a:stCxn id="58411" idx="3"/>
            <a:endCxn id="58413" idx="1"/>
          </p:cNvCxnSpPr>
          <p:nvPr/>
        </p:nvCxnSpPr>
        <p:spPr bwMode="auto">
          <a:xfrm>
            <a:off x="5078413" y="5414963"/>
            <a:ext cx="392112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411" name="Text Box 47"/>
          <p:cNvSpPr txBox="1">
            <a:spLocks noChangeArrowheads="1"/>
          </p:cNvSpPr>
          <p:nvPr/>
        </p:nvSpPr>
        <p:spPr bwMode="auto">
          <a:xfrm>
            <a:off x="4318001" y="5186362"/>
            <a:ext cx="76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time</a:t>
            </a:r>
          </a:p>
        </p:txBody>
      </p:sp>
      <p:sp>
        <p:nvSpPr>
          <p:cNvPr id="58412" name="Text Box 48"/>
          <p:cNvSpPr txBox="1">
            <a:spLocks noChangeArrowheads="1"/>
          </p:cNvSpPr>
          <p:nvPr/>
        </p:nvSpPr>
        <p:spPr bwMode="auto">
          <a:xfrm>
            <a:off x="7126288" y="5186362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offer</a:t>
            </a:r>
          </a:p>
        </p:txBody>
      </p:sp>
      <p:sp>
        <p:nvSpPr>
          <p:cNvPr id="58413" name="Rectangle 49"/>
          <p:cNvSpPr>
            <a:spLocks noChangeArrowheads="1"/>
          </p:cNvSpPr>
          <p:nvPr/>
        </p:nvSpPr>
        <p:spPr bwMode="auto">
          <a:xfrm>
            <a:off x="5470526" y="5221288"/>
            <a:ext cx="1273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/>
              <a:t>owl:Class</a:t>
            </a:r>
          </a:p>
        </p:txBody>
      </p:sp>
      <p:cxnSp>
        <p:nvCxnSpPr>
          <p:cNvPr id="58414" name="AutoShape 50"/>
          <p:cNvCxnSpPr>
            <a:cxnSpLocks noChangeShapeType="1"/>
            <a:stCxn id="58412" idx="1"/>
            <a:endCxn id="58413" idx="3"/>
          </p:cNvCxnSpPr>
          <p:nvPr/>
        </p:nvCxnSpPr>
        <p:spPr bwMode="auto">
          <a:xfrm flipH="1">
            <a:off x="6743700" y="5414963"/>
            <a:ext cx="382588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正方形/長方形 46"/>
          <p:cNvSpPr/>
          <p:nvPr/>
        </p:nvSpPr>
        <p:spPr>
          <a:xfrm>
            <a:off x="9205913" y="896937"/>
            <a:ext cx="6400800" cy="50165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600" dirty="0"/>
              <a:t>&lt;</a:t>
            </a:r>
            <a:r>
              <a:rPr lang="en-US" altLang="ja-JP" sz="1600" dirty="0" err="1"/>
              <a:t>rdf:RDF</a:t>
            </a:r>
            <a:endParaRPr lang="en-US" altLang="ja-JP" sz="1600" dirty="0"/>
          </a:p>
          <a:p>
            <a:pPr>
              <a:defRPr/>
            </a:pPr>
            <a:r>
              <a:rPr lang="en-US" altLang="ja-JP" sz="1600" dirty="0"/>
              <a:t>    </a:t>
            </a:r>
            <a:r>
              <a:rPr lang="en-US" altLang="ja-JP" sz="1600" dirty="0" err="1"/>
              <a:t>xmlns:rdf</a:t>
            </a:r>
            <a:r>
              <a:rPr lang="en-US" altLang="ja-JP" sz="1600" dirty="0"/>
              <a:t>="http://www.w3.org/1999/02/22-rdf-syntax-ns#"</a:t>
            </a:r>
          </a:p>
          <a:p>
            <a:pPr>
              <a:defRPr/>
            </a:pPr>
            <a:r>
              <a:rPr lang="en-US" altLang="ja-JP" sz="1600" dirty="0"/>
              <a:t>    </a:t>
            </a:r>
            <a:r>
              <a:rPr lang="en-US" altLang="ja-JP" sz="1600" dirty="0" err="1"/>
              <a:t>xmlns:owl</a:t>
            </a:r>
            <a:r>
              <a:rPr lang="en-US" altLang="ja-JP" sz="1600" dirty="0"/>
              <a:t>="http://www.w3.org/2002/07/owl#"</a:t>
            </a:r>
          </a:p>
          <a:p>
            <a:pPr>
              <a:defRPr/>
            </a:pPr>
            <a:r>
              <a:rPr lang="en-US" altLang="ja-JP" sz="1600" dirty="0"/>
              <a:t>    </a:t>
            </a:r>
            <a:r>
              <a:rPr lang="en-US" altLang="ja-JP" sz="1600" dirty="0" err="1"/>
              <a:t>xmlns:rdfs</a:t>
            </a:r>
            <a:r>
              <a:rPr lang="en-US" altLang="ja-JP" sz="1600" dirty="0"/>
              <a:t>="http://www.w3.org/2000/01/rdf-schema#"</a:t>
            </a:r>
          </a:p>
          <a:p>
            <a:pPr>
              <a:defRPr/>
            </a:pPr>
            <a:r>
              <a:rPr lang="en-US" altLang="ja-JP" sz="1600" dirty="0"/>
              <a:t>  </a:t>
            </a:r>
            <a:r>
              <a:rPr lang="en-US" altLang="ja-JP" sz="1600" dirty="0" err="1"/>
              <a:t>xml:base</a:t>
            </a:r>
            <a:r>
              <a:rPr lang="en-US" altLang="ja-JP" sz="1600" dirty="0"/>
              <a:t>="http://www.yamaguti.comp.ae.keio.ac.jp/mmm/doddle/"&gt;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="behavior"&gt;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rdfs:subClassOf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  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="act"/&gt;</a:t>
            </a:r>
          </a:p>
          <a:p>
            <a:pPr>
              <a:defRPr/>
            </a:pPr>
            <a:r>
              <a:rPr lang="en-US" altLang="ja-JP" sz="1600" dirty="0"/>
              <a:t>    &lt;/</a:t>
            </a:r>
            <a:r>
              <a:rPr lang="en-US" altLang="ja-JP" sz="1600" dirty="0" err="1"/>
              <a:t>rdfs:subClassOf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&lt;/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="time"/&gt;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="aim"&gt;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rdfs:subClassOf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rdf:resource</a:t>
            </a:r>
            <a:r>
              <a:rPr lang="en-US" altLang="ja-JP" sz="1600" dirty="0"/>
              <a:t>="#act"/&gt;</a:t>
            </a:r>
          </a:p>
          <a:p>
            <a:pPr>
              <a:defRPr/>
            </a:pPr>
            <a:r>
              <a:rPr lang="en-US" altLang="ja-JP" sz="1600" dirty="0"/>
              <a:t>  &lt;/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="offer"/&gt;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owl:ObjectProperty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="attribute"&gt;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rdfs:domain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rdf:resource</a:t>
            </a:r>
            <a:r>
              <a:rPr lang="en-US" altLang="ja-JP" sz="1600" dirty="0"/>
              <a:t>="#time"/&gt;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rdfs:range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rdf:resource</a:t>
            </a:r>
            <a:r>
              <a:rPr lang="en-US" altLang="ja-JP" sz="1600" dirty="0"/>
              <a:t>="#offer"/&gt;</a:t>
            </a:r>
          </a:p>
          <a:p>
            <a:pPr>
              <a:defRPr/>
            </a:pPr>
            <a:r>
              <a:rPr lang="en-US" altLang="ja-JP" sz="1600" dirty="0"/>
              <a:t>  &lt;/</a:t>
            </a:r>
            <a:r>
              <a:rPr lang="en-US" altLang="ja-JP" sz="1600" dirty="0" err="1"/>
              <a:t>owl:ObjectProperty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&lt;/</a:t>
            </a:r>
            <a:r>
              <a:rPr lang="en-US" altLang="ja-JP" sz="1600" dirty="0" err="1"/>
              <a:t>rdf:RDF</a:t>
            </a:r>
            <a:r>
              <a:rPr lang="en-US" altLang="ja-JP" sz="1600" dirty="0"/>
              <a:t>&gt;</a:t>
            </a:r>
          </a:p>
        </p:txBody>
      </p:sp>
      <p:sp>
        <p:nvSpPr>
          <p:cNvPr id="58416" name="Text Box 43"/>
          <p:cNvSpPr txBox="1">
            <a:spLocks noChangeArrowheads="1"/>
          </p:cNvSpPr>
          <p:nvPr/>
        </p:nvSpPr>
        <p:spPr bwMode="auto">
          <a:xfrm>
            <a:off x="9205913" y="428625"/>
            <a:ext cx="6400800" cy="4619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400"/>
              <a:t> </a:t>
            </a:r>
            <a:r>
              <a:rPr lang="en-US" altLang="ja-JP" sz="2400" dirty="0"/>
              <a:t>OWL</a:t>
            </a:r>
            <a:r>
              <a:rPr lang="ja-JP" altLang="en-US" sz="2400"/>
              <a:t>オントロジー</a:t>
            </a:r>
            <a:r>
              <a:rPr lang="en-US" altLang="ja-JP" sz="2400" dirty="0"/>
              <a:t>(RDF/XML</a:t>
            </a:r>
            <a:r>
              <a:rPr lang="ja-JP" altLang="en-US" sz="2400"/>
              <a:t>形式</a:t>
            </a:r>
            <a:r>
              <a:rPr lang="en-US" altLang="ja-JP" sz="2400" dirty="0"/>
              <a:t>)</a:t>
            </a:r>
          </a:p>
        </p:txBody>
      </p:sp>
      <p:sp>
        <p:nvSpPr>
          <p:cNvPr id="49" name="AutoShape 146"/>
          <p:cNvSpPr>
            <a:spLocks noChangeArrowheads="1"/>
          </p:cNvSpPr>
          <p:nvPr/>
        </p:nvSpPr>
        <p:spPr bwMode="auto">
          <a:xfrm>
            <a:off x="3111500" y="1430337"/>
            <a:ext cx="685800" cy="8382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0" name="AutoShape 146"/>
          <p:cNvSpPr>
            <a:spLocks noChangeArrowheads="1"/>
          </p:cNvSpPr>
          <p:nvPr/>
        </p:nvSpPr>
        <p:spPr bwMode="auto">
          <a:xfrm>
            <a:off x="3111500" y="4173537"/>
            <a:ext cx="685800" cy="8382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1" name="AutoShape 146"/>
          <p:cNvSpPr>
            <a:spLocks noChangeArrowheads="1"/>
          </p:cNvSpPr>
          <p:nvPr/>
        </p:nvSpPr>
        <p:spPr bwMode="auto">
          <a:xfrm>
            <a:off x="8483602" y="2566987"/>
            <a:ext cx="685800" cy="8382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1371600" y="4395788"/>
            <a:ext cx="11049000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>
                <a:latin typeface="Meiryo" charset="-128"/>
                <a:ea typeface="Meiryo" charset="-128"/>
                <a:cs typeface="Meiryo" charset="-128"/>
              </a:rPr>
              <a:t>Java VM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12725400" y="3215557"/>
            <a:ext cx="1219200" cy="6468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Apache</a:t>
            </a:r>
          </a:p>
          <a:p>
            <a:pPr algn="ctr" eaLnBrk="1" hangingPunct="1"/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Jena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9982200" y="3215557"/>
            <a:ext cx="1219200" cy="6468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>
                <a:latin typeface="Meiryo" charset="-128"/>
                <a:ea typeface="Meiryo" charset="-128"/>
                <a:cs typeface="Meiryo" charset="-128"/>
              </a:rPr>
              <a:t>MR</a:t>
            </a:r>
            <a:r>
              <a:rPr lang="en-US" altLang="ja-JP" sz="2000" baseline="30000">
                <a:latin typeface="Meiryo" charset="-128"/>
                <a:ea typeface="Meiryo" charset="-128"/>
                <a:cs typeface="Meiryo" charset="-128"/>
              </a:rPr>
              <a:t>3</a:t>
            </a: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9982200" y="2556135"/>
            <a:ext cx="1219200" cy="659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視覚化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12725400" y="2556135"/>
            <a:ext cx="1219200" cy="659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変換</a:t>
            </a:r>
            <a:endParaRPr lang="en-US" altLang="ja-JP" b="1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b="1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7303958" y="2556135"/>
            <a:ext cx="2678242" cy="659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オントロジー構築・洗練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3502702" y="2556134"/>
            <a:ext cx="3807502" cy="3714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 dirty="0">
                <a:latin typeface="Meiryo" charset="-128"/>
                <a:ea typeface="Meiryo" charset="-128"/>
                <a:cs typeface="Meiryo" charset="-128"/>
              </a:rPr>
              <a:t>入力モジュール</a:t>
            </a:r>
            <a:endParaRPr lang="en-US" altLang="ja-JP" sz="2000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7303958" y="3215557"/>
            <a:ext cx="2678242" cy="6468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extJWNL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2" name="Rectangle 10"/>
          <p:cNvSpPr>
            <a:spLocks noChangeArrowheads="1"/>
          </p:cNvSpPr>
          <p:nvPr/>
        </p:nvSpPr>
        <p:spPr bwMode="auto">
          <a:xfrm>
            <a:off x="3505200" y="3215557"/>
            <a:ext cx="1752600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Stanford Parser</a:t>
            </a:r>
          </a:p>
        </p:txBody>
      </p:sp>
      <p:sp>
        <p:nvSpPr>
          <p:cNvPr id="59405" name="Rectangle 9"/>
          <p:cNvSpPr>
            <a:spLocks noChangeArrowheads="1"/>
          </p:cNvSpPr>
          <p:nvPr/>
        </p:nvSpPr>
        <p:spPr bwMode="auto">
          <a:xfrm>
            <a:off x="1371600" y="3862387"/>
            <a:ext cx="11049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>
                <a:latin typeface="Meiryo" charset="-128"/>
                <a:ea typeface="Meiryo" charset="-128"/>
                <a:cs typeface="Meiryo" charset="-128"/>
              </a:rPr>
              <a:t>Java Swing</a:t>
            </a:r>
          </a:p>
        </p:txBody>
      </p:sp>
      <p:sp>
        <p:nvSpPr>
          <p:cNvPr id="59406" name="Rectangle 9"/>
          <p:cNvSpPr>
            <a:spLocks noChangeArrowheads="1"/>
          </p:cNvSpPr>
          <p:nvPr/>
        </p:nvSpPr>
        <p:spPr bwMode="auto">
          <a:xfrm>
            <a:off x="1371600" y="3215557"/>
            <a:ext cx="2133600" cy="64683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Swoogle</a:t>
            </a:r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 </a:t>
            </a:r>
          </a:p>
          <a:p>
            <a:pPr algn="ctr" eaLnBrk="1" hangingPunct="1"/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Web</a:t>
            </a:r>
            <a:r>
              <a:rPr lang="ja-JP" altLang="en-US" sz="2000" dirty="0">
                <a:latin typeface="Meiryo" charset="-128"/>
                <a:ea typeface="Meiryo" charset="-128"/>
                <a:cs typeface="Meiryo" charset="-128"/>
              </a:rPr>
              <a:t>サービス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7" name="Rectangle 8"/>
          <p:cNvSpPr>
            <a:spLocks noChangeArrowheads="1"/>
          </p:cNvSpPr>
          <p:nvPr/>
        </p:nvSpPr>
        <p:spPr bwMode="auto">
          <a:xfrm>
            <a:off x="1370351" y="2556135"/>
            <a:ext cx="2133600" cy="6720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 dirty="0">
                <a:latin typeface="Meiryo" charset="-128"/>
                <a:ea typeface="Meiryo" charset="-128"/>
                <a:cs typeface="Meiryo" charset="-128"/>
              </a:rPr>
              <a:t>オントロジー選択</a:t>
            </a:r>
            <a:endParaRPr lang="en-US" altLang="ja-JP" sz="2000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sz="2000" b="1" dirty="0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sz="2000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8" name="Rectangle 10"/>
          <p:cNvSpPr>
            <a:spLocks noChangeArrowheads="1"/>
          </p:cNvSpPr>
          <p:nvPr/>
        </p:nvSpPr>
        <p:spPr bwMode="auto">
          <a:xfrm>
            <a:off x="3502702" y="2927557"/>
            <a:ext cx="1750102" cy="28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>
                <a:latin typeface="Meiryo" charset="-128"/>
                <a:ea typeface="Meiryo" charset="-128"/>
                <a:cs typeface="Meiryo" charset="-128"/>
              </a:rPr>
              <a:t>CaboCha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9" name="Rectangle 10"/>
          <p:cNvSpPr>
            <a:spLocks noChangeArrowheads="1"/>
          </p:cNvSpPr>
          <p:nvPr/>
        </p:nvSpPr>
        <p:spPr bwMode="auto">
          <a:xfrm>
            <a:off x="3502702" y="3538387"/>
            <a:ext cx="1752600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Apache POI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5257800" y="3538387"/>
            <a:ext cx="2054902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Apache </a:t>
            </a:r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PDFBox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255302" y="3215557"/>
            <a:ext cx="2057400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lucene-gosen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260298" y="2927557"/>
            <a:ext cx="2049906" cy="28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dirty="0">
                <a:latin typeface="Meiryo" charset="-128"/>
                <a:ea typeface="Meiryo" charset="-128"/>
                <a:cs typeface="Meiryo" charset="-128"/>
              </a:rPr>
              <a:t>言選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ChangeArrowheads="1"/>
          </p:cNvSpPr>
          <p:nvPr/>
        </p:nvSpPr>
        <p:spPr bwMode="auto">
          <a:xfrm>
            <a:off x="1524000" y="304801"/>
            <a:ext cx="9296400" cy="1744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pt-BR" altLang="ja-JP" sz="1200"/>
              <a:t>PREFIX daml03: &lt;http://www.daml.org/2001/03/daml+oil#&gt;</a:t>
            </a:r>
          </a:p>
          <a:p>
            <a:pPr eaLnBrk="1" hangingPunct="1"/>
            <a:r>
              <a:rPr lang="pt-BR" altLang="ja-JP" sz="1200"/>
              <a:t>PREFIX daml10: &lt;http://www.w3.org/2001/10/daml+oil#&gt;</a:t>
            </a:r>
            <a:endParaRPr lang="en-US" altLang="ja-JP" sz="1200"/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?label ?description 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{?concept rdfs:label ?label} UNION {?concept rdfs:comment ?description} UNION  {?concept daml03:label ?label} UNION   </a:t>
            </a:r>
          </a:p>
          <a:p>
            <a:pPr eaLnBrk="1" hangingPunct="1"/>
            <a:r>
              <a:rPr lang="en-US" altLang="ja-JP" sz="1200"/>
              <a:t>   {?concept daml03:comment ?description} UNION {?concept daml10:label ?label} UNION  {?concept daml10:comment ?description} 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0419" name="Text Box 6"/>
          <p:cNvSpPr txBox="1">
            <a:spLocks noChangeArrowheads="1"/>
          </p:cNvSpPr>
          <p:nvPr/>
        </p:nvSpPr>
        <p:spPr bwMode="auto">
          <a:xfrm>
            <a:off x="1524000" y="0"/>
            <a:ext cx="2381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ラベル・説明抽出テンプレート</a:t>
            </a:r>
          </a:p>
        </p:txBody>
      </p:sp>
      <p:sp>
        <p:nvSpPr>
          <p:cNvPr id="60420" name="Rectangle 10"/>
          <p:cNvSpPr>
            <a:spLocks noChangeArrowheads="1"/>
          </p:cNvSpPr>
          <p:nvPr/>
        </p:nvSpPr>
        <p:spPr bwMode="auto">
          <a:xfrm>
            <a:off x="1524000" y="2362201"/>
            <a:ext cx="11125200" cy="1744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 rdfs: &lt;http://www.w3.org/2000/01/rdf-schema#&gt; </a:t>
            </a:r>
          </a:p>
          <a:p>
            <a:pPr eaLnBrk="1" hangingPunct="1"/>
            <a:r>
              <a:rPr lang="pt-BR" altLang="ja-JP" sz="1200"/>
              <a:t>PREFIX daml03: &lt;http://www.daml.org/2001/03/daml+oil#&gt;</a:t>
            </a:r>
          </a:p>
          <a:p>
            <a:pPr eaLnBrk="1" hangingPunct="1"/>
            <a:r>
              <a:rPr lang="pt-BR" altLang="ja-JP" sz="1200"/>
              <a:t>PREFIX daml10: &lt;http://www.w3.org/2001/10/daml+oil#&gt;</a:t>
            </a:r>
            <a:endParaRPr lang="en-US" altLang="ja-JP" sz="1200"/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?subConcept </a:t>
            </a:r>
          </a:p>
          <a:p>
            <a:pPr eaLnBrk="1" hangingPunct="1"/>
            <a:r>
              <a:rPr lang="en-US" altLang="ja-JP" sz="1200"/>
              <a:t>WHERE { </a:t>
            </a:r>
          </a:p>
          <a:p>
            <a:pPr eaLnBrk="1" hangingPunct="1"/>
            <a:r>
              <a:rPr lang="en-US" altLang="ja-JP" sz="1200"/>
              <a:t>    {?subConcept rdfs:subClassOf ?concept} UNION {?subConcept rdfs:subPropertyOf ?concept} UNION {?subConcept daml03:subClassOf ?concept} UNION</a:t>
            </a:r>
          </a:p>
          <a:p>
            <a:pPr eaLnBrk="1" hangingPunct="1"/>
            <a:r>
              <a:rPr lang="en-US" altLang="ja-JP" sz="1200"/>
              <a:t>    {?subConcept daml03:subPropertyOf ?concept} UNION {?subConcept daml10:subClassOf ?concept} UNION {?subConcept daml10:subPropertyOf ?concept}</a:t>
            </a:r>
          </a:p>
          <a:p>
            <a:pPr eaLnBrk="1" hangingPunct="1"/>
            <a:r>
              <a:rPr lang="en-US" altLang="ja-JP" sz="1200"/>
              <a:t>}                	</a:t>
            </a:r>
          </a:p>
        </p:txBody>
      </p:sp>
      <p:sp>
        <p:nvSpPr>
          <p:cNvPr id="60421" name="Text Box 11"/>
          <p:cNvSpPr txBox="1">
            <a:spLocks noChangeArrowheads="1"/>
          </p:cNvSpPr>
          <p:nvPr/>
        </p:nvSpPr>
        <p:spPr bwMode="auto">
          <a:xfrm>
            <a:off x="1524001" y="2057400"/>
            <a:ext cx="2601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上位・下位関係抽出テンプレート</a:t>
            </a:r>
          </a:p>
        </p:txBody>
      </p:sp>
      <p:sp>
        <p:nvSpPr>
          <p:cNvPr id="60422" name="Rectangle 12"/>
          <p:cNvSpPr>
            <a:spLocks noChangeArrowheads="1"/>
          </p:cNvSpPr>
          <p:nvPr/>
        </p:nvSpPr>
        <p:spPr bwMode="auto">
          <a:xfrm>
            <a:off x="1524000" y="4565650"/>
            <a:ext cx="10668000" cy="2292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rdf: &lt;http://www.w3.org/1999/02/22-rdf-syntax-ns#&gt;</a:t>
            </a:r>
          </a:p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en-US" altLang="ja-JP" sz="1200"/>
              <a:t>PREFIX owl: &lt;http://www.w3.org/2002/07/owl#&gt;</a:t>
            </a:r>
          </a:p>
          <a:p>
            <a:pPr eaLnBrk="1" hangingPunct="1"/>
            <a:r>
              <a:rPr lang="en-US" altLang="ja-JP" sz="1200"/>
              <a:t>PREFIX daml03: &lt;http://www.daml.org/2001/03/daml+oil#&gt;</a:t>
            </a:r>
          </a:p>
          <a:p>
            <a:pPr eaLnBrk="1" hangingPunct="1"/>
            <a:r>
              <a:rPr lang="en-US" altLang="ja-JP" sz="1200"/>
              <a:t>PREFIX daml10: &lt;http://www.w3.org/2001/10/daml+oil#&gt;</a:t>
            </a:r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?class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 {?class rdf:type rdfs:Class} UNION {?class rdf:type owl:Class} UNION  {?class rdf:type owl:Restriction} UNION {?class rdf:type owl:DataRange} UNION </a:t>
            </a:r>
          </a:p>
          <a:p>
            <a:pPr eaLnBrk="1" hangingPunct="1"/>
            <a:r>
              <a:rPr lang="en-US" altLang="ja-JP" sz="1200"/>
              <a:t>    {?class rdf:type daml03:Class} UNION {?class rdf:type daml03:Datatype} UNION {?class rdf:type daml03:Restriction} UNION </a:t>
            </a:r>
          </a:p>
          <a:p>
            <a:pPr eaLnBrk="1" hangingPunct="1"/>
            <a:r>
              <a:rPr lang="en-US" altLang="ja-JP" sz="1200"/>
              <a:t>    {?class rdf:type daml10:Class} UNION {?class rdf:type daml10:Datatype} UNION {?class rdf:type daml10:Restriction}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0423" name="Text Box 13"/>
          <p:cNvSpPr txBox="1">
            <a:spLocks noChangeArrowheads="1"/>
          </p:cNvSpPr>
          <p:nvPr/>
        </p:nvSpPr>
        <p:spPr bwMode="auto">
          <a:xfrm>
            <a:off x="1447800" y="4162425"/>
            <a:ext cx="1893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クラス抽出テンプレート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ChangeArrowheads="1"/>
          </p:cNvSpPr>
          <p:nvPr/>
        </p:nvSpPr>
        <p:spPr bwMode="auto">
          <a:xfrm>
            <a:off x="1524000" y="533400"/>
            <a:ext cx="11315700" cy="302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rdf: &lt;http://www.w3.org/1999/02/22-rdf-syntax-ns#&gt;</a:t>
            </a:r>
          </a:p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en-US" altLang="ja-JP" sz="1200"/>
              <a:t>PREFIX owl:  &lt;http://www.w3.org/2002/07/owl#&gt;</a:t>
            </a:r>
          </a:p>
          <a:p>
            <a:pPr eaLnBrk="1" hangingPunct="1"/>
            <a:r>
              <a:rPr lang="en-US" altLang="ja-JP" sz="1200"/>
              <a:t>PREFIX daml03: &lt;http://www.daml.org/2001/03/daml+oil#&gt;</a:t>
            </a:r>
          </a:p>
          <a:p>
            <a:pPr eaLnBrk="1" hangingPunct="1"/>
            <a:r>
              <a:rPr lang="en-US" altLang="ja-JP" sz="1200"/>
              <a:t>PREFIX daml10: &lt;http://www.w3.org/2001/10/daml+oil#&gt;</a:t>
            </a:r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?property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{?property rdf:type rdf:Property} UNION {?property rdf:type owl:ObjectProperty} UNION  {?property rdf:type owl:DatatypeProperty} UNION</a:t>
            </a:r>
          </a:p>
          <a:p>
            <a:pPr eaLnBrk="1" hangingPunct="1"/>
            <a:r>
              <a:rPr lang="en-US" altLang="ja-JP" sz="1200"/>
              <a:t>   {?property rdf:type owl:AnnotationProperty} UNION {?property rdf:type owl:FunctionalProperty} UNION {?property rdf:type owl:InverseFunctionalProperty} UNION         </a:t>
            </a:r>
          </a:p>
          <a:p>
            <a:pPr eaLnBrk="1" hangingPunct="1"/>
            <a:r>
              <a:rPr lang="en-US" altLang="ja-JP" sz="1200"/>
              <a:t>   {?property rdf:type owl:SymmetricProperty} UNION {?property rdf:type owl:OntologyProperty} UNION {?property rdf:type owl:TransitiveProperty} UNION </a:t>
            </a:r>
          </a:p>
          <a:p>
            <a:pPr eaLnBrk="1" hangingPunct="1"/>
            <a:r>
              <a:rPr lang="en-US" altLang="ja-JP" sz="1200"/>
              <a:t>   {?property rdf:type daml03:Property} UNION {?property rdf:type daml03:ObjectProperty} UNION {?property rdf:type daml03:DatatypeProperty} UNION   </a:t>
            </a:r>
          </a:p>
          <a:p>
            <a:pPr eaLnBrk="1" hangingPunct="1"/>
            <a:r>
              <a:rPr lang="en-US" altLang="ja-JP" sz="1200"/>
              <a:t>   {?property rdf:type daml03:TransitiveProperty} UNION {?property rdf:type daml03:DatatypeProperty} UNION {?property rdf:type daml03:UniqueProperty}  UNION </a:t>
            </a:r>
          </a:p>
          <a:p>
            <a:pPr eaLnBrk="1" hangingPunct="1"/>
            <a:r>
              <a:rPr lang="en-US" altLang="ja-JP" sz="1200"/>
              <a:t>   {?property rdf:type daml10:Property} UNION {?property rdf:type daml10:ObjectProperty} UNION {?property rdf:type daml10:DatatypeProperty} UNION  </a:t>
            </a:r>
          </a:p>
          <a:p>
            <a:pPr eaLnBrk="1" hangingPunct="1"/>
            <a:r>
              <a:rPr lang="en-US" altLang="ja-JP" sz="1200"/>
              <a:t>   {?property rdf:type daml10:TransitiveProperty} UNION {?property rdf:type daml10:DatatypeProperty} UNION {?property rdf:type daml10:UniqueProperty}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1443" name="Text Box 5"/>
          <p:cNvSpPr txBox="1">
            <a:spLocks noChangeArrowheads="1"/>
          </p:cNvSpPr>
          <p:nvPr/>
        </p:nvSpPr>
        <p:spPr bwMode="auto">
          <a:xfrm>
            <a:off x="1524001" y="152401"/>
            <a:ext cx="2784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プロパティ抽出テンプレート</a:t>
            </a:r>
          </a:p>
        </p:txBody>
      </p:sp>
      <p:sp>
        <p:nvSpPr>
          <p:cNvPr id="61444" name="Rectangle 6"/>
          <p:cNvSpPr>
            <a:spLocks noChangeArrowheads="1"/>
          </p:cNvSpPr>
          <p:nvPr/>
        </p:nvSpPr>
        <p:spPr bwMode="auto">
          <a:xfrm>
            <a:off x="1524000" y="4495801"/>
            <a:ext cx="9067800" cy="1744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pt-BR" altLang="ja-JP" sz="1200"/>
              <a:t>PREFIX daml03: &lt;http://www.daml.org/2001/03/daml+oil#&gt;</a:t>
            </a:r>
          </a:p>
          <a:p>
            <a:pPr eaLnBrk="1" hangingPunct="1"/>
            <a:r>
              <a:rPr lang="pt-BR" altLang="ja-JP" sz="1200"/>
              <a:t>PREFIX daml10: &lt;http://www.w3.org/2001/10/daml+oil#&gt;</a:t>
            </a:r>
            <a:endParaRPr lang="en-US" altLang="ja-JP" sz="1200"/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?property ?domain ?range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 {?property rdfs:domain ?domain} UNION  {?property rdfs:range ?range} UNION {?property daml03:domain ?domain} UNION</a:t>
            </a:r>
          </a:p>
          <a:p>
            <a:pPr eaLnBrk="1" hangingPunct="1"/>
            <a:r>
              <a:rPr lang="en-US" altLang="ja-JP" sz="1200"/>
              <a:t>    {?property daml03:range ?range} UNION {?property daml10:domain ?domain} UNION {?property daml10:range ?range}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1445" name="Text Box 7"/>
          <p:cNvSpPr txBox="1">
            <a:spLocks noChangeArrowheads="1"/>
          </p:cNvSpPr>
          <p:nvPr/>
        </p:nvSpPr>
        <p:spPr bwMode="auto">
          <a:xfrm>
            <a:off x="1600201" y="4038601"/>
            <a:ext cx="3159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その他の関係抽出テンプレート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図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25" name="正方形/長方形 24"/>
          <p:cNvSpPr/>
          <p:nvPr/>
        </p:nvSpPr>
        <p:spPr>
          <a:xfrm>
            <a:off x="2133600" y="685800"/>
            <a:ext cx="7848600" cy="1066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2133600" y="1796534"/>
            <a:ext cx="7848600" cy="39179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27" name="正方形/長方形 26"/>
          <p:cNvSpPr/>
          <p:nvPr/>
        </p:nvSpPr>
        <p:spPr>
          <a:xfrm>
            <a:off x="2133600" y="5714446"/>
            <a:ext cx="7848600" cy="30535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28" name="テキスト ボックス 27"/>
          <p:cNvSpPr txBox="1">
            <a:spLocks noChangeAspect="1"/>
          </p:cNvSpPr>
          <p:nvPr/>
        </p:nvSpPr>
        <p:spPr>
          <a:xfrm>
            <a:off x="8153400" y="10345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9" name="テキスト ボックス 28"/>
          <p:cNvSpPr txBox="1">
            <a:spLocks noChangeAspect="1"/>
          </p:cNvSpPr>
          <p:nvPr/>
        </p:nvSpPr>
        <p:spPr>
          <a:xfrm>
            <a:off x="8153400" y="242906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30" name="テキスト ボックス 29"/>
          <p:cNvSpPr txBox="1">
            <a:spLocks noChangeAspect="1"/>
          </p:cNvSpPr>
          <p:nvPr/>
        </p:nvSpPr>
        <p:spPr>
          <a:xfrm>
            <a:off x="7848600" y="570977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1022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2133600" y="685800"/>
            <a:ext cx="7848600" cy="1066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2133600" y="1828800"/>
            <a:ext cx="4191000" cy="4191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6324600" y="1839022"/>
            <a:ext cx="2819400" cy="41807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8686800" y="10621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5791200" y="19003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テキスト ボックス 7"/>
          <p:cNvSpPr txBox="1">
            <a:spLocks noChangeAspect="1"/>
          </p:cNvSpPr>
          <p:nvPr/>
        </p:nvSpPr>
        <p:spPr>
          <a:xfrm>
            <a:off x="8686800" y="19870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1004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2133600" y="685800"/>
            <a:ext cx="7848600" cy="1905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2133600" y="2895600"/>
            <a:ext cx="7848600" cy="325720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2153588" y="6160867"/>
            <a:ext cx="3485213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2286000" y="10621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テキスト ボックス 7"/>
          <p:cNvSpPr txBox="1">
            <a:spLocks noChangeAspect="1"/>
          </p:cNvSpPr>
          <p:nvPr/>
        </p:nvSpPr>
        <p:spPr>
          <a:xfrm>
            <a:off x="9448800" y="30919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133600" y="2590800"/>
            <a:ext cx="1981200" cy="304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7924800" y="2590800"/>
            <a:ext cx="2057400" cy="304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4132403" y="251354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7597466" y="2518206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9448800" y="6152804"/>
            <a:ext cx="598472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3" name="テキスト ボックス 12"/>
          <p:cNvSpPr txBox="1">
            <a:spLocks noChangeAspect="1"/>
          </p:cNvSpPr>
          <p:nvPr/>
        </p:nvSpPr>
        <p:spPr>
          <a:xfrm>
            <a:off x="5655672" y="603146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9107725" y="604089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8822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-16239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2153588" y="649504"/>
            <a:ext cx="6304613" cy="110309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2153588" y="5356486"/>
            <a:ext cx="6304613" cy="37138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2151090" y="5734707"/>
            <a:ext cx="1963711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8001000" y="86761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8033666" y="533400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153588" y="1810512"/>
            <a:ext cx="589613" cy="35234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2816902" y="1810512"/>
            <a:ext cx="5641298" cy="35234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テキスト ボックス 9"/>
          <p:cNvSpPr txBox="1">
            <a:spLocks noChangeAspect="1"/>
          </p:cNvSpPr>
          <p:nvPr/>
        </p:nvSpPr>
        <p:spPr>
          <a:xfrm>
            <a:off x="2263744" y="290726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7992256" y="266700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4114800" y="5727870"/>
            <a:ext cx="1752600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3" name="テキスト ボックス 12"/>
          <p:cNvSpPr txBox="1">
            <a:spLocks noChangeAspect="1"/>
          </p:cNvSpPr>
          <p:nvPr/>
        </p:nvSpPr>
        <p:spPr>
          <a:xfrm>
            <a:off x="2969277" y="598147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4863010" y="596780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5867400" y="5730368"/>
            <a:ext cx="2590800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7" name="テキスト ボックス 16"/>
          <p:cNvSpPr txBox="1">
            <a:spLocks noChangeAspect="1"/>
          </p:cNvSpPr>
          <p:nvPr/>
        </p:nvSpPr>
        <p:spPr>
          <a:xfrm>
            <a:off x="6999133" y="596780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7726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3733800" y="872282"/>
            <a:ext cx="1524000" cy="27071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8426436" y="651790"/>
            <a:ext cx="1555765" cy="54442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4830344" y="778332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5257800" y="3957143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187258" y="2691985"/>
            <a:ext cx="6173742" cy="326898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2187258" y="1143000"/>
            <a:ext cx="6173742" cy="152150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5486400" y="177557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177922" y="6145487"/>
            <a:ext cx="1555879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3" name="テキスト ボックス 12"/>
          <p:cNvSpPr txBox="1">
            <a:spLocks noChangeAspect="1"/>
          </p:cNvSpPr>
          <p:nvPr/>
        </p:nvSpPr>
        <p:spPr>
          <a:xfrm>
            <a:off x="9105900" y="318922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3762531" y="6027353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8229600" y="6129505"/>
            <a:ext cx="1752600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6" name="テキスト ボックス 15"/>
          <p:cNvSpPr txBox="1">
            <a:spLocks noChangeAspect="1"/>
          </p:cNvSpPr>
          <p:nvPr/>
        </p:nvSpPr>
        <p:spPr>
          <a:xfrm>
            <a:off x="7873535" y="598844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5334000" y="872281"/>
            <a:ext cx="1524000" cy="27071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テキスト ボックス 9"/>
          <p:cNvSpPr txBox="1">
            <a:spLocks noChangeAspect="1"/>
          </p:cNvSpPr>
          <p:nvPr/>
        </p:nvSpPr>
        <p:spPr>
          <a:xfrm>
            <a:off x="6449400" y="767091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7253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4542317" y="662137"/>
            <a:ext cx="1617831" cy="27117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8094688" y="651509"/>
            <a:ext cx="1963712" cy="27223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テキスト ボックス 4"/>
          <p:cNvSpPr txBox="1">
            <a:spLocks noChangeAspect="1"/>
          </p:cNvSpPr>
          <p:nvPr/>
        </p:nvSpPr>
        <p:spPr>
          <a:xfrm>
            <a:off x="3161529" y="24337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8912877" y="194426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4572000" y="3373895"/>
            <a:ext cx="2667000" cy="1828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187258" y="651791"/>
            <a:ext cx="2308542" cy="455090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テキスト ボックス 8"/>
          <p:cNvSpPr txBox="1">
            <a:spLocks noChangeAspect="1"/>
          </p:cNvSpPr>
          <p:nvPr/>
        </p:nvSpPr>
        <p:spPr>
          <a:xfrm>
            <a:off x="7075333" y="154509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7299260" y="3393548"/>
            <a:ext cx="2759141" cy="180914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5940244" y="4064762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テキスト ボックス 11"/>
          <p:cNvSpPr txBox="1">
            <a:spLocks noChangeAspect="1"/>
          </p:cNvSpPr>
          <p:nvPr/>
        </p:nvSpPr>
        <p:spPr>
          <a:xfrm>
            <a:off x="8565556" y="4064762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2184760" y="5236422"/>
            <a:ext cx="7873640" cy="11213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8585543" y="5528311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6236349" y="662137"/>
            <a:ext cx="1840851" cy="27117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6" name="テキスト ボックス 15"/>
          <p:cNvSpPr txBox="1">
            <a:spLocks noChangeAspect="1"/>
          </p:cNvSpPr>
          <p:nvPr/>
        </p:nvSpPr>
        <p:spPr>
          <a:xfrm>
            <a:off x="5171231" y="1905873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0759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891" y="0"/>
            <a:ext cx="3539021" cy="6858000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590" y="-2452"/>
            <a:ext cx="3571301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2355753" y="277470"/>
            <a:ext cx="3494087" cy="3058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5882890" y="274379"/>
            <a:ext cx="3539021" cy="26723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2357186" y="575399"/>
            <a:ext cx="3492653" cy="49609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5909195" y="594729"/>
            <a:ext cx="3512714" cy="493949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345252" y="5544561"/>
            <a:ext cx="3504586" cy="9258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5895434" y="5541624"/>
            <a:ext cx="3525705" cy="8952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2355752" y="6480900"/>
            <a:ext cx="3494086" cy="3508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5895743" y="6451069"/>
            <a:ext cx="3526167" cy="3508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651152" y="208170"/>
            <a:ext cx="415498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ja-JP" altLang="en-US" dirty="0">
                <a:latin typeface="Meiryo" charset="-128"/>
                <a:ea typeface="Meiryo" charset="-128"/>
                <a:cs typeface="Meiryo" charset="-128"/>
              </a:rPr>
              <a:t>１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214251" y="150723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961303" y="2875169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501885" y="297366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131340" y="5605852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7084385" y="5612535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193952" y="646240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6757051" y="6451068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6" name="テキスト ボックス 5"/>
          <p:cNvSpPr txBox="1">
            <a:spLocks noChangeArrowheads="1"/>
          </p:cNvSpPr>
          <p:nvPr/>
        </p:nvSpPr>
        <p:spPr bwMode="auto">
          <a:xfrm>
            <a:off x="4501359" y="239711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完全照合語</a:t>
            </a:r>
          </a:p>
        </p:txBody>
      </p:sp>
      <p:sp>
        <p:nvSpPr>
          <p:cNvPr id="71687" name="テキスト ボックス 6"/>
          <p:cNvSpPr txBox="1">
            <a:spLocks noChangeArrowheads="1"/>
          </p:cNvSpPr>
          <p:nvPr/>
        </p:nvSpPr>
        <p:spPr bwMode="auto">
          <a:xfrm>
            <a:off x="6258908" y="90488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完全照合語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（自動追加）</a:t>
            </a:r>
          </a:p>
        </p:txBody>
      </p:sp>
      <p:sp>
        <p:nvSpPr>
          <p:cNvPr id="71688" name="テキスト ボックス 7"/>
          <p:cNvSpPr txBox="1">
            <a:spLocks noChangeArrowheads="1"/>
          </p:cNvSpPr>
          <p:nvPr/>
        </p:nvSpPr>
        <p:spPr bwMode="auto">
          <a:xfrm>
            <a:off x="8352110" y="228600"/>
            <a:ext cx="1346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部分照合語</a:t>
            </a:r>
          </a:p>
        </p:txBody>
      </p:sp>
      <p:sp>
        <p:nvSpPr>
          <p:cNvPr id="71691" name="テキスト ボックス 10"/>
          <p:cNvSpPr txBox="1">
            <a:spLocks noChangeArrowheads="1"/>
          </p:cNvSpPr>
          <p:nvPr/>
        </p:nvSpPr>
        <p:spPr bwMode="auto">
          <a:xfrm>
            <a:off x="4865183" y="3455988"/>
            <a:ext cx="22621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完全照合オプション</a:t>
            </a:r>
          </a:p>
        </p:txBody>
      </p:sp>
      <p:sp>
        <p:nvSpPr>
          <p:cNvPr id="71692" name="テキスト ボックス 11"/>
          <p:cNvSpPr txBox="1">
            <a:spLocks noChangeArrowheads="1"/>
          </p:cNvSpPr>
          <p:nvPr/>
        </p:nvSpPr>
        <p:spPr bwMode="auto">
          <a:xfrm>
            <a:off x="4865182" y="5164546"/>
            <a:ext cx="22621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部分照合オプション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510" y="609600"/>
            <a:ext cx="1607291" cy="2668823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384" y="690514"/>
            <a:ext cx="1844212" cy="2644754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140" y="700944"/>
            <a:ext cx="1776140" cy="262961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251" y="685801"/>
            <a:ext cx="1817234" cy="2650133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0596" y="3825876"/>
            <a:ext cx="9144000" cy="1322538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0596" y="5534434"/>
            <a:ext cx="9144000" cy="13235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43" y="0"/>
            <a:ext cx="7938914" cy="6858000"/>
          </a:xfrm>
          <a:prstGeom prst="rect">
            <a:avLst/>
          </a:prstGeom>
        </p:spPr>
      </p:pic>
      <p:sp>
        <p:nvSpPr>
          <p:cNvPr id="12" name="正方形/長方形 11"/>
          <p:cNvSpPr/>
          <p:nvPr/>
        </p:nvSpPr>
        <p:spPr>
          <a:xfrm>
            <a:off x="2209800" y="649504"/>
            <a:ext cx="2286000" cy="171269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4579058" y="3537250"/>
            <a:ext cx="5403143" cy="27873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3210900" y="14431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テキスト ボックス 14"/>
          <p:cNvSpPr txBox="1">
            <a:spLocks noChangeAspect="1"/>
          </p:cNvSpPr>
          <p:nvPr/>
        </p:nvSpPr>
        <p:spPr>
          <a:xfrm>
            <a:off x="7097100" y="466724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209800" y="2384685"/>
            <a:ext cx="2286000" cy="40161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4572000" y="649504"/>
            <a:ext cx="5410200" cy="284944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8" name="テキスト ボックス 17"/>
          <p:cNvSpPr txBox="1">
            <a:spLocks noChangeAspect="1"/>
          </p:cNvSpPr>
          <p:nvPr/>
        </p:nvSpPr>
        <p:spPr>
          <a:xfrm>
            <a:off x="7097100" y="181062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テキスト ボックス 18"/>
          <p:cNvSpPr txBox="1">
            <a:spLocks noChangeAspect="1"/>
          </p:cNvSpPr>
          <p:nvPr/>
        </p:nvSpPr>
        <p:spPr>
          <a:xfrm>
            <a:off x="3189133" y="392949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313" y="1535008"/>
            <a:ext cx="6293569" cy="334279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1535009"/>
            <a:ext cx="3219450" cy="2682875"/>
          </a:xfrm>
          <a:prstGeom prst="rect">
            <a:avLst/>
          </a:prstGeom>
        </p:spPr>
      </p:pic>
      <p:sp>
        <p:nvSpPr>
          <p:cNvPr id="16" name="正方形/長方形 15"/>
          <p:cNvSpPr/>
          <p:nvPr/>
        </p:nvSpPr>
        <p:spPr>
          <a:xfrm>
            <a:off x="1486810" y="1741592"/>
            <a:ext cx="5483902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7" name="テキスト ボックス 16"/>
          <p:cNvSpPr txBox="1">
            <a:spLocks noChangeAspect="1"/>
          </p:cNvSpPr>
          <p:nvPr/>
        </p:nvSpPr>
        <p:spPr>
          <a:xfrm>
            <a:off x="7003004" y="160275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1484312" y="1976438"/>
            <a:ext cx="3124200" cy="25083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9" name="正方形/長方形 18"/>
          <p:cNvSpPr/>
          <p:nvPr/>
        </p:nvSpPr>
        <p:spPr>
          <a:xfrm>
            <a:off x="4631096" y="1976438"/>
            <a:ext cx="3124200" cy="25083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0" name="正方形/長方形 19"/>
          <p:cNvSpPr/>
          <p:nvPr/>
        </p:nvSpPr>
        <p:spPr>
          <a:xfrm>
            <a:off x="7848600" y="1524001"/>
            <a:ext cx="3219450" cy="269388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1480465" y="4484790"/>
            <a:ext cx="6274831" cy="39300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2" name="テキスト ボックス 21"/>
          <p:cNvSpPr txBox="1">
            <a:spLocks noChangeAspect="1"/>
          </p:cNvSpPr>
          <p:nvPr/>
        </p:nvSpPr>
        <p:spPr>
          <a:xfrm>
            <a:off x="3018812" y="284173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3" name="テキスト ボックス 22"/>
          <p:cNvSpPr txBox="1">
            <a:spLocks noChangeAspect="1"/>
          </p:cNvSpPr>
          <p:nvPr/>
        </p:nvSpPr>
        <p:spPr>
          <a:xfrm>
            <a:off x="6193196" y="284173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4" name="テキスト ボックス 23"/>
          <p:cNvSpPr txBox="1">
            <a:spLocks noChangeAspect="1"/>
          </p:cNvSpPr>
          <p:nvPr/>
        </p:nvSpPr>
        <p:spPr>
          <a:xfrm>
            <a:off x="4749645" y="449662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5" name="テキスト ボックス 24"/>
          <p:cNvSpPr txBox="1">
            <a:spLocks noChangeAspect="1"/>
          </p:cNvSpPr>
          <p:nvPr/>
        </p:nvSpPr>
        <p:spPr>
          <a:xfrm>
            <a:off x="9386578" y="288718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824" y="0"/>
            <a:ext cx="2534897" cy="4337050"/>
          </a:xfrm>
          <a:prstGeom prst="rect">
            <a:avLst/>
          </a:prstGeom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0"/>
            <a:ext cx="2501890" cy="4337050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2743200" y="7057"/>
            <a:ext cx="2467059" cy="137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2743200" y="1369571"/>
            <a:ext cx="2467058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5368926" y="1381831"/>
            <a:ext cx="2504795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743200" y="1601787"/>
            <a:ext cx="2467058" cy="258921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5368926" y="1608138"/>
            <a:ext cx="2504795" cy="255031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820275" y="47245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445081" y="47461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854289" y="1198973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3837692" y="2429581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3</a:t>
            </a:r>
            <a:endParaRPr lang="ja-JP" altLang="en-US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6445081" y="2429581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3</a:t>
            </a:r>
            <a:endParaRPr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730682" y="4344106"/>
            <a:ext cx="2514409" cy="36988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Is-a</a:t>
            </a:r>
            <a:r>
              <a:rPr lang="ja-JP" altLang="en-US" dirty="0">
                <a:latin typeface="Meiryo" charset="-128"/>
                <a:ea typeface="Meiryo" charset="-128"/>
                <a:cs typeface="Meiryo" charset="-128"/>
              </a:rPr>
              <a:t>階層パネル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370054" y="4349750"/>
            <a:ext cx="2503667" cy="36988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Has-a</a:t>
            </a:r>
            <a:r>
              <a:rPr lang="ja-JP" altLang="en-US" dirty="0">
                <a:latin typeface="Meiryo" charset="-128"/>
                <a:ea typeface="Meiryo" charset="-128"/>
                <a:cs typeface="Meiryo" charset="-128"/>
              </a:rPr>
              <a:t>階層パネル</a:t>
            </a:r>
          </a:p>
        </p:txBody>
      </p:sp>
      <p:sp>
        <p:nvSpPr>
          <p:cNvPr id="75800" name="正方形/長方形 24"/>
          <p:cNvSpPr>
            <a:spLocks noChangeArrowheads="1"/>
          </p:cNvSpPr>
          <p:nvPr/>
        </p:nvSpPr>
        <p:spPr bwMode="auto">
          <a:xfrm>
            <a:off x="6861279" y="5395032"/>
            <a:ext cx="2571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sp>
        <p:nvSpPr>
          <p:cNvPr id="75801" name="正方形/長方形 25"/>
          <p:cNvSpPr>
            <a:spLocks noChangeArrowheads="1"/>
          </p:cNvSpPr>
          <p:nvPr/>
        </p:nvSpPr>
        <p:spPr bwMode="auto">
          <a:xfrm>
            <a:off x="6861279" y="5658557"/>
            <a:ext cx="2667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単一継承のベストマッチノード</a:t>
            </a:r>
          </a:p>
        </p:txBody>
      </p:sp>
      <p:sp>
        <p:nvSpPr>
          <p:cNvPr id="75802" name="正方形/長方形 26"/>
          <p:cNvSpPr>
            <a:spLocks noChangeArrowheads="1"/>
          </p:cNvSpPr>
          <p:nvPr/>
        </p:nvSpPr>
        <p:spPr bwMode="auto">
          <a:xfrm>
            <a:off x="6861279" y="6128457"/>
            <a:ext cx="2667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多重継承のベストマッチノード</a:t>
            </a:r>
          </a:p>
        </p:txBody>
      </p:sp>
      <p:sp>
        <p:nvSpPr>
          <p:cNvPr id="75803" name="正方形/長方形 27"/>
          <p:cNvSpPr>
            <a:spLocks noChangeArrowheads="1"/>
          </p:cNvSpPr>
          <p:nvPr/>
        </p:nvSpPr>
        <p:spPr bwMode="auto">
          <a:xfrm>
            <a:off x="6861279" y="5895095"/>
            <a:ext cx="2095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sp>
        <p:nvSpPr>
          <p:cNvPr id="31" name="正方形/長方形 30"/>
          <p:cNvSpPr/>
          <p:nvPr/>
        </p:nvSpPr>
        <p:spPr>
          <a:xfrm>
            <a:off x="5368926" y="-4273"/>
            <a:ext cx="2504795" cy="137384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539747" y="1196094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2</a:t>
            </a:r>
            <a:endParaRPr lang="ja-JP" altLang="en-US" dirty="0"/>
          </a:p>
        </p:txBody>
      </p:sp>
      <p:pic>
        <p:nvPicPr>
          <p:cNvPr id="22" name="図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413" y="5873750"/>
            <a:ext cx="2093365" cy="527528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568" y="5377773"/>
            <a:ext cx="203200" cy="2032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568" y="5650198"/>
            <a:ext cx="203200" cy="203200"/>
          </a:xfrm>
          <a:prstGeom prst="rect">
            <a:avLst/>
          </a:prstGeom>
        </p:spPr>
      </p:pic>
      <p:pic>
        <p:nvPicPr>
          <p:cNvPr id="25" name="図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568" y="5911565"/>
            <a:ext cx="203200" cy="203200"/>
          </a:xfrm>
          <a:prstGeom prst="rect">
            <a:avLst/>
          </a:prstGeom>
        </p:spPr>
      </p:pic>
      <p:pic>
        <p:nvPicPr>
          <p:cNvPr id="26" name="図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568" y="6169025"/>
            <a:ext cx="203200" cy="203200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8575" y="4944723"/>
            <a:ext cx="1764213" cy="18580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143001"/>
            <a:ext cx="9144000" cy="4515787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1559588" y="1447800"/>
            <a:ext cx="2936212" cy="42109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4495800" y="1447798"/>
            <a:ext cx="3048000" cy="42109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7550046" y="1447798"/>
            <a:ext cx="3124200" cy="42109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853447" y="4038600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863347" y="2667000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911347" y="2590800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3</a:t>
            </a:r>
            <a:endParaRPr lang="ja-JP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0"/>
            <a:ext cx="909191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4452458" y="3505200"/>
            <a:ext cx="6248400" cy="27432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420205" y="4539734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/>
              <a:t>1</a:t>
            </a:r>
            <a:endParaRPr lang="ja-JP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4" name="正方形/長方形 5"/>
          <p:cNvSpPr>
            <a:spLocks noChangeArrowheads="1"/>
          </p:cNvSpPr>
          <p:nvPr/>
        </p:nvSpPr>
        <p:spPr bwMode="auto">
          <a:xfrm>
            <a:off x="2286000" y="409576"/>
            <a:ext cx="2277836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sp>
        <p:nvSpPr>
          <p:cNvPr id="78855" name="正方形/長方形 6"/>
          <p:cNvSpPr>
            <a:spLocks noChangeArrowheads="1"/>
          </p:cNvSpPr>
          <p:nvPr/>
        </p:nvSpPr>
        <p:spPr bwMode="auto">
          <a:xfrm>
            <a:off x="2286000" y="673101"/>
            <a:ext cx="23622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単一継承のベストマッチノード</a:t>
            </a:r>
          </a:p>
        </p:txBody>
      </p:sp>
      <p:sp>
        <p:nvSpPr>
          <p:cNvPr id="78856" name="正方形/長方形 7"/>
          <p:cNvSpPr>
            <a:spLocks noChangeArrowheads="1"/>
          </p:cNvSpPr>
          <p:nvPr/>
        </p:nvSpPr>
        <p:spPr bwMode="auto">
          <a:xfrm>
            <a:off x="2286000" y="1143001"/>
            <a:ext cx="23622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多重継承のベストマッチノード</a:t>
            </a:r>
          </a:p>
        </p:txBody>
      </p:sp>
      <p:sp>
        <p:nvSpPr>
          <p:cNvPr id="78857" name="正方形/長方形 8"/>
          <p:cNvSpPr>
            <a:spLocks noChangeArrowheads="1"/>
          </p:cNvSpPr>
          <p:nvPr/>
        </p:nvSpPr>
        <p:spPr bwMode="auto">
          <a:xfrm>
            <a:off x="2286000" y="909639"/>
            <a:ext cx="185601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722054"/>
            <a:ext cx="180000" cy="18000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217354"/>
            <a:ext cx="180000" cy="180000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962112"/>
            <a:ext cx="180000" cy="18000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569" y="431054"/>
            <a:ext cx="180000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888" y="0"/>
            <a:ext cx="8402224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1981200" y="647700"/>
            <a:ext cx="4123544" cy="10266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104744" y="645614"/>
            <a:ext cx="4106056" cy="101911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1981200" y="1674327"/>
            <a:ext cx="2438400" cy="242463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4419600" y="1676400"/>
            <a:ext cx="5791200" cy="914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4419601" y="2625141"/>
            <a:ext cx="5791199" cy="147381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1987446" y="4101046"/>
            <a:ext cx="8223354" cy="54506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1981200" y="4646114"/>
            <a:ext cx="4114800" cy="175468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6104744" y="4648200"/>
            <a:ext cx="4106056" cy="1752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092266" y="1197927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8302122" y="923782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036733" y="263473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151533" y="2093826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190941" y="3459180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172200" y="418891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74933" y="5338791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7996038" y="5338791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8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22900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2"/>
</p:tagLst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CFFCC"/>
        </a:solidFill>
        <a:ln w="9525">
          <a:solidFill>
            <a:schemeClr val="tx1"/>
          </a:solidFill>
          <a:round/>
          <a:headEnd/>
          <a:tailEnd/>
        </a:ln>
      </a:spPr>
      <a:bodyPr wrap="none" anchor="ctr"/>
      <a:lstStyle>
        <a:defPPr algn="ctr">
          <a:defRPr/>
        </a:defPPr>
      </a:lstStyle>
    </a:sp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41484</TotalTime>
  <Words>2513</Words>
  <Application>Microsoft Macintosh PowerPoint</Application>
  <PresentationFormat>ワイド画面</PresentationFormat>
  <Paragraphs>779</Paragraphs>
  <Slides>34</Slides>
  <Notes>25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34</vt:i4>
      </vt:variant>
    </vt:vector>
  </HeadingPairs>
  <TitlesOfParts>
    <vt:vector size="40" baseType="lpstr">
      <vt:lpstr>ＭＳ Ｐゴシック</vt:lpstr>
      <vt:lpstr>Meiryo</vt:lpstr>
      <vt:lpstr>Arial</vt:lpstr>
      <vt:lpstr>Comic Sans MS</vt:lpstr>
      <vt:lpstr>Times New Roman</vt:lpstr>
      <vt:lpstr>標準デザイン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文脈類似概念対の獲得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t_morita</dc:creator>
  <cp:lastModifiedBy>森田　武史</cp:lastModifiedBy>
  <cp:revision>950</cp:revision>
  <cp:lastPrinted>1601-01-01T00:00:00Z</cp:lastPrinted>
  <dcterms:created xsi:type="dcterms:W3CDTF">1601-01-01T00:00:00Z</dcterms:created>
  <dcterms:modified xsi:type="dcterms:W3CDTF">2026-06-20T06:00:02Z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